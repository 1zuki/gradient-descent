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877F"/>
    <a:srgbClr val="3158C9"/>
    <a:srgbClr val="A961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gif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gif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gif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1zuki/gradient-descent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1zuki/numpy-cn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642888" name="Rectangle 1240642887">
            <a:extLst>
              <a:ext uri="{FF2B5EF4-FFF2-40B4-BE49-F238E27FC236}">
                <a16:creationId xmlns:a16="http://schemas.microsoft.com/office/drawing/2014/main" id="{9DAE7FDD-9FB8-4A93-9282-92AA73A169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3877F"/>
          </a:solidFill>
          <a:ln w="0">
            <a:noFill/>
          </a:ln>
        </p:spPr>
      </p:sp>
      <p:sp>
        <p:nvSpPr>
          <p:cNvPr id="792638959" name="Rectangle 792638958">
            <a:extLst>
              <a:ext uri="{FF2B5EF4-FFF2-40B4-BE49-F238E27FC236}">
                <a16:creationId xmlns:a16="http://schemas.microsoft.com/office/drawing/2014/main" id="{33F78413-48D2-4A7D-A8EA-6BB61F9B5D48}"/>
              </a:ext>
            </a:extLst>
          </p:cNvPr>
          <p:cNvSpPr>
            <a:spLocks noGrp="1"/>
          </p:cNvSpPr>
          <p:nvPr/>
        </p:nvSpPr>
        <p:spPr>
          <a:xfrm>
            <a:off x="838200" y="876299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150" b="1" i="0">
                <a:solidFill>
                  <a:srgbClr val="9EB5F8"/>
                </a:solidFill>
                <a:latin typeface="Arial"/>
                <a:ea typeface="Arial"/>
                <a:cs typeface="Arial"/>
              </a:defRPr>
            </a:pPr>
            <a:r>
              <a:rPr sz="1150" b="1" i="0">
                <a:solidFill>
                  <a:srgbClr val="9EB5F8"/>
                </a:solidFill>
                <a:latin typeface="Arial"/>
                <a:ea typeface="Arial"/>
                <a:cs typeface="Arial"/>
              </a:rPr>
              <a:t>GRADIENT DESCENT</a:t>
            </a:r>
            <a:endParaRPr/>
          </a:p>
        </p:txBody>
      </p:sp>
      <p:sp>
        <p:nvSpPr>
          <p:cNvPr id="186513568" name="Rectangle 186513567">
            <a:extLst>
              <a:ext uri="{FF2B5EF4-FFF2-40B4-BE49-F238E27FC236}">
                <a16:creationId xmlns:a16="http://schemas.microsoft.com/office/drawing/2014/main" id="{B575E1D0-91B5-4BB4-AE7F-0BC872D81842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7620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 Descent</a:t>
            </a:r>
            <a:endParaRPr/>
          </a:p>
        </p:txBody>
      </p:sp>
      <p:sp>
        <p:nvSpPr>
          <p:cNvPr id="30055946" name="Rectangle 30055945">
            <a:extLst>
              <a:ext uri="{FF2B5EF4-FFF2-40B4-BE49-F238E27FC236}">
                <a16:creationId xmlns:a16="http://schemas.microsoft.com/office/drawing/2014/main" id="{4EEABD17-1492-4D03-9E9F-842C2D196DA1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7524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3000" b="1" i="0">
                <a:solidFill>
                  <a:srgbClr val="AFC0F5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AFC0F5"/>
                </a:solidFill>
                <a:latin typeface="Arial"/>
                <a:ea typeface="Arial"/>
                <a:cs typeface="Arial"/>
              </a:rPr>
              <a:t>and optimizer variants</a:t>
            </a:r>
            <a:endParaRPr/>
          </a:p>
        </p:txBody>
      </p:sp>
      <p:sp>
        <p:nvSpPr>
          <p:cNvPr id="425494427" name="Rectangle 425494426">
            <a:extLst>
              <a:ext uri="{FF2B5EF4-FFF2-40B4-BE49-F238E27FC236}">
                <a16:creationId xmlns:a16="http://schemas.microsoft.com/office/drawing/2014/main" id="{EFA289FA-BCC6-4562-9566-AB74F1C630B2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657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950" b="0" i="0">
                <a:solidFill>
                  <a:srgbClr val="D1D9E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1D9E8"/>
                </a:solidFill>
                <a:latin typeface="Arial"/>
                <a:ea typeface="Arial"/>
                <a:cs typeface="Arial"/>
              </a:rPr>
              <a:t>How local slope becomes a parameter update</a:t>
            </a:r>
            <a:endParaRPr/>
          </a:p>
        </p:txBody>
      </p:sp>
      <p:sp>
        <p:nvSpPr>
          <p:cNvPr id="1731934147" name="Straight Connector 1731934146">
            <a:extLst>
              <a:ext uri="{FF2B5EF4-FFF2-40B4-BE49-F238E27FC236}">
                <a16:creationId xmlns:a16="http://schemas.microsoft.com/office/drawing/2014/main" id="{E97A4F36-271F-46D0-8C6F-66401006BD4C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0" cy="533400"/>
          </a:xfrm>
          <a:prstGeom prst="line">
            <a:avLst/>
          </a:prstGeom>
          <a:noFill/>
          <a:ln w="23813">
            <a:solidFill>
              <a:srgbClr val="B7CBF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0585082" name="Rectangle 480585081">
                <a:extLst>
                  <a:ext uri="{FF2B5EF4-FFF2-40B4-BE49-F238E27FC236}">
                    <a16:creationId xmlns:a16="http://schemas.microsoft.com/office/drawing/2014/main" id="{0B42F1FE-4D87-4A8B-97F9-8464BE4B9E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28700" y="4533900"/>
                <a:ext cx="600075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850">
                    <a:solidFill>
                      <a:srgbClr val="B7CBF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₊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₁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 − 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𝜂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850" i="0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850" i="1">
                          <a:solidFill>
                            <a:srgbClr val="B7CB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80585082" name="Rectangle 480585081">
                <a:extLst>
                  <a:ext uri="{FF2B5EF4-FFF2-40B4-BE49-F238E27FC236}">
                    <a16:creationId xmlns:a16="http://schemas.microsoft.com/office/drawing/2014/main" id="{0B42F1FE-4D87-4A8B-97F9-8464BE4B9E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4533900"/>
                <a:ext cx="600075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31934156" name="Picture 1875552842"/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7934062" y="1523999"/>
            <a:ext cx="3191137" cy="3191137"/>
          </a:xfrm>
          <a:prstGeom prst="rect">
            <a:avLst/>
          </a:prstGeom>
        </p:spPr>
      </p:pic>
      <p:sp>
        <p:nvSpPr>
          <p:cNvPr id="1301983747" name="Rectangle 1301983746">
            <a:extLst>
              <a:ext uri="{FF2B5EF4-FFF2-40B4-BE49-F238E27FC236}">
                <a16:creationId xmlns:a16="http://schemas.microsoft.com/office/drawing/2014/main" id="{045305DD-54CA-494B-8B33-DF8DC60266A4}"/>
              </a:ext>
            </a:extLst>
          </p:cNvPr>
          <p:cNvSpPr>
            <a:spLocks noGrp="1"/>
          </p:cNvSpPr>
          <p:nvPr/>
        </p:nvSpPr>
        <p:spPr>
          <a:xfrm>
            <a:off x="7414485" y="4941986"/>
            <a:ext cx="4230290" cy="441126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anchor="ctr">
            <a:normAutofit/>
          </a:bodyPr>
          <a:lstStyle/>
          <a:p>
            <a:pPr algn="ctr">
              <a:lnSpc>
                <a:spcPct val="113999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https://1zuki.github.io/gradient-descent/</a:t>
            </a:r>
            <a:endParaRPr sz="1800" dirty="0"/>
          </a:p>
        </p:txBody>
      </p:sp>
      <p:sp>
        <p:nvSpPr>
          <p:cNvPr id="377939526" name="Rectangle 377939525">
            <a:extLst>
              <a:ext uri="{FF2B5EF4-FFF2-40B4-BE49-F238E27FC236}">
                <a16:creationId xmlns:a16="http://schemas.microsoft.com/office/drawing/2014/main" id="{9F41DF07-7D5B-479D-A480-B2FF5DA4DFC3}"/>
              </a:ext>
            </a:extLst>
          </p:cNvPr>
          <p:cNvSpPr>
            <a:spLocks noGrp="1"/>
          </p:cNvSpPr>
          <p:nvPr/>
        </p:nvSpPr>
        <p:spPr>
          <a:xfrm>
            <a:off x="838200" y="59626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300" b="0" i="0">
                <a:solidFill>
                  <a:srgbClr val="AAB6C9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AAB6C9"/>
                </a:solidFill>
                <a:latin typeface="Arial"/>
                <a:ea typeface="Arial"/>
                <a:cs typeface="Arial"/>
              </a:rPr>
              <a:t>A visual lecture in local optimization</a:t>
            </a:r>
            <a:endParaRPr/>
          </a:p>
        </p:txBody>
      </p:sp>
      <p:sp>
        <p:nvSpPr>
          <p:cNvPr id="911869950" name="Rectangle 911869949">
            <a:extLst>
              <a:ext uri="{FF2B5EF4-FFF2-40B4-BE49-F238E27FC236}">
                <a16:creationId xmlns:a16="http://schemas.microsoft.com/office/drawing/2014/main" id="{C60C6342-3400-47FE-B696-B910400EA973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1000" b="1" i="0">
                <a:solidFill>
                  <a:srgbClr val="AFC0F5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FC0F5"/>
                </a:solidFill>
                <a:latin typeface="Arial"/>
                <a:ea typeface="Arial"/>
                <a:cs typeface="Arial"/>
              </a:rPr>
              <a:t>01 / 29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349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934608" name="Rectangle 1310934607">
            <a:extLst>
              <a:ext uri="{FF2B5EF4-FFF2-40B4-BE49-F238E27FC236}">
                <a16:creationId xmlns:a16="http://schemas.microsoft.com/office/drawing/2014/main" id="{EE0E9571-D108-4464-B86E-4DF0A9D6B6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1929795631" name="Rectangle 1929795630">
            <a:extLst>
              <a:ext uri="{FF2B5EF4-FFF2-40B4-BE49-F238E27FC236}">
                <a16:creationId xmlns:a16="http://schemas.microsoft.com/office/drawing/2014/main" id="{7579C16C-05D3-4A9B-B68E-B2C53E8ED9E9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model can be a line</a:t>
            </a:r>
            <a:endParaRPr/>
          </a:p>
        </p:txBody>
      </p:sp>
      <p:sp>
        <p:nvSpPr>
          <p:cNvPr id="1030507531" name="Straight Connector 1030507530">
            <a:extLst>
              <a:ext uri="{FF2B5EF4-FFF2-40B4-BE49-F238E27FC236}">
                <a16:creationId xmlns:a16="http://schemas.microsoft.com/office/drawing/2014/main" id="{BF668140-BFC0-452F-9AFC-5B4C151C58C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381224482" name="Straight Connector 381224481">
            <a:extLst>
              <a:ext uri="{FF2B5EF4-FFF2-40B4-BE49-F238E27FC236}">
                <a16:creationId xmlns:a16="http://schemas.microsoft.com/office/drawing/2014/main" id="{71D89674-5AA7-4E99-8E2A-02B09338B9A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519070931" name="Straight Connector 1519070930">
            <a:extLst>
              <a:ext uri="{FF2B5EF4-FFF2-40B4-BE49-F238E27FC236}">
                <a16:creationId xmlns:a16="http://schemas.microsoft.com/office/drawing/2014/main" id="{7105356F-98BA-4B8D-B3CA-562904F80D5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756761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689466014" name="Rectangle 689466013">
            <a:extLst>
              <a:ext uri="{FF2B5EF4-FFF2-40B4-BE49-F238E27FC236}">
                <a16:creationId xmlns:a16="http://schemas.microsoft.com/office/drawing/2014/main" id="{DB183E84-D035-46C8-92D4-275ABB3BF1B3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02 / 29</a:t>
            </a:r>
            <a:endParaRPr/>
          </a:p>
        </p:txBody>
      </p:sp>
      <p:sp>
        <p:nvSpPr>
          <p:cNvPr id="614984697" name="Straight Connector 614984696">
            <a:extLst>
              <a:ext uri="{FF2B5EF4-FFF2-40B4-BE49-F238E27FC236}">
                <a16:creationId xmlns:a16="http://schemas.microsoft.com/office/drawing/2014/main" id="{37808D1E-B546-4956-8C31-426E93158DCD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0" cy="8572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7803651" name="Rectangle 437803650">
                <a:extLst>
                  <a:ext uri="{FF2B5EF4-FFF2-40B4-BE49-F238E27FC236}">
                    <a16:creationId xmlns:a16="http://schemas.microsoft.com/office/drawing/2014/main" id="{37BA486D-83E4-4623-A792-0F6A3FC5F2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1866900"/>
                <a:ext cx="34290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8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y-GB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ŷ = </m:t>
                      </m:r>
                      <m:r>
                        <a:rPr lang="cy-GB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𝑤𝑥</m:t>
                      </m:r>
                      <m:r>
                        <a:rPr lang="cy-GB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+ </m:t>
                      </m:r>
                      <m:r>
                        <a:rPr lang="cy-GB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37803651" name="Rectangle 437803650">
                <a:extLst>
                  <a:ext uri="{FF2B5EF4-FFF2-40B4-BE49-F238E27FC236}">
                    <a16:creationId xmlns:a16="http://schemas.microsoft.com/office/drawing/2014/main" id="{37BA486D-83E4-4623-A792-0F6A3FC5F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6900"/>
                <a:ext cx="3429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0183341" name="Straight Connector 1710183340">
            <a:extLst>
              <a:ext uri="{FF2B5EF4-FFF2-40B4-BE49-F238E27FC236}">
                <a16:creationId xmlns:a16="http://schemas.microsoft.com/office/drawing/2014/main" id="{350BD128-0E4D-423B-ABD8-1153A036C550}"/>
              </a:ext>
            </a:extLst>
          </p:cNvPr>
          <p:cNvSpPr>
            <a:spLocks noGrp="1"/>
          </p:cNvSpPr>
          <p:nvPr/>
        </p:nvSpPr>
        <p:spPr>
          <a:xfrm>
            <a:off x="819150" y="2971800"/>
            <a:ext cx="0" cy="129540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3464796" name="Rectangle 463464795">
                <a:extLst>
                  <a:ext uri="{FF2B5EF4-FFF2-40B4-BE49-F238E27FC236}">
                    <a16:creationId xmlns:a16="http://schemas.microsoft.com/office/drawing/2014/main" id="{6EB8871B-67EA-4CCF-AA7A-BF1C7FAD9D3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8600" y="3505200"/>
                <a:ext cx="5905500" cy="781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Autofit/>
              </a:bodyPr>
              <a:lstStyle/>
              <a:p>
                <a:pPr>
                  <a:buNone/>
                  <a:defRPr sz="23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𝐿</m:t>
                      </m:r>
                      <m:d>
                        <m:dPr>
                          <m:ctrlPr>
                            <a:rPr lang="el-GR" i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l-GR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𝑤</m:t>
                          </m:r>
                          <m:r>
                            <a:rPr lang="el-GR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el-GR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</m:e>
                      </m:d>
                      <m:r>
                        <a:rPr lang="el-GR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l-GR" i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l-GR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l-GR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</m:den>
                      </m:f>
                      <m:r>
                        <a:rPr lang="el-GR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l-GR" i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en-US" b="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𝑖</m:t>
                          </m:r>
                          <m:r>
                            <a:rPr lang="en-US" b="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en-US" b="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b="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𝑤𝑥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ᵢ + 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𝑏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 − 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ᵢ)</m:t>
                          </m:r>
                          <m:r>
                            <a:rPr lang="en-US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²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63464796" name="Rectangle 463464795">
                <a:extLst>
                  <a:ext uri="{FF2B5EF4-FFF2-40B4-BE49-F238E27FC236}">
                    <a16:creationId xmlns:a16="http://schemas.microsoft.com/office/drawing/2014/main" id="{6EB8871B-67EA-4CCF-AA7A-BF1C7FAD9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05200"/>
                <a:ext cx="5905500" cy="781050"/>
              </a:xfrm>
              <a:prstGeom prst="rect">
                <a:avLst/>
              </a:prstGeom>
              <a:blipFill>
                <a:blip r:embed="rId4"/>
                <a:stretch>
                  <a:fillRect t="-8594" b="-1406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912348" name="Rectangle 62912347">
            <a:extLst>
              <a:ext uri="{FF2B5EF4-FFF2-40B4-BE49-F238E27FC236}">
                <a16:creationId xmlns:a16="http://schemas.microsoft.com/office/drawing/2014/main" id="{7512FCE4-0383-4EF2-8FFF-DCC7AFD1BC7C}"/>
              </a:ext>
            </a:extLst>
          </p:cNvPr>
          <p:cNvSpPr>
            <a:spLocks noGrp="1"/>
          </p:cNvSpPr>
          <p:nvPr/>
        </p:nvSpPr>
        <p:spPr>
          <a:xfrm>
            <a:off x="1071813" y="4910888"/>
            <a:ext cx="3295650" cy="58152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42"/>
          </a:bodyPr>
          <a:lstStyle/>
          <a:p>
            <a:pPr algn="l">
              <a:lnSpc>
                <a:spcPct val="113999"/>
              </a:lnSpc>
              <a:buNone/>
              <a:defRPr sz="2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Three </a:t>
            </a:r>
            <a:r>
              <a:rPr sz="22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observations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170459" name="Rectangle 108170458">
                <a:extLst>
                  <a:ext uri="{FF2B5EF4-FFF2-40B4-BE49-F238E27FC236}">
                    <a16:creationId xmlns:a16="http://schemas.microsoft.com/office/drawing/2014/main" id="{E1018BF4-2162-400D-BD23-F889EC067FE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2400" y="5387138"/>
                <a:ext cx="51435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rmAutofit fontScale="99038"/>
              </a:bodyPr>
              <a:lstStyle/>
              <a:p>
                <a:pPr algn="l">
                  <a:lnSpc>
                    <a:spcPct val="113999"/>
                  </a:lnSpc>
                  <a:buNone/>
                  <a:defRPr sz="235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(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), (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), (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  <m:r>
                        <a:rPr lang="en-US" sz="235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8170459" name="Rectangle 108170458">
                <a:extLst>
                  <a:ext uri="{FF2B5EF4-FFF2-40B4-BE49-F238E27FC236}">
                    <a16:creationId xmlns:a16="http://schemas.microsoft.com/office/drawing/2014/main" id="{E1018BF4-2162-400D-BD23-F889EC067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387138"/>
                <a:ext cx="5143500" cy="400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7848356" name="Straight Connector 1347848355">
            <a:extLst>
              <a:ext uri="{FF2B5EF4-FFF2-40B4-BE49-F238E27FC236}">
                <a16:creationId xmlns:a16="http://schemas.microsoft.com/office/drawing/2014/main" id="{1CA36C59-63D9-403E-90FE-A3AA957979FD}"/>
              </a:ext>
            </a:extLst>
          </p:cNvPr>
          <p:cNvSpPr>
            <a:spLocks noGrp="1"/>
          </p:cNvSpPr>
          <p:nvPr/>
        </p:nvSpPr>
        <p:spPr>
          <a:xfrm>
            <a:off x="7239000" y="2114550"/>
            <a:ext cx="0" cy="188595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2079525561" name="Rectangle 2079525560">
            <a:extLst>
              <a:ext uri="{FF2B5EF4-FFF2-40B4-BE49-F238E27FC236}">
                <a16:creationId xmlns:a16="http://schemas.microsoft.com/office/drawing/2014/main" id="{9D277C3D-1AE7-486A-B7E3-DE919123D629}"/>
              </a:ext>
            </a:extLst>
          </p:cNvPr>
          <p:cNvSpPr>
            <a:spLocks noGrp="1"/>
          </p:cNvSpPr>
          <p:nvPr/>
        </p:nvSpPr>
        <p:spPr>
          <a:xfrm>
            <a:off x="7391399" y="2209800"/>
            <a:ext cx="3486149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WHY MINIMIZE?</a:t>
            </a:r>
            <a:endParaRPr sz="2000"/>
          </a:p>
        </p:txBody>
      </p:sp>
      <p:sp>
        <p:nvSpPr>
          <p:cNvPr id="1707798854" name="Rectangle 1707798853">
            <a:extLst>
              <a:ext uri="{FF2B5EF4-FFF2-40B4-BE49-F238E27FC236}">
                <a16:creationId xmlns:a16="http://schemas.microsoft.com/office/drawing/2014/main" id="{10E287EE-96C2-4D41-9EA8-40528A5E6DAB}"/>
              </a:ext>
            </a:extLst>
          </p:cNvPr>
          <p:cNvSpPr>
            <a:spLocks noGrp="1"/>
          </p:cNvSpPr>
          <p:nvPr/>
        </p:nvSpPr>
        <p:spPr>
          <a:xfrm>
            <a:off x="7391400" y="2457450"/>
            <a:ext cx="33337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Different values of w and b produce different predictions. The squared error gives us one number to make smaller.</a:t>
            </a:r>
            <a:endParaRPr/>
          </a:p>
        </p:txBody>
      </p:sp>
      <p:sp>
        <p:nvSpPr>
          <p:cNvPr id="50848255" name="Rectangle 50848254">
            <a:extLst>
              <a:ext uri="{FF2B5EF4-FFF2-40B4-BE49-F238E27FC236}">
                <a16:creationId xmlns:a16="http://schemas.microsoft.com/office/drawing/2014/main" id="{A7F583CF-2ED2-461E-8568-33CB5542937A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371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985"/>
          </a:bodyPr>
          <a:lstStyle/>
          <a:p>
            <a:pPr algn="l">
              <a:lnSpc>
                <a:spcPct val="113999"/>
              </a:lnSpc>
              <a:buNone/>
              <a:defRPr sz="21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The loss turns “fit the data” into an optimization problem.</a:t>
            </a: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2E4F2F-9049-44BA-9B75-A07F68545DFD}"/>
              </a:ext>
            </a:extLst>
          </p:cNvPr>
          <p:cNvSpPr>
            <a:spLocks noGrp="1"/>
          </p:cNvSpPr>
          <p:nvPr/>
        </p:nvSpPr>
        <p:spPr>
          <a:xfrm>
            <a:off x="1088859" y="1657350"/>
            <a:ext cx="3733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M</a:t>
            </a:r>
            <a:r>
              <a:rPr sz="2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odel:</a:t>
            </a:r>
            <a:endParaRPr sz="2000">
              <a:solidFill>
                <a:srgbClr val="3158C9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B2FBFA-7536-467E-82C8-3549C1C2B5A1}"/>
              </a:ext>
            </a:extLst>
          </p:cNvPr>
          <p:cNvSpPr>
            <a:spLocks noGrp="1"/>
          </p:cNvSpPr>
          <p:nvPr/>
        </p:nvSpPr>
        <p:spPr>
          <a:xfrm>
            <a:off x="1071813" y="2952249"/>
            <a:ext cx="3733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Loss function (MSE)</a:t>
            </a:r>
            <a:endParaRPr sz="2000">
              <a:solidFill>
                <a:srgbClr val="13877F"/>
              </a:solidFill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12E772E-8E57-4DC7-B71E-7C49551F082F}"/>
              </a:ext>
            </a:extLst>
          </p:cNvPr>
          <p:cNvSpPr>
            <a:spLocks noGrp="1"/>
          </p:cNvSpPr>
          <p:nvPr/>
        </p:nvSpPr>
        <p:spPr>
          <a:xfrm>
            <a:off x="819150" y="4752474"/>
            <a:ext cx="0" cy="1295400"/>
          </a:xfrm>
          <a:prstGeom prst="line">
            <a:avLst/>
          </a:prstGeom>
          <a:noFill/>
          <a:ln w="23813">
            <a:solidFill>
              <a:schemeClr val="tx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606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234053" name="Rectangle 1861234052">
            <a:extLst>
              <a:ext uri="{FF2B5EF4-FFF2-40B4-BE49-F238E27FC236}">
                <a16:creationId xmlns:a16="http://schemas.microsoft.com/office/drawing/2014/main" id="{5F92107E-2E02-4432-95A5-74894B023C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1558282649" name="Rectangle 1558282648">
            <a:extLst>
              <a:ext uri="{FF2B5EF4-FFF2-40B4-BE49-F238E27FC236}">
                <a16:creationId xmlns:a16="http://schemas.microsoft.com/office/drawing/2014/main" id="{7CCF110E-63B6-46D8-A508-EE6E4EE7B1D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Two parameters make a two-dimensional search</a:t>
            </a:r>
            <a:endParaRPr/>
          </a:p>
        </p:txBody>
      </p:sp>
      <p:sp>
        <p:nvSpPr>
          <p:cNvPr id="699651378" name="Straight Connector 699651377">
            <a:extLst>
              <a:ext uri="{FF2B5EF4-FFF2-40B4-BE49-F238E27FC236}">
                <a16:creationId xmlns:a16="http://schemas.microsoft.com/office/drawing/2014/main" id="{0DB6E823-F13C-4208-A8C0-559FFE66B8C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969602942" name="Straight Connector 969602941">
            <a:extLst>
              <a:ext uri="{FF2B5EF4-FFF2-40B4-BE49-F238E27FC236}">
                <a16:creationId xmlns:a16="http://schemas.microsoft.com/office/drawing/2014/main" id="{A21B4708-AF7F-4B65-8F09-53A201D8285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592151967" name="Straight Connector 1592151966">
            <a:extLst>
              <a:ext uri="{FF2B5EF4-FFF2-40B4-BE49-F238E27FC236}">
                <a16:creationId xmlns:a16="http://schemas.microsoft.com/office/drawing/2014/main" id="{64D8BBB6-BA90-473F-9D9C-ACAB0C5544E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135094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377726603" name="Rectangle 377726602">
            <a:extLst>
              <a:ext uri="{FF2B5EF4-FFF2-40B4-BE49-F238E27FC236}">
                <a16:creationId xmlns:a16="http://schemas.microsoft.com/office/drawing/2014/main" id="{68304FF2-67E5-4CAC-A1F8-111D53CF318E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03 / 29</a:t>
            </a:r>
            <a:endParaRPr/>
          </a:p>
        </p:txBody>
      </p:sp>
      <p:sp>
        <p:nvSpPr>
          <p:cNvPr id="1118443125" name="Straight Connector 1118443124">
            <a:extLst>
              <a:ext uri="{FF2B5EF4-FFF2-40B4-BE49-F238E27FC236}">
                <a16:creationId xmlns:a16="http://schemas.microsoft.com/office/drawing/2014/main" id="{C164EF21-644B-4179-BBFA-6FC2327C9CFD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0" cy="5715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2503014" name="Rectangle 952503013">
                <a:extLst>
                  <a:ext uri="{FF2B5EF4-FFF2-40B4-BE49-F238E27FC236}">
                    <a16:creationId xmlns:a16="http://schemas.microsoft.com/office/drawing/2014/main" id="{7174FB10-9B97-4E3F-8BB5-F12DF7DE25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4800" y="1638300"/>
                <a:ext cx="32385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8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(</m:t>
                      </m:r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𝑤</m:t>
                      </m:r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lang="en-US" sz="28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52503014" name="Rectangle 952503013">
                <a:extLst>
                  <a:ext uri="{FF2B5EF4-FFF2-40B4-BE49-F238E27FC236}">
                    <a16:creationId xmlns:a16="http://schemas.microsoft.com/office/drawing/2014/main" id="{7174FB10-9B97-4E3F-8BB5-F12DF7DE25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638300"/>
                <a:ext cx="32385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5642831" name="Straight Connector 1575642830">
            <a:extLst>
              <a:ext uri="{FF2B5EF4-FFF2-40B4-BE49-F238E27FC236}">
                <a16:creationId xmlns:a16="http://schemas.microsoft.com/office/drawing/2014/main" id="{29C15CD1-33A1-412E-B9D8-91720C2EA6B3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0" cy="57150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0795366" name="Rectangle 1360795365">
                <a:extLst>
                  <a:ext uri="{FF2B5EF4-FFF2-40B4-BE49-F238E27FC236}">
                    <a16:creationId xmlns:a16="http://schemas.microsoft.com/office/drawing/2014/main" id="{14DE5E9C-00BB-4DFE-8022-144F68B1FA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4800" y="2895600"/>
                <a:ext cx="38100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70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𝐿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𝑤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  <m:r>
                        <a:rPr lang="en-US" sz="27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60795366" name="Rectangle 1360795365">
                <a:extLst>
                  <a:ext uri="{FF2B5EF4-FFF2-40B4-BE49-F238E27FC236}">
                    <a16:creationId xmlns:a16="http://schemas.microsoft.com/office/drawing/2014/main" id="{14DE5E9C-00BB-4DFE-8022-144F68B1F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895600"/>
                <a:ext cx="3810000" cy="76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9597237" name="Straight Connector 1019597236">
            <a:extLst>
              <a:ext uri="{FF2B5EF4-FFF2-40B4-BE49-F238E27FC236}">
                <a16:creationId xmlns:a16="http://schemas.microsoft.com/office/drawing/2014/main" id="{B4F53764-3DFF-4AFC-BE2D-4077B91649CA}"/>
              </a:ext>
            </a:extLst>
          </p:cNvPr>
          <p:cNvSpPr>
            <a:spLocks noGrp="1"/>
          </p:cNvSpPr>
          <p:nvPr/>
        </p:nvSpPr>
        <p:spPr>
          <a:xfrm>
            <a:off x="838200" y="4114904"/>
            <a:ext cx="0" cy="161925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123795421" name="Rectangle 1123795420">
            <a:extLst>
              <a:ext uri="{FF2B5EF4-FFF2-40B4-BE49-F238E27FC236}">
                <a16:creationId xmlns:a16="http://schemas.microsoft.com/office/drawing/2014/main" id="{1BF354EF-4298-423F-A2C6-7B7ECA53D1E6}"/>
              </a:ext>
            </a:extLst>
          </p:cNvPr>
          <p:cNvSpPr>
            <a:spLocks noGrp="1"/>
          </p:cNvSpPr>
          <p:nvPr/>
        </p:nvSpPr>
        <p:spPr>
          <a:xfrm>
            <a:off x="990599" y="4153003"/>
            <a:ext cx="3505199" cy="4951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THE ABSTRACT PICTURE</a:t>
            </a:r>
            <a:endParaRPr sz="2000"/>
          </a:p>
        </p:txBody>
      </p:sp>
      <p:sp>
        <p:nvSpPr>
          <p:cNvPr id="473514720" name="Rectangle 473514719">
            <a:extLst>
              <a:ext uri="{FF2B5EF4-FFF2-40B4-BE49-F238E27FC236}">
                <a16:creationId xmlns:a16="http://schemas.microsoft.com/office/drawing/2014/main" id="{3C135A95-886B-4A64-810D-EA69608009A1}"/>
              </a:ext>
            </a:extLst>
          </p:cNvPr>
          <p:cNvSpPr>
            <a:spLocks noGrp="1"/>
          </p:cNvSpPr>
          <p:nvPr/>
        </p:nvSpPr>
        <p:spPr>
          <a:xfrm>
            <a:off x="990600" y="4400654"/>
            <a:ext cx="2666998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Training searches through parameter space for a point with a lower loss.</a:t>
            </a:r>
            <a:endParaRPr/>
          </a:p>
        </p:txBody>
      </p:sp>
      <p:pic>
        <p:nvPicPr>
          <p:cNvPr id="1861234068" name="Picture 4"/>
          <p:cNvPicPr>
            <a:picLocks noChangeAspect="1"/>
          </p:cNvPicPr>
          <p:nvPr/>
        </p:nvPicPr>
        <p:blipFill rotWithShape="1">
          <a:blip r:embed="rId5"/>
          <a:srcRect l="4629" t="6251" b="4908"/>
          <a:stretch/>
        </p:blipFill>
        <p:spPr>
          <a:xfrm>
            <a:off x="4191002" y="1666771"/>
            <a:ext cx="7421477" cy="38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74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464088" name="Rectangle 1672464087">
            <a:extLst>
              <a:ext uri="{FF2B5EF4-FFF2-40B4-BE49-F238E27FC236}">
                <a16:creationId xmlns:a16="http://schemas.microsoft.com/office/drawing/2014/main" id="{4A2615D6-465F-4DAB-AF27-4F8F197E04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1576990997" name="Rectangle 1576990996">
            <a:extLst>
              <a:ext uri="{FF2B5EF4-FFF2-40B4-BE49-F238E27FC236}">
                <a16:creationId xmlns:a16="http://schemas.microsoft.com/office/drawing/2014/main" id="{892D5459-B4C3-441F-BD42-506851C14BF3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partial derivative holds the other coordinate fixed</a:t>
            </a:r>
            <a:endParaRPr/>
          </a:p>
        </p:txBody>
      </p:sp>
      <p:sp>
        <p:nvSpPr>
          <p:cNvPr id="853565200" name="Straight Connector 853565199">
            <a:extLst>
              <a:ext uri="{FF2B5EF4-FFF2-40B4-BE49-F238E27FC236}">
                <a16:creationId xmlns:a16="http://schemas.microsoft.com/office/drawing/2014/main" id="{76546AAB-75B4-479D-928A-C6D805E85A6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1693908547" name="Straight Connector 1693908546">
            <a:extLst>
              <a:ext uri="{FF2B5EF4-FFF2-40B4-BE49-F238E27FC236}">
                <a16:creationId xmlns:a16="http://schemas.microsoft.com/office/drawing/2014/main" id="{8BBB2B63-8FA4-4439-BFDF-FA7A86CE89F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285013448" name="Straight Connector 1285013447">
            <a:extLst>
              <a:ext uri="{FF2B5EF4-FFF2-40B4-BE49-F238E27FC236}">
                <a16:creationId xmlns:a16="http://schemas.microsoft.com/office/drawing/2014/main" id="{EAF6797E-CB0D-450D-A58C-780F8925F6F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513523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341839883" name="Rectangle 1341839882">
            <a:extLst>
              <a:ext uri="{FF2B5EF4-FFF2-40B4-BE49-F238E27FC236}">
                <a16:creationId xmlns:a16="http://schemas.microsoft.com/office/drawing/2014/main" id="{9D76C286-35D4-4C5B-A8BA-06A279AACF79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04 / 29</a:t>
            </a:r>
            <a:endParaRPr/>
          </a:p>
        </p:txBody>
      </p:sp>
      <p:sp>
        <p:nvSpPr>
          <p:cNvPr id="1607191930" name="Straight Connector 1607191929">
            <a:extLst>
              <a:ext uri="{FF2B5EF4-FFF2-40B4-BE49-F238E27FC236}">
                <a16:creationId xmlns:a16="http://schemas.microsoft.com/office/drawing/2014/main" id="{55B5AD48-3091-4CDC-92BD-D1078EBB4FA9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0" cy="5334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6999978" name="Rectangle 626999977">
                <a:extLst>
                  <a:ext uri="{FF2B5EF4-FFF2-40B4-BE49-F238E27FC236}">
                    <a16:creationId xmlns:a16="http://schemas.microsoft.com/office/drawing/2014/main" id="{A8A44710-5FA8-473C-83F1-CCA145953D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562100"/>
                <a:ext cx="43815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70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²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+ 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en-US" sz="270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²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26999978" name="Rectangle 626999977">
                <a:extLst>
                  <a:ext uri="{FF2B5EF4-FFF2-40B4-BE49-F238E27FC236}">
                    <a16:creationId xmlns:a16="http://schemas.microsoft.com/office/drawing/2014/main" id="{A8A44710-5FA8-473C-83F1-CCA145953D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562100"/>
                <a:ext cx="43815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7031618" name="Straight Connector 1087031617">
            <a:extLst>
              <a:ext uri="{FF2B5EF4-FFF2-40B4-BE49-F238E27FC236}">
                <a16:creationId xmlns:a16="http://schemas.microsoft.com/office/drawing/2014/main" id="{8CD05ADA-31DF-45C2-A400-7FC998154D8D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0" cy="100965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874333" name="Rectangle 200874332">
                <a:extLst>
                  <a:ext uri="{FF2B5EF4-FFF2-40B4-BE49-F238E27FC236}">
                    <a16:creationId xmlns:a16="http://schemas.microsoft.com/office/drawing/2014/main" id="{CA1195DB-F6AB-4AB0-AC52-AD07C3507F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724150"/>
                <a:ext cx="52387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3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𝑜𝑙𝑑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 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²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+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3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35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ar-AE" sz="235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ar-AE" sz="235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𝑓</m:t>
                          </m:r>
                        </m:num>
                        <m:den>
                          <m:r>
                            <a:rPr lang="ar-AE" sz="235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ar-AE" sz="2350" i="1">
                              <a:solidFill>
                                <a:srgbClr val="13877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den>
                      </m:f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ar-AE" sz="23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874333" name="Rectangle 200874332">
                <a:extLst>
                  <a:ext uri="{FF2B5EF4-FFF2-40B4-BE49-F238E27FC236}">
                    <a16:creationId xmlns:a16="http://schemas.microsoft.com/office/drawing/2014/main" id="{CA1195DB-F6AB-4AB0-AC52-AD07C3507F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724150"/>
                <a:ext cx="5238750" cy="1200150"/>
              </a:xfrm>
              <a:prstGeom prst="rect">
                <a:avLst/>
              </a:prstGeom>
              <a:blipFill>
                <a:blip r:embed="rId4"/>
                <a:stretch>
                  <a:fillRect l="-139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339390" name="Straight Connector 604339389">
            <a:extLst>
              <a:ext uri="{FF2B5EF4-FFF2-40B4-BE49-F238E27FC236}">
                <a16:creationId xmlns:a16="http://schemas.microsoft.com/office/drawing/2014/main" id="{F6BE83DE-2681-45A7-B880-A94938ECB59B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0" cy="1009650"/>
          </a:xfrm>
          <a:prstGeom prst="line">
            <a:avLst/>
          </a:prstGeom>
          <a:noFill/>
          <a:ln w="23813">
            <a:solidFill>
              <a:srgbClr val="A9610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2446171" name="Rectangle 902446170">
                <a:extLst>
                  <a:ext uri="{FF2B5EF4-FFF2-40B4-BE49-F238E27FC236}">
                    <a16:creationId xmlns:a16="http://schemas.microsoft.com/office/drawing/2014/main" id="{0F7B0259-5A2F-4783-A4A1-99C71F03DF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4305300"/>
                <a:ext cx="52387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 fontScale="92500"/>
              </a:bodyPr>
              <a:lstStyle/>
              <a:p>
                <a:pPr algn="l">
                  <a:buNone/>
                  <a:defRPr sz="2350">
                    <a:solidFill>
                      <a:srgbClr val="A9610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𝑜𝑙𝑑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 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+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²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350">
                    <a:solidFill>
                      <a:srgbClr val="A9610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35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ar-AE" sz="2350" i="1">
                              <a:solidFill>
                                <a:srgbClr val="A9610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ar-AE" sz="2350" i="1">
                              <a:solidFill>
                                <a:srgbClr val="A9610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𝑓</m:t>
                          </m:r>
                        </m:num>
                        <m:den>
                          <m:r>
                            <a:rPr lang="ar-AE" sz="2350" i="1">
                              <a:solidFill>
                                <a:srgbClr val="A9610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𝜕</m:t>
                          </m:r>
                          <m:r>
                            <a:rPr lang="ar-AE" sz="2350" i="1">
                              <a:solidFill>
                                <a:srgbClr val="A9610B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𝑦</m:t>
                          </m:r>
                        </m:den>
                      </m:f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ar-AE" sz="235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2446171" name="Rectangle 902446170">
                <a:extLst>
                  <a:ext uri="{FF2B5EF4-FFF2-40B4-BE49-F238E27FC236}">
                    <a16:creationId xmlns:a16="http://schemas.microsoft.com/office/drawing/2014/main" id="{0F7B0259-5A2F-4783-A4A1-99C71F03D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305300"/>
                <a:ext cx="5238750" cy="1200150"/>
              </a:xfrm>
              <a:prstGeom prst="rect">
                <a:avLst/>
              </a:prstGeom>
              <a:blipFill>
                <a:blip r:embed="rId5"/>
                <a:stretch>
                  <a:fillRect l="-12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535988" name="Straight Connector 349535987">
            <a:extLst>
              <a:ext uri="{FF2B5EF4-FFF2-40B4-BE49-F238E27FC236}">
                <a16:creationId xmlns:a16="http://schemas.microsoft.com/office/drawing/2014/main" id="{2C2EF3B3-50EA-4678-925E-2C50699D59E8}"/>
              </a:ext>
            </a:extLst>
          </p:cNvPr>
          <p:cNvSpPr>
            <a:spLocks noGrp="1"/>
          </p:cNvSpPr>
          <p:nvPr/>
        </p:nvSpPr>
        <p:spPr>
          <a:xfrm>
            <a:off x="7239000" y="2552700"/>
            <a:ext cx="0" cy="171450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127070659" name="Rectangle 1127070658">
            <a:extLst>
              <a:ext uri="{FF2B5EF4-FFF2-40B4-BE49-F238E27FC236}">
                <a16:creationId xmlns:a16="http://schemas.microsoft.com/office/drawing/2014/main" id="{A3B9A2CC-9D4B-4174-B28B-DCDB1C8ECC63}"/>
              </a:ext>
            </a:extLst>
          </p:cNvPr>
          <p:cNvSpPr>
            <a:spLocks noGrp="1"/>
          </p:cNvSpPr>
          <p:nvPr/>
        </p:nvSpPr>
        <p:spPr>
          <a:xfrm>
            <a:off x="7391400" y="25908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MEANING</a:t>
            </a:r>
            <a:endParaRPr/>
          </a:p>
        </p:txBody>
      </p:sp>
      <p:sp>
        <p:nvSpPr>
          <p:cNvPr id="344920824" name="Rectangle 344920823">
            <a:extLst>
              <a:ext uri="{FF2B5EF4-FFF2-40B4-BE49-F238E27FC236}">
                <a16:creationId xmlns:a16="http://schemas.microsoft.com/office/drawing/2014/main" id="{C6F17B48-049D-409E-B49D-C085368AD3AA}"/>
              </a:ext>
            </a:extLst>
          </p:cNvPr>
          <p:cNvSpPr>
            <a:spLocks noGrp="1"/>
          </p:cNvSpPr>
          <p:nvPr/>
        </p:nvSpPr>
        <p:spPr>
          <a:xfrm>
            <a:off x="7391400" y="2838450"/>
            <a:ext cx="333375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Each partial derivative asks how the loss changes when one parameter moves and the others stay fixed.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284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451566" name="Rectangle 1319451565">
            <a:extLst>
              <a:ext uri="{FF2B5EF4-FFF2-40B4-BE49-F238E27FC236}">
                <a16:creationId xmlns:a16="http://schemas.microsoft.com/office/drawing/2014/main" id="{D70CC28E-6E10-495C-B692-65FE505E3D5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GEOMETRY</a:t>
            </a:r>
            <a:endParaRPr/>
          </a:p>
        </p:txBody>
      </p:sp>
      <p:sp>
        <p:nvSpPr>
          <p:cNvPr id="77681889" name="Rectangle 77681888">
            <a:extLst>
              <a:ext uri="{FF2B5EF4-FFF2-40B4-BE49-F238E27FC236}">
                <a16:creationId xmlns:a16="http://schemas.microsoft.com/office/drawing/2014/main" id="{EA67E9E6-D2DA-44B5-AC0D-78671FAC1E2D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lives in parameter space</a:t>
            </a:r>
            <a:endParaRPr/>
          </a:p>
        </p:txBody>
      </p:sp>
      <p:sp>
        <p:nvSpPr>
          <p:cNvPr id="67574011" name="Straight Connector 67574010">
            <a:extLst>
              <a:ext uri="{FF2B5EF4-FFF2-40B4-BE49-F238E27FC236}">
                <a16:creationId xmlns:a16="http://schemas.microsoft.com/office/drawing/2014/main" id="{8F088548-BE16-42A9-82DA-B380B6839A4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1882079119" name="Straight Connector 1882079118">
            <a:extLst>
              <a:ext uri="{FF2B5EF4-FFF2-40B4-BE49-F238E27FC236}">
                <a16:creationId xmlns:a16="http://schemas.microsoft.com/office/drawing/2014/main" id="{846BD7CD-44A2-487D-A19A-EF31385A99C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2484666" name="Straight Connector 12484665">
            <a:extLst>
              <a:ext uri="{FF2B5EF4-FFF2-40B4-BE49-F238E27FC236}">
                <a16:creationId xmlns:a16="http://schemas.microsoft.com/office/drawing/2014/main" id="{10D7BD5A-8F0F-495F-985F-C7DE31EF714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891856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379942723" name="Rectangle 1379942722">
            <a:extLst>
              <a:ext uri="{FF2B5EF4-FFF2-40B4-BE49-F238E27FC236}">
                <a16:creationId xmlns:a16="http://schemas.microsoft.com/office/drawing/2014/main" id="{4313142C-933C-4EFB-817C-F75C39C73BDA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05 / 29</a:t>
            </a:r>
            <a:endParaRPr/>
          </a:p>
        </p:txBody>
      </p:sp>
      <p:pic>
        <p:nvPicPr>
          <p:cNvPr id="2102417629" name="Graphic 81174432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77000" y="1333500"/>
            <a:ext cx="4629150" cy="4762500"/>
          </a:xfrm>
          <a:prstGeom prst="rect">
            <a:avLst/>
          </a:prstGeom>
        </p:spPr>
      </p:pic>
      <p:sp>
        <p:nvSpPr>
          <p:cNvPr id="2097676772" name="Straight Connector 2097676771">
            <a:extLst>
              <a:ext uri="{FF2B5EF4-FFF2-40B4-BE49-F238E27FC236}">
                <a16:creationId xmlns:a16="http://schemas.microsoft.com/office/drawing/2014/main" id="{B57DAC99-045D-4D35-8B20-D893F09F2781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0" cy="10668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2417621" name="Rectangle 2102417620">
                <a:extLst>
                  <a:ext uri="{FF2B5EF4-FFF2-40B4-BE49-F238E27FC236}">
                    <a16:creationId xmlns:a16="http://schemas.microsoft.com/office/drawing/2014/main" id="{9802F1B0-A977-41D8-B52E-5153F72067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714500"/>
                <a:ext cx="4953000" cy="1257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𝑎𝑡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(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):  </m:t>
                      </m:r>
                      <m:r>
                        <a:rPr lang="en-US" sz="23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(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𝑑𝑜𝑤𝑛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𝑖𝑙𝑙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  −</m:t>
                      </m:r>
                      <m:r>
                        <a:rPr lang="en-US" sz="23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(−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,−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102417621" name="Rectangle 2102417620">
                <a:extLst>
                  <a:ext uri="{FF2B5EF4-FFF2-40B4-BE49-F238E27FC236}">
                    <a16:creationId xmlns:a16="http://schemas.microsoft.com/office/drawing/2014/main" id="{9802F1B0-A977-41D8-B52E-5153F72067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714500"/>
                <a:ext cx="4953000" cy="1257300"/>
              </a:xfrm>
              <a:prstGeom prst="rect">
                <a:avLst/>
              </a:prstGeom>
              <a:blipFill>
                <a:blip r:embed="rId5"/>
                <a:stretch>
                  <a:fillRect l="-147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085306" name="Rectangle 273085305">
            <a:extLst>
              <a:ext uri="{FF2B5EF4-FFF2-40B4-BE49-F238E27FC236}">
                <a16:creationId xmlns:a16="http://schemas.microsoft.com/office/drawing/2014/main" id="{896EC3B4-B350-4690-B9F3-AB9C493DAD96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50482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 fontScale="88441"/>
          </a:bodyPr>
          <a:lstStyle/>
          <a:p>
            <a:pPr marL="279400" indent="-139700">
              <a:lnSpc>
                <a:spcPct val="113999"/>
              </a:lnSpc>
              <a:spcAft>
                <a:spcPts val="10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points toward local increase.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0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negative gradient points toward local decrease.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0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It is perpendicular to the contour through the current point.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516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516742" name="Rectangle 1358516741">
            <a:extLst>
              <a:ext uri="{FF2B5EF4-FFF2-40B4-BE49-F238E27FC236}">
                <a16:creationId xmlns:a16="http://schemas.microsoft.com/office/drawing/2014/main" id="{53B3C893-833E-4E61-A030-AB9FE406C0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1357535298" name="Rectangle 1357535297">
            <a:extLst>
              <a:ext uri="{FF2B5EF4-FFF2-40B4-BE49-F238E27FC236}">
                <a16:creationId xmlns:a16="http://schemas.microsoft.com/office/drawing/2014/main" id="{471AF631-081A-41D2-A44D-B239F1F9E90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Why the negative gradient decreases the function</a:t>
            </a:r>
            <a:endParaRPr/>
          </a:p>
        </p:txBody>
      </p:sp>
      <p:sp>
        <p:nvSpPr>
          <p:cNvPr id="975613265" name="Straight Connector 975613264">
            <a:extLst>
              <a:ext uri="{FF2B5EF4-FFF2-40B4-BE49-F238E27FC236}">
                <a16:creationId xmlns:a16="http://schemas.microsoft.com/office/drawing/2014/main" id="{3426264D-63D3-42FD-98C4-976A01D0662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1736137793" name="Straight Connector 1736137792">
            <a:extLst>
              <a:ext uri="{FF2B5EF4-FFF2-40B4-BE49-F238E27FC236}">
                <a16:creationId xmlns:a16="http://schemas.microsoft.com/office/drawing/2014/main" id="{AC53C808-CACC-46F2-BE7C-0B0999FF79C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50936344" name="Straight Connector 50936343">
            <a:extLst>
              <a:ext uri="{FF2B5EF4-FFF2-40B4-BE49-F238E27FC236}">
                <a16:creationId xmlns:a16="http://schemas.microsoft.com/office/drawing/2014/main" id="{D4547F63-C516-4672-BFD6-13337DDA744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270189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344238821" name="Rectangle 344238820">
            <a:extLst>
              <a:ext uri="{FF2B5EF4-FFF2-40B4-BE49-F238E27FC236}">
                <a16:creationId xmlns:a16="http://schemas.microsoft.com/office/drawing/2014/main" id="{0195910F-19E2-473B-B7CD-ECCD912AB4D6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06 / 29</a:t>
            </a:r>
            <a:endParaRPr/>
          </a:p>
        </p:txBody>
      </p:sp>
      <p:pic>
        <p:nvPicPr>
          <p:cNvPr id="2013073309" name="Graphic 1720566370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38637" y="1371600"/>
            <a:ext cx="4648199" cy="4648199"/>
          </a:xfrm>
          <a:prstGeom prst="rect">
            <a:avLst/>
          </a:prstGeom>
        </p:spPr>
      </p:pic>
      <p:sp>
        <p:nvSpPr>
          <p:cNvPr id="1835782918" name="Straight Connector 1835782917">
            <a:extLst>
              <a:ext uri="{FF2B5EF4-FFF2-40B4-BE49-F238E27FC236}">
                <a16:creationId xmlns:a16="http://schemas.microsoft.com/office/drawing/2014/main" id="{01CD999B-8FAB-450D-8D0C-28D8934DF2F4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0" cy="10096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7503177" name="Rectangle 947503176">
                <a:extLst>
                  <a:ext uri="{FF2B5EF4-FFF2-40B4-BE49-F238E27FC236}">
                    <a16:creationId xmlns:a16="http://schemas.microsoft.com/office/drawing/2014/main" id="{198E6ED5-97F8-42A7-ACD7-3A63993B1C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562100"/>
                <a:ext cx="56197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||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|| = 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𝐷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ᵤ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23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· 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||</m:t>
                      </m:r>
                      <m:r>
                        <a:rPr lang="en-US" sz="23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|| 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𝑐𝑜𝑠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⁡</m:t>
                      </m:r>
                      <m:r>
                        <a:rPr lang="en-US" sz="23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𝜑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47503177" name="Rectangle 947503176">
                <a:extLst>
                  <a:ext uri="{FF2B5EF4-FFF2-40B4-BE49-F238E27FC236}">
                    <a16:creationId xmlns:a16="http://schemas.microsoft.com/office/drawing/2014/main" id="{198E6ED5-97F8-42A7-ACD7-3A63993B1C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562100"/>
                <a:ext cx="5619750" cy="1200150"/>
              </a:xfrm>
              <a:prstGeom prst="rect">
                <a:avLst/>
              </a:prstGeom>
              <a:blipFill>
                <a:blip r:embed="rId5"/>
                <a:stretch>
                  <a:fillRect l="-18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859387" name="Straight Connector 170859386">
            <a:extLst>
              <a:ext uri="{FF2B5EF4-FFF2-40B4-BE49-F238E27FC236}">
                <a16:creationId xmlns:a16="http://schemas.microsoft.com/office/drawing/2014/main" id="{0517CCD2-60C8-44C3-A303-80FAE921442F}"/>
              </a:ext>
            </a:extLst>
          </p:cNvPr>
          <p:cNvSpPr>
            <a:spLocks noGrp="1"/>
          </p:cNvSpPr>
          <p:nvPr/>
        </p:nvSpPr>
        <p:spPr>
          <a:xfrm>
            <a:off x="819150" y="3257550"/>
            <a:ext cx="0" cy="838200"/>
          </a:xfrm>
          <a:prstGeom prst="line">
            <a:avLst/>
          </a:prstGeom>
          <a:noFill/>
          <a:ln w="23813">
            <a:solidFill>
              <a:srgbClr val="B53D4A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8088714" name="Rectangle 538088713">
                <a:extLst>
                  <a:ext uri="{FF2B5EF4-FFF2-40B4-BE49-F238E27FC236}">
                    <a16:creationId xmlns:a16="http://schemas.microsoft.com/office/drawing/2014/main" id="{E5946E6C-E7D9-405D-AA19-9F52584227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162300"/>
                <a:ext cx="5143500" cy="10287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B53D4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𝑙𝑎𝑟𝑔𝑒𝑠𝑡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𝑖𝑛𝑐𝑟𝑒𝑎𝑠𝑒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𝜑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250">
                    <a:solidFill>
                      <a:srgbClr val="B53D4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𝑙𝑎𝑟𝑔𝑒𝑠𝑡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𝑑𝑒𝑐𝑟𝑒𝑎𝑠𝑒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𝜑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2250" i="1">
                          <a:solidFill>
                            <a:srgbClr val="B53D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𝜋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38088714" name="Rectangle 538088713">
                <a:extLst>
                  <a:ext uri="{FF2B5EF4-FFF2-40B4-BE49-F238E27FC236}">
                    <a16:creationId xmlns:a16="http://schemas.microsoft.com/office/drawing/2014/main" id="{E5946E6C-E7D9-405D-AA19-9F52584227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162300"/>
                <a:ext cx="5143500" cy="1028700"/>
              </a:xfrm>
              <a:prstGeom prst="rect">
                <a:avLst/>
              </a:prstGeom>
              <a:blipFill>
                <a:blip r:embed="rId6"/>
                <a:stretch>
                  <a:fillRect l="-189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3073301" name="Straight Connector 2013073300">
            <a:extLst>
              <a:ext uri="{FF2B5EF4-FFF2-40B4-BE49-F238E27FC236}">
                <a16:creationId xmlns:a16="http://schemas.microsoft.com/office/drawing/2014/main" id="{27191007-F4CA-42B9-A525-1D778B8C65FC}"/>
              </a:ext>
            </a:extLst>
          </p:cNvPr>
          <p:cNvSpPr>
            <a:spLocks noGrp="1"/>
          </p:cNvSpPr>
          <p:nvPr/>
        </p:nvSpPr>
        <p:spPr>
          <a:xfrm>
            <a:off x="819150" y="4724399"/>
            <a:ext cx="0" cy="100965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9399528" name="Rectangle 769399527">
                <a:extLst>
                  <a:ext uri="{FF2B5EF4-FFF2-40B4-BE49-F238E27FC236}">
                    <a16:creationId xmlns:a16="http://schemas.microsoft.com/office/drawing/2014/main" id="{9348FD46-1D4A-4B9A-8019-E015D6529A6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4629150"/>
                <a:ext cx="58102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+ 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𝛿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≈ 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+ </m:t>
                      </m:r>
                      <m:r>
                        <a:rPr lang="en-US" sz="2250" i="0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)ᵀ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𝛿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𝛿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−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𝜂</m:t>
                      </m:r>
                      <m:r>
                        <a:rPr lang="en-US" sz="2250" i="0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 ⇒  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𝑙𝑜𝑐𝑎𝑙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25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𝑑𝑒𝑐𝑟𝑒𝑎𝑠𝑒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69399528" name="Rectangle 769399527">
                <a:extLst>
                  <a:ext uri="{FF2B5EF4-FFF2-40B4-BE49-F238E27FC236}">
                    <a16:creationId xmlns:a16="http://schemas.microsoft.com/office/drawing/2014/main" id="{9348FD46-1D4A-4B9A-8019-E015D6529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629150"/>
                <a:ext cx="5810250" cy="1200150"/>
              </a:xfrm>
              <a:prstGeom prst="rect">
                <a:avLst/>
              </a:prstGeom>
              <a:blipFill>
                <a:blip r:embed="rId7"/>
                <a:stretch>
                  <a:fillRect l="-167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27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452727" name="Rectangle 816452726">
            <a:extLst>
              <a:ext uri="{FF2B5EF4-FFF2-40B4-BE49-F238E27FC236}">
                <a16:creationId xmlns:a16="http://schemas.microsoft.com/office/drawing/2014/main" id="{EC598DCA-E14F-4A66-A693-0B0CF00987A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76425504" name="Rectangle 76425503">
            <a:extLst>
              <a:ext uri="{FF2B5EF4-FFF2-40B4-BE49-F238E27FC236}">
                <a16:creationId xmlns:a16="http://schemas.microsoft.com/office/drawing/2014/main" id="{F7A64BCF-98D9-474F-A267-6E2521570C97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Gradient descent repeats one update</a:t>
            </a:r>
            <a:endParaRPr/>
          </a:p>
        </p:txBody>
      </p:sp>
      <p:sp>
        <p:nvSpPr>
          <p:cNvPr id="1867411848" name="Straight Connector 1867411847">
            <a:extLst>
              <a:ext uri="{FF2B5EF4-FFF2-40B4-BE49-F238E27FC236}">
                <a16:creationId xmlns:a16="http://schemas.microsoft.com/office/drawing/2014/main" id="{73B3A022-1AD4-457B-92EF-C0FC40917F25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1680876281" name="Straight Connector 1680876280">
            <a:extLst>
              <a:ext uri="{FF2B5EF4-FFF2-40B4-BE49-F238E27FC236}">
                <a16:creationId xmlns:a16="http://schemas.microsoft.com/office/drawing/2014/main" id="{8C12B93B-4345-41B2-A1B4-B7ED3EE721D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785909730" name="Straight Connector 1785909729">
            <a:extLst>
              <a:ext uri="{FF2B5EF4-FFF2-40B4-BE49-F238E27FC236}">
                <a16:creationId xmlns:a16="http://schemas.microsoft.com/office/drawing/2014/main" id="{CB7D7991-0CBE-4536-9740-05CFC5EDDCC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648617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093617693" name="Rectangle 1093617692">
            <a:extLst>
              <a:ext uri="{FF2B5EF4-FFF2-40B4-BE49-F238E27FC236}">
                <a16:creationId xmlns:a16="http://schemas.microsoft.com/office/drawing/2014/main" id="{13EDE9F9-BC84-460C-A331-183C126E16CE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07 / 29</a:t>
            </a:r>
            <a:endParaRPr/>
          </a:p>
        </p:txBody>
      </p:sp>
      <p:sp>
        <p:nvSpPr>
          <p:cNvPr id="528993651" name="Straight Connector 528993650">
            <a:extLst>
              <a:ext uri="{FF2B5EF4-FFF2-40B4-BE49-F238E27FC236}">
                <a16:creationId xmlns:a16="http://schemas.microsoft.com/office/drawing/2014/main" id="{AFE5744B-C7F6-4544-AC2B-14EAB192DED5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0" cy="7048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0761157" name="Rectangle 2120761156">
                <a:extLst>
                  <a:ext uri="{FF2B5EF4-FFF2-40B4-BE49-F238E27FC236}">
                    <a16:creationId xmlns:a16="http://schemas.microsoft.com/office/drawing/2014/main" id="{221F1D28-96EC-4AA9-83A7-9C37548C8F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847850"/>
                <a:ext cx="5238750" cy="8953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31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₊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₁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 − 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𝜂</m:t>
                      </m:r>
                      <m:r>
                        <a:rPr lang="en-US" sz="31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31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ₜ)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120761157" name="Rectangle 2120761156">
                <a:extLst>
                  <a:ext uri="{FF2B5EF4-FFF2-40B4-BE49-F238E27FC236}">
                    <a16:creationId xmlns:a16="http://schemas.microsoft.com/office/drawing/2014/main" id="{221F1D28-96EC-4AA9-83A7-9C37548C8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847850"/>
                <a:ext cx="5238750" cy="895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2577569" name="Rectangle 782577568">
                <a:extLst>
                  <a:ext uri="{FF2B5EF4-FFF2-40B4-BE49-F238E27FC236}">
                    <a16:creationId xmlns:a16="http://schemas.microsoft.com/office/drawing/2014/main" id="{F5DD5B0C-C389-4554-85DD-C7D11286B4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9150" y="3276600"/>
                <a:ext cx="5619750" cy="87629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rmAutofit/>
              </a:bodyPr>
              <a:lstStyle/>
              <a:p>
                <a:pPr algn="l">
                  <a:lnSpc>
                    <a:spcPct val="113999"/>
                  </a:lnSpc>
                  <a:buNone/>
                  <a:defRPr sz="2350" b="1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350" b="1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The gradient supplies a direction. The step length is </a:t>
                </a:r>
                <a14:m>
                  <m:oMath xmlns:m="http://schemas.openxmlformats.org/officeDocument/2006/math"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𝜼</m:t>
                    </m:r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||</m:t>
                    </m:r>
                    <m:r>
                      <a:rPr lang="en-US" sz="2350" b="1" i="0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𝛁</m:t>
                    </m:r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𝒇</m:t>
                    </m:r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𝜽</m:t>
                    </m:r>
                    <m:r>
                      <a:rPr lang="en-US" sz="23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ₜ)||.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782577569" name="Rectangle 782577568">
                <a:extLst>
                  <a:ext uri="{FF2B5EF4-FFF2-40B4-BE49-F238E27FC236}">
                    <a16:creationId xmlns:a16="http://schemas.microsoft.com/office/drawing/2014/main" id="{F5DD5B0C-C389-4554-85DD-C7D11286B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3276600"/>
                <a:ext cx="5619750" cy="876299"/>
              </a:xfrm>
              <a:prstGeom prst="rect">
                <a:avLst/>
              </a:prstGeom>
              <a:blipFill>
                <a:blip r:embed="rId4"/>
                <a:stretch>
                  <a:fillRect l="-3254" t="-9790" r="-434" b="-979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4569523" name="Straight Connector 1424569522">
            <a:extLst>
              <a:ext uri="{FF2B5EF4-FFF2-40B4-BE49-F238E27FC236}">
                <a16:creationId xmlns:a16="http://schemas.microsoft.com/office/drawing/2014/main" id="{D8CFE58A-E67D-4FAE-9AB4-A46CFB636263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0" cy="114300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944136637" name="Rectangle 944136636">
            <a:extLst>
              <a:ext uri="{FF2B5EF4-FFF2-40B4-BE49-F238E27FC236}">
                <a16:creationId xmlns:a16="http://schemas.microsoft.com/office/drawing/2014/main" id="{B0AD7B15-6C54-4D5C-AACD-0DF548188D3E}"/>
              </a:ext>
            </a:extLst>
          </p:cNvPr>
          <p:cNvSpPr>
            <a:spLocks noGrp="1"/>
          </p:cNvSpPr>
          <p:nvPr/>
        </p:nvSpPr>
        <p:spPr>
          <a:xfrm>
            <a:off x="971550" y="4628395"/>
            <a:ext cx="4953000" cy="3627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ANIMATED TRAJECTORY</a:t>
            </a:r>
            <a:endParaRPr sz="2000"/>
          </a:p>
        </p:txBody>
      </p:sp>
      <p:sp>
        <p:nvSpPr>
          <p:cNvPr id="1021919659" name="Rectangle 1021919658">
            <a:extLst>
              <a:ext uri="{FF2B5EF4-FFF2-40B4-BE49-F238E27FC236}">
                <a16:creationId xmlns:a16="http://schemas.microsoft.com/office/drawing/2014/main" id="{FC0C140C-D857-4658-9697-722570EE2636}"/>
              </a:ext>
            </a:extLst>
          </p:cNvPr>
          <p:cNvSpPr>
            <a:spLocks noGrp="1"/>
          </p:cNvSpPr>
          <p:nvPr/>
        </p:nvSpPr>
        <p:spPr>
          <a:xfrm>
            <a:off x="971550" y="5026661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orange arrow points uphill. The blue step follows its negative.</a:t>
            </a:r>
            <a:endParaRPr/>
          </a:p>
        </p:txBody>
      </p:sp>
      <p:pic>
        <p:nvPicPr>
          <p:cNvPr id="2120761171" name="Picture 985239280"/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6667500" y="2074664"/>
            <a:ext cx="4476750" cy="25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0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447000" name="Rectangle 1117446999">
            <a:extLst>
              <a:ext uri="{FF2B5EF4-FFF2-40B4-BE49-F238E27FC236}">
                <a16:creationId xmlns:a16="http://schemas.microsoft.com/office/drawing/2014/main" id="{E2C53E86-C5B1-48D1-8CFC-93C1346AEE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FOUNDATIONS</a:t>
            </a:r>
            <a:endParaRPr/>
          </a:p>
        </p:txBody>
      </p:sp>
      <p:sp>
        <p:nvSpPr>
          <p:cNvPr id="1234862496" name="Rectangle 1234862495">
            <a:extLst>
              <a:ext uri="{FF2B5EF4-FFF2-40B4-BE49-F238E27FC236}">
                <a16:creationId xmlns:a16="http://schemas.microsoft.com/office/drawing/2014/main" id="{B8D46F45-79F0-49A4-84EF-4EDBB31FB8F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One numerical step</a:t>
            </a:r>
            <a:endParaRPr/>
          </a:p>
        </p:txBody>
      </p:sp>
      <p:sp>
        <p:nvSpPr>
          <p:cNvPr id="893119010" name="Straight Connector 893119009">
            <a:extLst>
              <a:ext uri="{FF2B5EF4-FFF2-40B4-BE49-F238E27FC236}">
                <a16:creationId xmlns:a16="http://schemas.microsoft.com/office/drawing/2014/main" id="{42C1FCE2-6F67-48B0-BC50-808A34AF35E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277522672" name="Straight Connector 277522671">
            <a:extLst>
              <a:ext uri="{FF2B5EF4-FFF2-40B4-BE49-F238E27FC236}">
                <a16:creationId xmlns:a16="http://schemas.microsoft.com/office/drawing/2014/main" id="{4EF1640A-B267-4368-8DAF-6F026DD31E4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597327529" name="Straight Connector 597327528">
            <a:extLst>
              <a:ext uri="{FF2B5EF4-FFF2-40B4-BE49-F238E27FC236}">
                <a16:creationId xmlns:a16="http://schemas.microsoft.com/office/drawing/2014/main" id="{B88B2CA4-FE63-4A94-BF81-8CD89BF723B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026950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112668030" name="Rectangle 1112668029">
            <a:extLst>
              <a:ext uri="{FF2B5EF4-FFF2-40B4-BE49-F238E27FC236}">
                <a16:creationId xmlns:a16="http://schemas.microsoft.com/office/drawing/2014/main" id="{4ADC20D4-A19B-47F0-8D87-AB78AF26E15D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08 / 29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9654229" name="Rectangle 1319654228">
                <a:extLst>
                  <a:ext uri="{FF2B5EF4-FFF2-40B4-BE49-F238E27FC236}">
                    <a16:creationId xmlns:a16="http://schemas.microsoft.com/office/drawing/2014/main" id="{66C822EA-E359-48E6-AE12-3D1625F1E2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9150" y="1581150"/>
                <a:ext cx="4895850" cy="7143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rmAutofit fontScale="87099"/>
              </a:bodyPr>
              <a:lstStyle/>
              <a:p>
                <a:pPr>
                  <a:lnSpc>
                    <a:spcPct val="113999"/>
                  </a:lnSpc>
                  <a:buNone/>
                  <a:defRPr sz="2550" b="1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𝑺𝒕𝒂𝒓𝒕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𝒂𝒕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𝜽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₀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 = (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, 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550" b="1" i="1">
                        <a:solidFill>
                          <a:srgbClr val="17243A"/>
                        </a:solidFill>
                        <a:latin typeface="Cambria Math"/>
                        <a:ea typeface="Cambria Math"/>
                        <a:cs typeface="Cambria Math"/>
                      </a:rPr>
                      <m:t>)</m:t>
                    </m:r>
                  </m:oMath>
                </a14:m>
                <a:r>
                  <a:t>, 𝑓(𝑥,𝑦) = 𝑥² + 𝑦²</a:t>
                </a:r>
              </a:p>
              <a:p>
                <a:pPr algn="l">
                  <a:lnSpc>
                    <a:spcPct val="113999"/>
                  </a:lnSpc>
                  <a:buNone/>
                  <a:defRPr sz="2550" b="1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endParaRPr/>
              </a:p>
            </p:txBody>
          </p:sp>
        </mc:Choice>
        <mc:Fallback>
          <p:sp>
            <p:nvSpPr>
              <p:cNvPr id="1319654229" name="Rectangle 1319654228">
                <a:extLst>
                  <a:ext uri="{FF2B5EF4-FFF2-40B4-BE49-F238E27FC236}">
                    <a16:creationId xmlns:a16="http://schemas.microsoft.com/office/drawing/2014/main" id="{66C822EA-E359-48E6-AE12-3D1625F1E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1581150"/>
                <a:ext cx="4895850" cy="714374"/>
              </a:xfrm>
              <a:prstGeom prst="rect">
                <a:avLst/>
              </a:prstGeom>
              <a:blipFill>
                <a:blip r:embed="rId3"/>
                <a:stretch>
                  <a:fillRect l="-1990" t="-101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8672465" name="Straight Connector 1958672464">
            <a:extLst>
              <a:ext uri="{FF2B5EF4-FFF2-40B4-BE49-F238E27FC236}">
                <a16:creationId xmlns:a16="http://schemas.microsoft.com/office/drawing/2014/main" id="{AFD91E46-CDA8-44B8-BAD6-4C4AF41CC623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0" cy="83193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4671983" name="Rectangle 664671982">
                <a:extLst>
                  <a:ext uri="{FF2B5EF4-FFF2-40B4-BE49-F238E27FC236}">
                    <a16:creationId xmlns:a16="http://schemas.microsoft.com/office/drawing/2014/main" id="{2B4F0440-F30E-4D71-93D7-190353C4F42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660982"/>
                <a:ext cx="45720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5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50" i="0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𝛻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(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a:rPr lang="en-US" sz="2550" i="1">
                          <a:solidFill>
                            <a:srgbClr val="3158C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64671983" name="Rectangle 664671982">
                <a:extLst>
                  <a:ext uri="{FF2B5EF4-FFF2-40B4-BE49-F238E27FC236}">
                    <a16:creationId xmlns:a16="http://schemas.microsoft.com/office/drawing/2014/main" id="{2B4F0440-F30E-4D71-93D7-190353C4F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660982"/>
                <a:ext cx="4572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2198224" name="Straight Connector 852198223">
            <a:extLst>
              <a:ext uri="{FF2B5EF4-FFF2-40B4-BE49-F238E27FC236}">
                <a16:creationId xmlns:a16="http://schemas.microsoft.com/office/drawing/2014/main" id="{83120826-5746-444D-B633-613E942A8AC8}"/>
              </a:ext>
            </a:extLst>
          </p:cNvPr>
          <p:cNvSpPr>
            <a:spLocks noGrp="1"/>
          </p:cNvSpPr>
          <p:nvPr/>
        </p:nvSpPr>
        <p:spPr>
          <a:xfrm>
            <a:off x="819150" y="3630353"/>
            <a:ext cx="0" cy="666750"/>
          </a:xfrm>
          <a:prstGeom prst="line">
            <a:avLst/>
          </a:prstGeom>
          <a:noFill/>
          <a:ln w="23813">
            <a:solidFill>
              <a:srgbClr val="A9610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860987" name="Rectangle 148860986">
                <a:extLst>
                  <a:ext uri="{FF2B5EF4-FFF2-40B4-BE49-F238E27FC236}">
                    <a16:creationId xmlns:a16="http://schemas.microsoft.com/office/drawing/2014/main" id="{DAF14717-1B6A-4777-9CB9-9C3390FE39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746061"/>
                <a:ext cx="2286000" cy="685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400">
                    <a:solidFill>
                      <a:srgbClr val="A9610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𝜂</m:t>
                      </m:r>
                      <m:r>
                        <a:rPr lang="en-US" sz="240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</m:t>
                      </m:r>
                      <m:r>
                        <a:rPr lang="en-US" sz="240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en-US" sz="240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2400" i="1">
                          <a:solidFill>
                            <a:srgbClr val="A9610B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8860987" name="Rectangle 148860986">
                <a:extLst>
                  <a:ext uri="{FF2B5EF4-FFF2-40B4-BE49-F238E27FC236}">
                    <a16:creationId xmlns:a16="http://schemas.microsoft.com/office/drawing/2014/main" id="{DAF14717-1B6A-4777-9CB9-9C3390FE3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746061"/>
                <a:ext cx="2286000" cy="685800"/>
              </a:xfrm>
              <a:prstGeom prst="rect">
                <a:avLst/>
              </a:prstGeom>
              <a:blipFill>
                <a:blip r:embed="rId5"/>
                <a:stretch>
                  <a:fillRect l="-32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6187328" name="Straight Connector 1626187327">
            <a:extLst>
              <a:ext uri="{FF2B5EF4-FFF2-40B4-BE49-F238E27FC236}">
                <a16:creationId xmlns:a16="http://schemas.microsoft.com/office/drawing/2014/main" id="{0356899A-A9DD-46C8-B48B-AD39638F3BFE}"/>
              </a:ext>
            </a:extLst>
          </p:cNvPr>
          <p:cNvSpPr>
            <a:spLocks noGrp="1"/>
          </p:cNvSpPr>
          <p:nvPr/>
        </p:nvSpPr>
        <p:spPr>
          <a:xfrm>
            <a:off x="819150" y="4648199"/>
            <a:ext cx="0" cy="1294845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230844" name="Rectangle 111230843">
                <a:extLst>
                  <a:ext uri="{FF2B5EF4-FFF2-40B4-BE49-F238E27FC236}">
                    <a16:creationId xmlns:a16="http://schemas.microsoft.com/office/drawing/2014/main" id="{8BBDE753-B01B-41A5-A85D-9F6E8DC013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4876245"/>
                <a:ext cx="5238750" cy="1066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40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𝜃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₁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= (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− 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buNone/>
                  <a:defRPr sz="240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  = (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r>
                        <a:rPr lang="en-US" sz="2400" i="1">
                          <a:solidFill>
                            <a:srgbClr val="13877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1230844" name="Rectangle 111230843">
                <a:extLst>
                  <a:ext uri="{FF2B5EF4-FFF2-40B4-BE49-F238E27FC236}">
                    <a16:creationId xmlns:a16="http://schemas.microsoft.com/office/drawing/2014/main" id="{8BBDE753-B01B-41A5-A85D-9F6E8DC013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876245"/>
                <a:ext cx="5238750" cy="1066800"/>
              </a:xfrm>
              <a:prstGeom prst="rect">
                <a:avLst/>
              </a:prstGeom>
              <a:blipFill>
                <a:blip r:embed="rId6"/>
                <a:stretch>
                  <a:fillRect l="-139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5693284" name="Straight Connector 565693283">
            <a:extLst>
              <a:ext uri="{FF2B5EF4-FFF2-40B4-BE49-F238E27FC236}">
                <a16:creationId xmlns:a16="http://schemas.microsoft.com/office/drawing/2014/main" id="{219EB6E6-3D94-4CE9-A517-AF1AB5ED7C90}"/>
              </a:ext>
            </a:extLst>
          </p:cNvPr>
          <p:cNvSpPr>
            <a:spLocks noGrp="1"/>
          </p:cNvSpPr>
          <p:nvPr/>
        </p:nvSpPr>
        <p:spPr>
          <a:xfrm>
            <a:off x="7239001" y="4605838"/>
            <a:ext cx="0" cy="1019175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114718032" name="Rectangle 1114718031">
            <a:extLst>
              <a:ext uri="{FF2B5EF4-FFF2-40B4-BE49-F238E27FC236}">
                <a16:creationId xmlns:a16="http://schemas.microsoft.com/office/drawing/2014/main" id="{257ECED5-BE1A-4F57-A946-9A4D09CA636A}"/>
              </a:ext>
            </a:extLst>
          </p:cNvPr>
          <p:cNvSpPr>
            <a:spLocks noGrp="1"/>
          </p:cNvSpPr>
          <p:nvPr/>
        </p:nvSpPr>
        <p:spPr>
          <a:xfrm>
            <a:off x="7391400" y="4691564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LOSS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6824465" name="Rectangle 1896824464">
                <a:extLst>
                  <a:ext uri="{FF2B5EF4-FFF2-40B4-BE49-F238E27FC236}">
                    <a16:creationId xmlns:a16="http://schemas.microsoft.com/office/drawing/2014/main" id="{00ABC1DF-0C41-440C-851C-6CB9B7E220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91400" y="4596314"/>
                <a:ext cx="2667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l">
                  <a:lnSpc>
                    <a:spcPct val="113999"/>
                  </a:lnSpc>
                  <a:buNone/>
                  <a:defRPr sz="180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5</m:t>
                      </m:r>
                    </m:oMath>
                  </m:oMathPara>
                </a14:m>
                <a:endParaRPr/>
              </a:p>
              <a:p>
                <a:pPr algn="l">
                  <a:lnSpc>
                    <a:spcPct val="113999"/>
                  </a:lnSpc>
                  <a:buNone/>
                  <a:defRPr sz="180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8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 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 = 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a:rPr lang="en-US" sz="1800" b="0" i="1">
                          <a:solidFill>
                            <a:srgbClr val="17243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96824465" name="Rectangle 1896824464">
                <a:extLst>
                  <a:ext uri="{FF2B5EF4-FFF2-40B4-BE49-F238E27FC236}">
                    <a16:creationId xmlns:a16="http://schemas.microsoft.com/office/drawing/2014/main" id="{00ABC1DF-0C41-440C-851C-6CB9B7E22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4596314"/>
                <a:ext cx="2667000" cy="1238250"/>
              </a:xfrm>
              <a:prstGeom prst="rect">
                <a:avLst/>
              </a:prstGeom>
              <a:blipFill>
                <a:blip r:embed="rId7"/>
                <a:stretch>
                  <a:fillRect l="-411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496682" name="Rectangle 126496681">
            <a:extLst>
              <a:ext uri="{FF2B5EF4-FFF2-40B4-BE49-F238E27FC236}">
                <a16:creationId xmlns:a16="http://schemas.microsoft.com/office/drawing/2014/main" id="{B1325252-5954-4833-98AE-3B4339773477}"/>
              </a:ext>
            </a:extLst>
          </p:cNvPr>
          <p:cNvSpPr>
            <a:spLocks noGrp="1"/>
          </p:cNvSpPr>
          <p:nvPr/>
        </p:nvSpPr>
        <p:spPr>
          <a:xfrm>
            <a:off x="6858000" y="584810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8195" lnSpcReduction="10000"/>
          </a:bodyPr>
          <a:lstStyle/>
          <a:p>
            <a:pPr algn="ctr">
              <a:lnSpc>
                <a:spcPct val="113999"/>
              </a:lnSpc>
              <a:buNone/>
              <a:defRPr sz="24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The update moved downhill.</a:t>
            </a:r>
            <a:endParaRPr/>
          </a:p>
        </p:txBody>
      </p:sp>
      <p:pic>
        <p:nvPicPr>
          <p:cNvPr id="1958672484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081" y="1428750"/>
            <a:ext cx="4686541" cy="31116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CF93F49-8DA9-4C8E-96D9-D139A52867CD}"/>
              </a:ext>
            </a:extLst>
          </p:cNvPr>
          <p:cNvSpPr>
            <a:spLocks noGrp="1"/>
          </p:cNvSpPr>
          <p:nvPr/>
        </p:nvSpPr>
        <p:spPr>
          <a:xfrm>
            <a:off x="971550" y="3648271"/>
            <a:ext cx="4953000" cy="3627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Learning rate:</a:t>
            </a:r>
            <a:endParaRPr sz="1600">
              <a:solidFill>
                <a:srgbClr val="A9610B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EC1234-E67B-47A7-A9E8-289C83E82DE4}"/>
              </a:ext>
            </a:extLst>
          </p:cNvPr>
          <p:cNvSpPr>
            <a:spLocks noGrp="1"/>
          </p:cNvSpPr>
          <p:nvPr/>
        </p:nvSpPr>
        <p:spPr>
          <a:xfrm>
            <a:off x="971550" y="4709634"/>
            <a:ext cx="4953000" cy="3627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Update parameter:</a:t>
            </a:r>
            <a:endParaRPr sz="1600">
              <a:solidFill>
                <a:srgbClr val="13877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10CDEB-FA8B-49D0-9207-CFCC9183AE01}"/>
              </a:ext>
            </a:extLst>
          </p:cNvPr>
          <p:cNvSpPr>
            <a:spLocks noGrp="1"/>
          </p:cNvSpPr>
          <p:nvPr/>
        </p:nvSpPr>
        <p:spPr>
          <a:xfrm>
            <a:off x="971550" y="2542036"/>
            <a:ext cx="4953000" cy="3627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Gradient:</a:t>
            </a:r>
            <a:endParaRPr sz="1600">
              <a:solidFill>
                <a:srgbClr val="3158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417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595925" name="Rectangle 858595924">
            <a:extLst>
              <a:ext uri="{FF2B5EF4-FFF2-40B4-BE49-F238E27FC236}">
                <a16:creationId xmlns:a16="http://schemas.microsoft.com/office/drawing/2014/main" id="{292064DC-6402-492E-9D31-4520801365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  <a:endParaRPr/>
          </a:p>
        </p:txBody>
      </p:sp>
      <p:sp>
        <p:nvSpPr>
          <p:cNvPr id="797842971" name="Rectangle 797842970">
            <a:extLst>
              <a:ext uri="{FF2B5EF4-FFF2-40B4-BE49-F238E27FC236}">
                <a16:creationId xmlns:a16="http://schemas.microsoft.com/office/drawing/2014/main" id="{4B40940A-8320-4192-8A6A-2DA50CF4D59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learning rate controls stability</a:t>
            </a:r>
            <a:endParaRPr/>
          </a:p>
        </p:txBody>
      </p:sp>
      <p:sp>
        <p:nvSpPr>
          <p:cNvPr id="266310423" name="Straight Connector 266310422">
            <a:extLst>
              <a:ext uri="{FF2B5EF4-FFF2-40B4-BE49-F238E27FC236}">
                <a16:creationId xmlns:a16="http://schemas.microsoft.com/office/drawing/2014/main" id="{DCC7DA94-AF09-4B2D-A97F-3676C30E1BB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A9610B"/>
            </a:solidFill>
            <a:prstDash val="solid"/>
          </a:ln>
        </p:spPr>
      </p:sp>
      <p:sp>
        <p:nvSpPr>
          <p:cNvPr id="1586811154" name="Straight Connector 1586811153">
            <a:extLst>
              <a:ext uri="{FF2B5EF4-FFF2-40B4-BE49-F238E27FC236}">
                <a16:creationId xmlns:a16="http://schemas.microsoft.com/office/drawing/2014/main" id="{E4BD53A1-EC63-4B04-BF78-DE0E291FA14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167086837" name="Straight Connector 1167086836">
            <a:extLst>
              <a:ext uri="{FF2B5EF4-FFF2-40B4-BE49-F238E27FC236}">
                <a16:creationId xmlns:a16="http://schemas.microsoft.com/office/drawing/2014/main" id="{A82EC11F-6BAB-4E81-A1BD-6DC8B54A7B5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405378" cy="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1293408262" name="Rectangle 1293408261">
            <a:extLst>
              <a:ext uri="{FF2B5EF4-FFF2-40B4-BE49-F238E27FC236}">
                <a16:creationId xmlns:a16="http://schemas.microsoft.com/office/drawing/2014/main" id="{270A564A-4CBE-482B-9D26-8196862BD9EC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09 / 29</a:t>
            </a:r>
            <a:endParaRPr/>
          </a:p>
        </p:txBody>
      </p:sp>
      <p:pic>
        <p:nvPicPr>
          <p:cNvPr id="2053677676" name="Graphic 248724449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91250" y="1390650"/>
            <a:ext cx="4953000" cy="4572000"/>
          </a:xfrm>
          <a:prstGeom prst="rect">
            <a:avLst/>
          </a:prstGeom>
        </p:spPr>
      </p:pic>
      <p:sp>
        <p:nvSpPr>
          <p:cNvPr id="2053677668" name="Rectangle 2053677667">
            <a:extLst>
              <a:ext uri="{FF2B5EF4-FFF2-40B4-BE49-F238E27FC236}">
                <a16:creationId xmlns:a16="http://schemas.microsoft.com/office/drawing/2014/main" id="{1E2342FC-1338-4765-8704-BF08120F829B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7416" lnSpcReduction="20000"/>
          </a:bodyPr>
          <a:lstStyle/>
          <a:p>
            <a:pPr algn="l">
              <a:lnSpc>
                <a:spcPct val="113999"/>
              </a:lnSpc>
              <a:buNone/>
              <a:defRPr sz="25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Same gradient information. Different step sizes.</a:t>
            </a:r>
            <a:endParaRPr/>
          </a:p>
        </p:txBody>
      </p:sp>
      <p:sp>
        <p:nvSpPr>
          <p:cNvPr id="1315868477" name="Rectangle 1315868476">
            <a:extLst>
              <a:ext uri="{FF2B5EF4-FFF2-40B4-BE49-F238E27FC236}">
                <a16:creationId xmlns:a16="http://schemas.microsoft.com/office/drawing/2014/main" id="{324BCA79-4889-4E16-B287-44F3DAD645F5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2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17243A"/>
                </a:solidFill>
                <a:latin typeface="Arial"/>
                <a:ea typeface="Arial"/>
                <a:cs typeface="Arial"/>
              </a:rPr>
              <a:t>Small η: stable but slow.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2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17243A"/>
                </a:solidFill>
                <a:latin typeface="Arial"/>
                <a:ea typeface="Arial"/>
                <a:cs typeface="Arial"/>
              </a:rPr>
              <a:t>Moderate η: steady progress.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2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17243A"/>
                </a:solidFill>
                <a:latin typeface="Arial"/>
                <a:ea typeface="Arial"/>
                <a:cs typeface="Arial"/>
              </a:rPr>
              <a:t>Large η: overshoot or divergence.</a:t>
            </a:r>
            <a:endParaRPr/>
          </a:p>
        </p:txBody>
      </p:sp>
      <p:sp>
        <p:nvSpPr>
          <p:cNvPr id="860326936" name="Straight Connector 860326935">
            <a:extLst>
              <a:ext uri="{FF2B5EF4-FFF2-40B4-BE49-F238E27FC236}">
                <a16:creationId xmlns:a16="http://schemas.microsoft.com/office/drawing/2014/main" id="{0E5A04CE-0EE6-4A87-940C-20D6027E64E0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0" cy="91440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1514421907" name="Rectangle 1514421906">
            <a:extLst>
              <a:ext uri="{FF2B5EF4-FFF2-40B4-BE49-F238E27FC236}">
                <a16:creationId xmlns:a16="http://schemas.microsoft.com/office/drawing/2014/main" id="{93DDCD0A-72A3-4E31-AFBF-EB852423A64E}"/>
              </a:ext>
            </a:extLst>
          </p:cNvPr>
          <p:cNvSpPr>
            <a:spLocks noGrp="1"/>
          </p:cNvSpPr>
          <p:nvPr/>
        </p:nvSpPr>
        <p:spPr>
          <a:xfrm>
            <a:off x="971550" y="4933950"/>
            <a:ext cx="4572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INTERPRETATION</a:t>
            </a:r>
            <a:endParaRPr/>
          </a:p>
        </p:txBody>
      </p:sp>
      <p:sp>
        <p:nvSpPr>
          <p:cNvPr id="1547965181" name="Rectangle 1547965180">
            <a:extLst>
              <a:ext uri="{FF2B5EF4-FFF2-40B4-BE49-F238E27FC236}">
                <a16:creationId xmlns:a16="http://schemas.microsoft.com/office/drawing/2014/main" id="{F9D71EA3-6172-40E1-A885-0A0D79D451C8}"/>
              </a:ext>
            </a:extLst>
          </p:cNvPr>
          <p:cNvSpPr>
            <a:spLocks noGrp="1"/>
          </p:cNvSpPr>
          <p:nvPr/>
        </p:nvSpPr>
        <p:spPr>
          <a:xfrm>
            <a:off x="971550" y="5181600"/>
            <a:ext cx="4572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7466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correct gradient can still produce a bad update when the step is too large.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8335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2530" name="Rectangle 686112529">
            <a:extLst>
              <a:ext uri="{FF2B5EF4-FFF2-40B4-BE49-F238E27FC236}">
                <a16:creationId xmlns:a16="http://schemas.microsoft.com/office/drawing/2014/main" id="{F26B2647-D481-4E12-AEC5-4342AC9D281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  <a:endParaRPr/>
          </a:p>
        </p:txBody>
      </p:sp>
      <p:sp>
        <p:nvSpPr>
          <p:cNvPr id="152079888" name="Rectangle 152079887">
            <a:extLst>
              <a:ext uri="{FF2B5EF4-FFF2-40B4-BE49-F238E27FC236}">
                <a16:creationId xmlns:a16="http://schemas.microsoft.com/office/drawing/2014/main" id="{A03CF480-1D37-4EDC-8630-19FB8D5DCF2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1125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400"/>
              <a:t>Higher curvature makes gradient descent more sensitive to the learning rate</a:t>
            </a:r>
          </a:p>
        </p:txBody>
      </p:sp>
      <p:sp>
        <p:nvSpPr>
          <p:cNvPr id="870456753" name="Straight Connector 870456752">
            <a:extLst>
              <a:ext uri="{FF2B5EF4-FFF2-40B4-BE49-F238E27FC236}">
                <a16:creationId xmlns:a16="http://schemas.microsoft.com/office/drawing/2014/main" id="{A8AEA7ED-6F1E-4771-8FC3-7B3DB3F5C71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A9610B"/>
            </a:solidFill>
            <a:prstDash val="solid"/>
          </a:ln>
        </p:spPr>
      </p:sp>
      <p:sp>
        <p:nvSpPr>
          <p:cNvPr id="1656491914" name="Straight Connector 1656491913">
            <a:extLst>
              <a:ext uri="{FF2B5EF4-FFF2-40B4-BE49-F238E27FC236}">
                <a16:creationId xmlns:a16="http://schemas.microsoft.com/office/drawing/2014/main" id="{E58D1EB4-0958-421D-A0C9-9B38EAA6864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405325440" name="Straight Connector 405325439">
            <a:extLst>
              <a:ext uri="{FF2B5EF4-FFF2-40B4-BE49-F238E27FC236}">
                <a16:creationId xmlns:a16="http://schemas.microsoft.com/office/drawing/2014/main" id="{B75F5F31-92F3-48CA-9580-C229F23AE3D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3783711" cy="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2049913555" name="Rectangle 2049913554">
            <a:extLst>
              <a:ext uri="{FF2B5EF4-FFF2-40B4-BE49-F238E27FC236}">
                <a16:creationId xmlns:a16="http://schemas.microsoft.com/office/drawing/2014/main" id="{07319B83-2E23-4BA7-AE4B-00B6C3DD37E3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10 / 29</a:t>
            </a:r>
            <a:endParaRPr/>
          </a:p>
        </p:txBody>
      </p:sp>
      <p:sp>
        <p:nvSpPr>
          <p:cNvPr id="2028580532" name="Straight Connector 2028580531">
            <a:extLst>
              <a:ext uri="{FF2B5EF4-FFF2-40B4-BE49-F238E27FC236}">
                <a16:creationId xmlns:a16="http://schemas.microsoft.com/office/drawing/2014/main" id="{08CFB003-BBBC-49FC-B2EE-88CBB3E2EBF1}"/>
              </a:ext>
            </a:extLst>
          </p:cNvPr>
          <p:cNvSpPr>
            <a:spLocks noGrp="1"/>
          </p:cNvSpPr>
          <p:nvPr/>
        </p:nvSpPr>
        <p:spPr>
          <a:xfrm>
            <a:off x="819150" y="1370597"/>
            <a:ext cx="0" cy="5334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5723887" name="Rectangle 715723886">
                <a:extLst>
                  <a:ext uri="{FF2B5EF4-FFF2-40B4-BE49-F238E27FC236}">
                    <a16:creationId xmlns:a16="http://schemas.microsoft.com/office/drawing/2014/main" id="{1C9ED1CC-075A-45B2-B621-B7976877C7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275347"/>
                <a:ext cx="43815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5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25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5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15723887" name="Rectangle 715723886">
                <a:extLst>
                  <a:ext uri="{FF2B5EF4-FFF2-40B4-BE49-F238E27FC236}">
                    <a16:creationId xmlns:a16="http://schemas.microsoft.com/office/drawing/2014/main" id="{1C9ED1CC-075A-45B2-B621-B7976877C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275347"/>
                <a:ext cx="43815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9990720" name="Straight Connector 999990719">
            <a:extLst>
              <a:ext uri="{FF2B5EF4-FFF2-40B4-BE49-F238E27FC236}">
                <a16:creationId xmlns:a16="http://schemas.microsoft.com/office/drawing/2014/main" id="{A208C3D0-3257-4B83-BEAD-975922BE1C89}"/>
              </a:ext>
            </a:extLst>
          </p:cNvPr>
          <p:cNvSpPr>
            <a:spLocks noGrp="1"/>
          </p:cNvSpPr>
          <p:nvPr/>
        </p:nvSpPr>
        <p:spPr>
          <a:xfrm>
            <a:off x="819150" y="2142122"/>
            <a:ext cx="0" cy="100965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7540530" name="Rectangle 1427540529">
                <a:extLst>
                  <a:ext uri="{FF2B5EF4-FFF2-40B4-BE49-F238E27FC236}">
                    <a16:creationId xmlns:a16="http://schemas.microsoft.com/office/drawing/2014/main" id="{0668E3FD-10A7-4C1E-BA9E-44E7975158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046872"/>
                <a:ext cx="46672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𝑠𝑡𝑎𝑟𝑡</m:t>
                      </m:r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: (</m:t>
                      </m:r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2</m:t>
                      </m:r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ar-AE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</m:oMath>
                  </m:oMathPara>
                </a14:m>
                <a:endParaRPr lang="ar-AE" dirty="0"/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ar-AE" sz="2250" i="0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∇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d>
                        <m:dPr>
                          <m:ctrlPr>
                            <a:rPr lang="ar-AE" sz="22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r>
                            <a:rPr lang="ar-AE" sz="22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4</m:t>
                          </m:r>
                          <m:r>
                            <a:rPr lang="ar-AE" sz="22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,</m:t>
                          </m:r>
                          <m:r>
                            <a:rPr lang="ar-AE" sz="22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50</m:t>
                          </m:r>
                        </m:e>
                      </m:d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2250" b="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  <m:r>
                        <a:rPr lang="ar-AE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03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427540530" name="Rectangle 1427540529">
                <a:extLst>
                  <a:ext uri="{FF2B5EF4-FFF2-40B4-BE49-F238E27FC236}">
                    <a16:creationId xmlns:a16="http://schemas.microsoft.com/office/drawing/2014/main" id="{0668E3FD-10A7-4C1E-BA9E-44E797515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046872"/>
                <a:ext cx="4667250" cy="1200150"/>
              </a:xfrm>
              <a:prstGeom prst="rect">
                <a:avLst/>
              </a:prstGeom>
              <a:blipFill>
                <a:blip r:embed="rId4"/>
                <a:stretch>
                  <a:fillRect l="-143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7148857" name="Straight Connector 387148856">
            <a:extLst>
              <a:ext uri="{FF2B5EF4-FFF2-40B4-BE49-F238E27FC236}">
                <a16:creationId xmlns:a16="http://schemas.microsoft.com/office/drawing/2014/main" id="{16B794A9-BD8B-409B-BFB4-D4178010D53C}"/>
              </a:ext>
            </a:extLst>
          </p:cNvPr>
          <p:cNvSpPr>
            <a:spLocks noGrp="1"/>
          </p:cNvSpPr>
          <p:nvPr/>
        </p:nvSpPr>
        <p:spPr>
          <a:xfrm>
            <a:off x="819150" y="3366334"/>
            <a:ext cx="0" cy="1009650"/>
          </a:xfrm>
          <a:prstGeom prst="line">
            <a:avLst/>
          </a:prstGeom>
          <a:noFill/>
          <a:ln w="23813">
            <a:solidFill>
              <a:srgbClr val="17243A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2766162" name="Rectangle 652766161">
                <a:extLst>
                  <a:ext uri="{FF2B5EF4-FFF2-40B4-BE49-F238E27FC236}">
                    <a16:creationId xmlns:a16="http://schemas.microsoft.com/office/drawing/2014/main" id="{B52A7462-F43B-4B45-A307-FF7A1C2FB36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271084"/>
                <a:ext cx="54292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(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2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− 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03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4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50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algn="l">
                  <a:buNone/>
                  <a:defRPr sz="225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  </m:t>
                      </m:r>
                      <m:r>
                        <a:rPr lang="en-US" sz="225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   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 (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88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−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5</m:t>
                      </m:r>
                      <m:r>
                        <a:rPr lang="en-US" sz="225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52766162" name="Rectangle 652766161">
                <a:extLst>
                  <a:ext uri="{FF2B5EF4-FFF2-40B4-BE49-F238E27FC236}">
                    <a16:creationId xmlns:a16="http://schemas.microsoft.com/office/drawing/2014/main" id="{B52A7462-F43B-4B45-A307-FF7A1C2FB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271084"/>
                <a:ext cx="5429250" cy="1200150"/>
              </a:xfrm>
              <a:prstGeom prst="rect">
                <a:avLst/>
              </a:prstGeom>
              <a:blipFill>
                <a:blip r:embed="rId5"/>
                <a:stretch>
                  <a:fillRect l="-12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0389157" name="Straight Connector 1850389156">
            <a:extLst>
              <a:ext uri="{FF2B5EF4-FFF2-40B4-BE49-F238E27FC236}">
                <a16:creationId xmlns:a16="http://schemas.microsoft.com/office/drawing/2014/main" id="{6C6CB9CB-5F69-4F7B-8063-CD9165CDF2A0}"/>
              </a:ext>
            </a:extLst>
          </p:cNvPr>
          <p:cNvSpPr>
            <a:spLocks noGrp="1"/>
          </p:cNvSpPr>
          <p:nvPr/>
        </p:nvSpPr>
        <p:spPr>
          <a:xfrm>
            <a:off x="819150" y="4471234"/>
            <a:ext cx="0" cy="1715751"/>
          </a:xfrm>
          <a:prstGeom prst="line">
            <a:avLst/>
          </a:prstGeom>
          <a:noFill/>
          <a:ln w="28575">
            <a:solidFill>
              <a:srgbClr val="B53D4A"/>
            </a:solidFill>
            <a:prstDash val="solid"/>
          </a:ln>
        </p:spPr>
      </p:sp>
      <p:sp>
        <p:nvSpPr>
          <p:cNvPr id="241035984" name="Rectangle 241035983">
            <a:extLst>
              <a:ext uri="{FF2B5EF4-FFF2-40B4-BE49-F238E27FC236}">
                <a16:creationId xmlns:a16="http://schemas.microsoft.com/office/drawing/2014/main" id="{179F5735-A356-4F1B-AE28-61B8EEE1FEC1}"/>
              </a:ext>
            </a:extLst>
          </p:cNvPr>
          <p:cNvSpPr>
            <a:spLocks noGrp="1"/>
          </p:cNvSpPr>
          <p:nvPr/>
        </p:nvSpPr>
        <p:spPr>
          <a:xfrm>
            <a:off x="7105650" y="23431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B53D4A"/>
                </a:solidFill>
                <a:latin typeface="Arial"/>
                <a:ea typeface="Arial"/>
                <a:cs typeface="Arial"/>
              </a:rPr>
              <a:t>STABILITY</a:t>
            </a:r>
            <a:endParaRPr/>
          </a:p>
        </p:txBody>
      </p:sp>
      <p:sp>
        <p:nvSpPr>
          <p:cNvPr id="1316505375" name="Rectangle 1316505374">
            <a:extLst>
              <a:ext uri="{FF2B5EF4-FFF2-40B4-BE49-F238E27FC236}">
                <a16:creationId xmlns:a16="http://schemas.microsoft.com/office/drawing/2014/main" id="{E27451DD-512D-4087-90B6-BC00E794C295}"/>
              </a:ext>
            </a:extLst>
          </p:cNvPr>
          <p:cNvSpPr>
            <a:spLocks noGrp="1"/>
          </p:cNvSpPr>
          <p:nvPr/>
        </p:nvSpPr>
        <p:spPr>
          <a:xfrm>
            <a:off x="971550" y="4415336"/>
            <a:ext cx="3810000" cy="17525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B53D4A"/>
                </a:solidFill>
                <a:latin typeface="Arial"/>
                <a:ea typeface="Arial"/>
                <a:cs typeface="Arial"/>
              </a:rPr>
              <a:t>|1 − 50η| &lt; 1  ⇒  0 &lt; η &lt; 0.04</a:t>
            </a:r>
            <a:endParaRPr dirty="0">
              <a:solidFill>
                <a:srgbClr val="B53D4A"/>
              </a:solidFill>
            </a:endParaRPr>
          </a:p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B53D4A"/>
                </a:solidFill>
                <a:latin typeface="Arial"/>
                <a:ea typeface="Arial"/>
                <a:cs typeface="Arial"/>
              </a:rPr>
              <a:t>The x-coordinate also imposes |1 − 2η| &lt; 1. The intersection is controlled by the sharper curvature.</a:t>
            </a:r>
            <a:endParaRPr dirty="0">
              <a:solidFill>
                <a:srgbClr val="B53D4A"/>
              </a:solidFill>
            </a:endParaRPr>
          </a:p>
        </p:txBody>
      </p:sp>
      <p:sp>
        <p:nvSpPr>
          <p:cNvPr id="572613565" name="Straight Connector 572613564">
            <a:extLst>
              <a:ext uri="{FF2B5EF4-FFF2-40B4-BE49-F238E27FC236}">
                <a16:creationId xmlns:a16="http://schemas.microsoft.com/office/drawing/2014/main" id="{F505C272-5EB2-427A-9234-8672048BD5FB}"/>
              </a:ext>
            </a:extLst>
          </p:cNvPr>
          <p:cNvSpPr>
            <a:spLocks noGrp="1"/>
          </p:cNvSpPr>
          <p:nvPr/>
        </p:nvSpPr>
        <p:spPr>
          <a:xfrm>
            <a:off x="6953250" y="4895850"/>
            <a:ext cx="0" cy="93345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1133462215" name="Rectangle 1133462214">
            <a:extLst>
              <a:ext uri="{FF2B5EF4-FFF2-40B4-BE49-F238E27FC236}">
                <a16:creationId xmlns:a16="http://schemas.microsoft.com/office/drawing/2014/main" id="{3E381EDA-6A5E-4586-990A-23E82BF58AC6}"/>
              </a:ext>
            </a:extLst>
          </p:cNvPr>
          <p:cNvSpPr>
            <a:spLocks noGrp="1"/>
          </p:cNvSpPr>
          <p:nvPr/>
        </p:nvSpPr>
        <p:spPr>
          <a:xfrm>
            <a:off x="7105650" y="4933950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ONE MINIMUM</a:t>
            </a:r>
            <a:endParaRPr/>
          </a:p>
        </p:txBody>
      </p:sp>
      <p:sp>
        <p:nvSpPr>
          <p:cNvPr id="134524328" name="Rectangle 134524327">
            <a:extLst>
              <a:ext uri="{FF2B5EF4-FFF2-40B4-BE49-F238E27FC236}">
                <a16:creationId xmlns:a16="http://schemas.microsoft.com/office/drawing/2014/main" id="{39FEE31C-C985-437C-8815-40F9D5B9CF9E}"/>
              </a:ext>
            </a:extLst>
          </p:cNvPr>
          <p:cNvSpPr>
            <a:spLocks noGrp="1"/>
          </p:cNvSpPr>
          <p:nvPr/>
        </p:nvSpPr>
        <p:spPr>
          <a:xfrm>
            <a:off x="7105650" y="5181600"/>
            <a:ext cx="381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5544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This surface is convex. Zigzags come from unequal curvature, not local-minimum traps.</a:t>
            </a:r>
            <a:endParaRPr/>
          </a:p>
        </p:txBody>
      </p:sp>
      <p:pic>
        <p:nvPicPr>
          <p:cNvPr id="2049913575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601712"/>
            <a:ext cx="4769095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3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04761" name="Rectangle 315204760">
            <a:extLst>
              <a:ext uri="{FF2B5EF4-FFF2-40B4-BE49-F238E27FC236}">
                <a16:creationId xmlns:a16="http://schemas.microsoft.com/office/drawing/2014/main" id="{082193A9-BC61-493F-B276-A691F341CD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  <a:endParaRPr/>
          </a:p>
        </p:txBody>
      </p:sp>
      <p:sp>
        <p:nvSpPr>
          <p:cNvPr id="587247808" name="Rectangle 587247807">
            <a:extLst>
              <a:ext uri="{FF2B5EF4-FFF2-40B4-BE49-F238E27FC236}">
                <a16:creationId xmlns:a16="http://schemas.microsoft.com/office/drawing/2014/main" id="{0AA95E7F-59BC-4781-98D2-8E0ABEB7729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Nonconvex landscapes have multiple basins</a:t>
            </a:r>
            <a:endParaRPr/>
          </a:p>
        </p:txBody>
      </p:sp>
      <p:sp>
        <p:nvSpPr>
          <p:cNvPr id="1599420359" name="Straight Connector 1599420358">
            <a:extLst>
              <a:ext uri="{FF2B5EF4-FFF2-40B4-BE49-F238E27FC236}">
                <a16:creationId xmlns:a16="http://schemas.microsoft.com/office/drawing/2014/main" id="{ABA775FF-4204-4722-A239-D30AE096D37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A9610B"/>
            </a:solidFill>
            <a:prstDash val="solid"/>
          </a:ln>
        </p:spPr>
      </p:sp>
      <p:sp>
        <p:nvSpPr>
          <p:cNvPr id="802195004" name="Straight Connector 802195003">
            <a:extLst>
              <a:ext uri="{FF2B5EF4-FFF2-40B4-BE49-F238E27FC236}">
                <a16:creationId xmlns:a16="http://schemas.microsoft.com/office/drawing/2014/main" id="{89BBB5C1-649B-4237-9538-E6A171354C3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222871388" name="Straight Connector 1222871387">
            <a:extLst>
              <a:ext uri="{FF2B5EF4-FFF2-40B4-BE49-F238E27FC236}">
                <a16:creationId xmlns:a16="http://schemas.microsoft.com/office/drawing/2014/main" id="{D03D81A2-D443-47DE-B32D-299BB2595BC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162139" cy="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1690559491" name="Rectangle 1690559490">
            <a:extLst>
              <a:ext uri="{FF2B5EF4-FFF2-40B4-BE49-F238E27FC236}">
                <a16:creationId xmlns:a16="http://schemas.microsoft.com/office/drawing/2014/main" id="{9EAD2C88-0B3D-4509-BC4D-D9B97DD54202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11 / 29</a:t>
            </a:r>
            <a:endParaRPr/>
          </a:p>
        </p:txBody>
      </p:sp>
      <p:pic>
        <p:nvPicPr>
          <p:cNvPr id="2071598254" name="Graphic 47579131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591300" y="1352550"/>
            <a:ext cx="4476750" cy="4762500"/>
          </a:xfrm>
          <a:prstGeom prst="rect">
            <a:avLst/>
          </a:prstGeom>
        </p:spPr>
      </p:pic>
      <p:sp>
        <p:nvSpPr>
          <p:cNvPr id="1904271807" name="Straight Connector 1904271806">
            <a:extLst>
              <a:ext uri="{FF2B5EF4-FFF2-40B4-BE49-F238E27FC236}">
                <a16:creationId xmlns:a16="http://schemas.microsoft.com/office/drawing/2014/main" id="{30BD7A26-F323-4EAF-8C32-7FDF2A30B48B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0" cy="5524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71598246" name="Rectangle 2071598245">
                <a:extLst>
                  <a:ext uri="{FF2B5EF4-FFF2-40B4-BE49-F238E27FC236}">
                    <a16:creationId xmlns:a16="http://schemas.microsoft.com/office/drawing/2014/main" id="{042A1F32-7B64-4D05-AEC7-125E7B51AD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676400"/>
                <a:ext cx="5238750" cy="742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(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2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071598246" name="Rectangle 2071598245">
                <a:extLst>
                  <a:ext uri="{FF2B5EF4-FFF2-40B4-BE49-F238E27FC236}">
                    <a16:creationId xmlns:a16="http://schemas.microsoft.com/office/drawing/2014/main" id="{042A1F32-7B64-4D05-AEC7-125E7B51A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676400"/>
                <a:ext cx="5238750" cy="742950"/>
              </a:xfrm>
              <a:prstGeom prst="rect">
                <a:avLst/>
              </a:prstGeom>
              <a:blipFill>
                <a:blip r:embed="rId5"/>
                <a:stretch>
                  <a:fillRect l="-186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6766807" name="Rectangle 1306766806">
            <a:extLst>
              <a:ext uri="{FF2B5EF4-FFF2-40B4-BE49-F238E27FC236}">
                <a16:creationId xmlns:a16="http://schemas.microsoft.com/office/drawing/2014/main" id="{955E2AFA-E191-4FBA-AEF3-7DBEC8AB424F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53340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 fontScale="89354"/>
          </a:bodyPr>
          <a:lstStyle/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Different starting points can enter different basins.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A local minimum can have a higher value than another minimum.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0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05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describes local change, not the full global landscape.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799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021756" name="Rectangle 447021755">
            <a:extLst>
              <a:ext uri="{FF2B5EF4-FFF2-40B4-BE49-F238E27FC236}">
                <a16:creationId xmlns:a16="http://schemas.microsoft.com/office/drawing/2014/main" id="{86356F5D-D596-4E0F-80E2-FCE1D3DCF17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STABILITY</a:t>
            </a:r>
            <a:endParaRPr/>
          </a:p>
        </p:txBody>
      </p:sp>
      <p:sp>
        <p:nvSpPr>
          <p:cNvPr id="1396858262" name="Rectangle 1396858261">
            <a:extLst>
              <a:ext uri="{FF2B5EF4-FFF2-40B4-BE49-F238E27FC236}">
                <a16:creationId xmlns:a16="http://schemas.microsoft.com/office/drawing/2014/main" id="{D816E290-9EF6-4962-A303-B3C135481034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zero gradient does not guarantee a minimum</a:t>
            </a:r>
            <a:endParaRPr/>
          </a:p>
        </p:txBody>
      </p:sp>
      <p:sp>
        <p:nvSpPr>
          <p:cNvPr id="1822663042" name="Straight Connector 1822663041">
            <a:extLst>
              <a:ext uri="{FF2B5EF4-FFF2-40B4-BE49-F238E27FC236}">
                <a16:creationId xmlns:a16="http://schemas.microsoft.com/office/drawing/2014/main" id="{CF7125D1-4F77-4DCB-B0C9-A276FCB3567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A9610B"/>
            </a:solidFill>
            <a:prstDash val="solid"/>
          </a:ln>
        </p:spPr>
      </p:sp>
      <p:sp>
        <p:nvSpPr>
          <p:cNvPr id="1744842792" name="Straight Connector 1744842791">
            <a:extLst>
              <a:ext uri="{FF2B5EF4-FFF2-40B4-BE49-F238E27FC236}">
                <a16:creationId xmlns:a16="http://schemas.microsoft.com/office/drawing/2014/main" id="{38EE329D-B811-4CCE-AEDA-351EC14AD59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2121770826" name="Straight Connector 2121770825">
            <a:extLst>
              <a:ext uri="{FF2B5EF4-FFF2-40B4-BE49-F238E27FC236}">
                <a16:creationId xmlns:a16="http://schemas.microsoft.com/office/drawing/2014/main" id="{AC4C6E03-7AAE-4D8A-9737-CC5731E19F9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540472" cy="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249835687" name="Rectangle 249835686">
            <a:extLst>
              <a:ext uri="{FF2B5EF4-FFF2-40B4-BE49-F238E27FC236}">
                <a16:creationId xmlns:a16="http://schemas.microsoft.com/office/drawing/2014/main" id="{EBE26FC0-DD09-46F4-BE46-08257615E660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12 / 29</a:t>
            </a:r>
            <a:endParaRPr/>
          </a:p>
        </p:txBody>
      </p:sp>
      <p:pic>
        <p:nvPicPr>
          <p:cNvPr id="2123749368" name="Graphic 1476119429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591300" y="1352550"/>
            <a:ext cx="4476750" cy="4762500"/>
          </a:xfrm>
          <a:prstGeom prst="rect">
            <a:avLst/>
          </a:prstGeom>
        </p:spPr>
      </p:pic>
      <p:sp>
        <p:nvSpPr>
          <p:cNvPr id="1973390246" name="Straight Connector 1973390245">
            <a:extLst>
              <a:ext uri="{FF2B5EF4-FFF2-40B4-BE49-F238E27FC236}">
                <a16:creationId xmlns:a16="http://schemas.microsoft.com/office/drawing/2014/main" id="{22F1430A-F44A-49D0-A44A-F38C9EBA6071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0" cy="533400"/>
          </a:xfrm>
          <a:prstGeom prst="line">
            <a:avLst/>
          </a:prstGeom>
          <a:noFill/>
          <a:ln w="23813">
            <a:solidFill>
              <a:srgbClr val="B53D4A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2665414" name="Rectangle 862665413">
                <a:extLst>
                  <a:ext uri="{FF2B5EF4-FFF2-40B4-BE49-F238E27FC236}">
                    <a16:creationId xmlns:a16="http://schemas.microsoft.com/office/drawing/2014/main" id="{FDA3A0DF-F292-423A-88C9-A22C611509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733550"/>
                <a:ext cx="390525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550">
                    <a:solidFill>
                      <a:srgbClr val="B53D4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550" i="1" dirty="0" smtClean="0">
                          <a:solidFill>
                            <a:srgbClr val="B53D4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862665414" name="Rectangle 862665413">
                <a:extLst>
                  <a:ext uri="{FF2B5EF4-FFF2-40B4-BE49-F238E27FC236}">
                    <a16:creationId xmlns:a16="http://schemas.microsoft.com/office/drawing/2014/main" id="{FDA3A0DF-F292-423A-88C9-A22C61150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733550"/>
                <a:ext cx="3905250" cy="723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8861839" name="Straight Connector 1628861838">
            <a:extLst>
              <a:ext uri="{FF2B5EF4-FFF2-40B4-BE49-F238E27FC236}">
                <a16:creationId xmlns:a16="http://schemas.microsoft.com/office/drawing/2014/main" id="{ED4AF220-E9CA-4EB0-9270-BDA9F84F0B89}"/>
              </a:ext>
            </a:extLst>
          </p:cNvPr>
          <p:cNvSpPr>
            <a:spLocks noGrp="1"/>
          </p:cNvSpPr>
          <p:nvPr/>
        </p:nvSpPr>
        <p:spPr>
          <a:xfrm>
            <a:off x="819150" y="2971800"/>
            <a:ext cx="0" cy="9525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3749360" name="Rectangle 2123749359">
                <a:extLst>
                  <a:ext uri="{FF2B5EF4-FFF2-40B4-BE49-F238E27FC236}">
                    <a16:creationId xmlns:a16="http://schemas.microsoft.com/office/drawing/2014/main" id="{E065E47D-8BBD-4CB0-BBD8-E9398AF3B0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876550"/>
                <a:ext cx="4953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)=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 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𝑖𝑛𝑐𝑟𝑒𝑎𝑠𝑒𝑠</m:t>
                      </m:r>
                    </m:oMath>
                  </m:oMathPara>
                </a14:m>
                <a:endParaRPr dirty="0"/>
              </a:p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0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)=−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 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𝑑𝑒𝑐𝑟𝑒𝑎𝑠𝑒𝑠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23749360" name="Rectangle 2123749359">
                <a:extLst>
                  <a:ext uri="{FF2B5EF4-FFF2-40B4-BE49-F238E27FC236}">
                    <a16:creationId xmlns:a16="http://schemas.microsoft.com/office/drawing/2014/main" id="{E065E47D-8BBD-4CB0-BBD8-E9398AF3B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876550"/>
                <a:ext cx="4953000" cy="1143000"/>
              </a:xfrm>
              <a:prstGeom prst="rect">
                <a:avLst/>
              </a:prstGeom>
              <a:blipFill>
                <a:blip r:embed="rId6"/>
                <a:stretch>
                  <a:fillRect l="-209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4019064" name="Straight Connector 1064019063">
            <a:extLst>
              <a:ext uri="{FF2B5EF4-FFF2-40B4-BE49-F238E27FC236}">
                <a16:creationId xmlns:a16="http://schemas.microsoft.com/office/drawing/2014/main" id="{520016F0-A768-4F52-81FC-5E38B5780B66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0" cy="1219200"/>
          </a:xfrm>
          <a:prstGeom prst="line">
            <a:avLst/>
          </a:prstGeom>
          <a:noFill/>
          <a:ln w="28575">
            <a:solidFill>
              <a:srgbClr val="B53D4A"/>
            </a:solidFill>
            <a:prstDash val="solid"/>
          </a:ln>
        </p:spPr>
      </p:sp>
      <p:sp>
        <p:nvSpPr>
          <p:cNvPr id="955420291" name="Rectangle 955420290">
            <a:extLst>
              <a:ext uri="{FF2B5EF4-FFF2-40B4-BE49-F238E27FC236}">
                <a16:creationId xmlns:a16="http://schemas.microsoft.com/office/drawing/2014/main" id="{A32BDBBC-7EC2-4E88-BC74-02D60ECCB60B}"/>
              </a:ext>
            </a:extLst>
          </p:cNvPr>
          <p:cNvSpPr>
            <a:spLocks noGrp="1"/>
          </p:cNvSpPr>
          <p:nvPr/>
        </p:nvSpPr>
        <p:spPr>
          <a:xfrm>
            <a:off x="971550" y="457200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B53D4A"/>
                </a:solidFill>
                <a:latin typeface="Arial"/>
                <a:ea typeface="Arial"/>
                <a:cs typeface="Arial"/>
              </a:rPr>
              <a:t>AT (0, 0)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15938162" name="Rectangle 2115938161">
                <a:extLst>
                  <a:ext uri="{FF2B5EF4-FFF2-40B4-BE49-F238E27FC236}">
                    <a16:creationId xmlns:a16="http://schemas.microsoft.com/office/drawing/2014/main" id="{6EB49B99-BEA4-4A19-AE23-4E5E41D203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4819650"/>
                <a:ext cx="4953000" cy="914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rmAutofit/>
              </a:bodyPr>
              <a:lstStyle/>
              <a:p>
                <a:pPr algn="l">
                  <a:lnSpc>
                    <a:spcPct val="113999"/>
                  </a:lnSpc>
                  <a:buNone/>
                  <a:defRPr sz="180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∇</m:t>
                    </m:r>
                    <m:r>
                      <a:rPr lang="en-US" sz="1800" b="0" i="1" dirty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𝑓</m:t>
                    </m:r>
                    <m:r>
                      <a:rPr lang="en-US" sz="1800" b="0" i="1" dirty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1800" b="0" i="1" dirty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0</m:t>
                    </m:r>
                  </m:oMath>
                </a14:m>
                <a:r>
                  <a:rPr sz="1800" b="0" i="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, but nearby points have both larger and smaller values. That is a saddle point.</a:t>
                </a:r>
                <a:endParaRPr dirty="0"/>
              </a:p>
            </p:txBody>
          </p:sp>
        </mc:Choice>
        <mc:Fallback>
          <p:sp>
            <p:nvSpPr>
              <p:cNvPr id="2115938162" name="Rectangle 2115938161">
                <a:extLst>
                  <a:ext uri="{FF2B5EF4-FFF2-40B4-BE49-F238E27FC236}">
                    <a16:creationId xmlns:a16="http://schemas.microsoft.com/office/drawing/2014/main" id="{6EB49B99-BEA4-4A19-AE23-4E5E41D20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819650"/>
                <a:ext cx="4953000" cy="914400"/>
              </a:xfrm>
              <a:prstGeom prst="rect">
                <a:avLst/>
              </a:prstGeom>
              <a:blipFill>
                <a:blip r:embed="rId7"/>
                <a:stretch>
                  <a:fillRect l="-2829" r="-184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82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ridge-section">
            <a:extLst>
              <a:ext uri="{FF2B5EF4-FFF2-40B4-BE49-F238E27FC236}">
                <a16:creationId xmlns:a16="http://schemas.microsoft.com/office/drawing/2014/main" id="{3B8ED896-5131-4E7F-A8A5-25DA317D396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</a:p>
        </p:txBody>
      </p:sp>
      <p:sp>
        <p:nvSpPr>
          <p:cNvPr id="2" name="bridge-title">
            <a:extLst>
              <a:ext uri="{FF2B5EF4-FFF2-40B4-BE49-F238E27FC236}">
                <a16:creationId xmlns:a16="http://schemas.microsoft.com/office/drawing/2014/main" id="{A7359BAA-73AC-42AD-A43A-487504FEB27D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0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What an optimizer changes in the update</a:t>
            </a:r>
          </a:p>
        </p:txBody>
      </p:sp>
      <p:sp>
        <p:nvSpPr>
          <p:cNvPr id="3" name="bridge-title-rule">
            <a:extLst>
              <a:ext uri="{FF2B5EF4-FFF2-40B4-BE49-F238E27FC236}">
                <a16:creationId xmlns:a16="http://schemas.microsoft.com/office/drawing/2014/main" id="{349F3CCC-25DC-4293-B9CB-13DF9B0B5DD5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</a:ln>
        </p:spPr>
      </p:sp>
      <p:sp>
        <p:nvSpPr>
          <p:cNvPr id="4" name="bridge-equation">
            <a:extLst>
              <a:ext uri="{FF2B5EF4-FFF2-40B4-BE49-F238E27FC236}">
                <a16:creationId xmlns:a16="http://schemas.microsoft.com/office/drawing/2014/main" id="{918B64E5-6C3F-4A43-96CA-116BC2779161}"/>
              </a:ext>
            </a:extLst>
          </p:cNvPr>
          <p:cNvSpPr>
            <a:spLocks noGrp="1"/>
          </p:cNvSpPr>
          <p:nvPr/>
        </p:nvSpPr>
        <p:spPr>
          <a:xfrm>
            <a:off x="741681" y="1709437"/>
            <a:ext cx="466852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6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625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𝜃ₜ₊₁ = 𝜃ₜ − 𝜂 </a:t>
            </a:r>
            <a:r>
              <a:rPr lang="en-US" sz="2625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𝑢ₜ</a:t>
            </a:r>
            <a:endParaRPr sz="2625" dirty="0">
              <a:solidFill>
                <a:srgbClr val="1724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ridge-equation-caption">
            <a:extLst>
              <a:ext uri="{FF2B5EF4-FFF2-40B4-BE49-F238E27FC236}">
                <a16:creationId xmlns:a16="http://schemas.microsoft.com/office/drawing/2014/main" id="{0775955F-DF04-4DD7-AFB5-581A417E86FD}"/>
              </a:ext>
            </a:extLst>
          </p:cNvPr>
          <p:cNvSpPr>
            <a:spLocks noGrp="1"/>
          </p:cNvSpPr>
          <p:nvPr/>
        </p:nvSpPr>
        <p:spPr>
          <a:xfrm>
            <a:off x="741681" y="2371724"/>
            <a:ext cx="466852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optimizer turns a gradient signal into the direction actually applied to the parameters.</a:t>
            </a:r>
          </a:p>
        </p:txBody>
      </p:sp>
      <p:sp>
        <p:nvSpPr>
          <p:cNvPr id="6" name="bridge-measure-bar">
            <a:extLst>
              <a:ext uri="{FF2B5EF4-FFF2-40B4-BE49-F238E27FC236}">
                <a16:creationId xmlns:a16="http://schemas.microsoft.com/office/drawing/2014/main" id="{EBDD66F4-1C5D-4907-BBB8-F11A8A60BF48}"/>
              </a:ext>
            </a:extLst>
          </p:cNvPr>
          <p:cNvSpPr>
            <a:spLocks noGrp="1"/>
          </p:cNvSpPr>
          <p:nvPr/>
        </p:nvSpPr>
        <p:spPr>
          <a:xfrm>
            <a:off x="914400" y="3950969"/>
            <a:ext cx="0" cy="1466850"/>
          </a:xfrm>
          <a:prstGeom prst="line">
            <a:avLst/>
          </a:prstGeom>
          <a:noFill/>
          <a:ln w="28575">
            <a:solidFill>
              <a:srgbClr val="3158C9"/>
            </a:solidFill>
          </a:ln>
        </p:spPr>
      </p:sp>
      <p:sp>
        <p:nvSpPr>
          <p:cNvPr id="7" name="bridge-measure-label">
            <a:extLst>
              <a:ext uri="{FF2B5EF4-FFF2-40B4-BE49-F238E27FC236}">
                <a16:creationId xmlns:a16="http://schemas.microsoft.com/office/drawing/2014/main" id="{B5DD5481-6DBA-4680-A52D-16B2C30B94FC}"/>
              </a:ext>
            </a:extLst>
          </p:cNvPr>
          <p:cNvSpPr>
            <a:spLocks noGrp="1"/>
          </p:cNvSpPr>
          <p:nvPr/>
        </p:nvSpPr>
        <p:spPr>
          <a:xfrm>
            <a:off x="1066800" y="3970019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8" name="bridge-measure-body">
            <a:extLst>
              <a:ext uri="{FF2B5EF4-FFF2-40B4-BE49-F238E27FC236}">
                <a16:creationId xmlns:a16="http://schemas.microsoft.com/office/drawing/2014/main" id="{790A8BD1-7527-44D4-90C4-2A83CFB010FD}"/>
              </a:ext>
            </a:extLst>
          </p:cNvPr>
          <p:cNvSpPr>
            <a:spLocks noGrp="1"/>
          </p:cNvSpPr>
          <p:nvPr/>
        </p:nvSpPr>
        <p:spPr>
          <a:xfrm>
            <a:off x="1066799" y="4255769"/>
            <a:ext cx="2857497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How do we compute the gradient signal gₜ?</a:t>
            </a:r>
            <a:br>
              <a:rPr lang="en-US" dirty="0"/>
            </a:br>
            <a:r>
              <a:rPr lang="en-US" dirty="0"/>
              <a:t>Full-batch, stochastic, or mini-batch</a:t>
            </a:r>
            <a:endParaRPr sz="1575" dirty="0">
              <a:solidFill>
                <a:srgbClr val="1724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bridge-remember-bar">
            <a:extLst>
              <a:ext uri="{FF2B5EF4-FFF2-40B4-BE49-F238E27FC236}">
                <a16:creationId xmlns:a16="http://schemas.microsoft.com/office/drawing/2014/main" id="{A4B5FECB-097A-49FA-8497-CF7056FE7B0F}"/>
              </a:ext>
            </a:extLst>
          </p:cNvPr>
          <p:cNvSpPr>
            <a:spLocks noGrp="1"/>
          </p:cNvSpPr>
          <p:nvPr/>
        </p:nvSpPr>
        <p:spPr>
          <a:xfrm>
            <a:off x="5257802" y="3950969"/>
            <a:ext cx="0" cy="1466850"/>
          </a:xfrm>
          <a:prstGeom prst="line">
            <a:avLst/>
          </a:prstGeom>
          <a:noFill/>
          <a:ln w="28575">
            <a:solidFill>
              <a:srgbClr val="13877F"/>
            </a:solidFill>
          </a:ln>
        </p:spPr>
      </p:sp>
      <p:sp>
        <p:nvSpPr>
          <p:cNvPr id="10" name="bridge-remember-label">
            <a:extLst>
              <a:ext uri="{FF2B5EF4-FFF2-40B4-BE49-F238E27FC236}">
                <a16:creationId xmlns:a16="http://schemas.microsoft.com/office/drawing/2014/main" id="{5660F598-13F6-4AD4-9089-0AF901660690}"/>
              </a:ext>
            </a:extLst>
          </p:cNvPr>
          <p:cNvSpPr>
            <a:spLocks noGrp="1"/>
          </p:cNvSpPr>
          <p:nvPr/>
        </p:nvSpPr>
        <p:spPr>
          <a:xfrm>
            <a:off x="5410202" y="3970019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11" name="bridge-remember-body">
            <a:extLst>
              <a:ext uri="{FF2B5EF4-FFF2-40B4-BE49-F238E27FC236}">
                <a16:creationId xmlns:a16="http://schemas.microsoft.com/office/drawing/2014/main" id="{54E82677-EC70-414B-A515-AA8FBB01285D}"/>
              </a:ext>
            </a:extLst>
          </p:cNvPr>
          <p:cNvSpPr>
            <a:spLocks noGrp="1"/>
          </p:cNvSpPr>
          <p:nvPr/>
        </p:nvSpPr>
        <p:spPr>
          <a:xfrm>
            <a:off x="5410201" y="4255769"/>
            <a:ext cx="2801619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Should the update remember previous directions? </a:t>
            </a:r>
          </a:p>
          <a:p>
            <a:pPr algn="l">
              <a:defRPr sz="15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Momentum and </a:t>
            </a:r>
            <a:r>
              <a:rPr sz="1575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Nesterov</a:t>
            </a:r>
            <a:endParaRPr sz="1575" dirty="0">
              <a:solidFill>
                <a:srgbClr val="1724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bridge-rescale-bar">
            <a:extLst>
              <a:ext uri="{FF2B5EF4-FFF2-40B4-BE49-F238E27FC236}">
                <a16:creationId xmlns:a16="http://schemas.microsoft.com/office/drawing/2014/main" id="{59AA464A-71EC-497A-B538-F0DE4B96F6A0}"/>
              </a:ext>
            </a:extLst>
          </p:cNvPr>
          <p:cNvSpPr>
            <a:spLocks noGrp="1"/>
          </p:cNvSpPr>
          <p:nvPr/>
        </p:nvSpPr>
        <p:spPr>
          <a:xfrm>
            <a:off x="8496302" y="3950969"/>
            <a:ext cx="0" cy="1466850"/>
          </a:xfrm>
          <a:prstGeom prst="line">
            <a:avLst/>
          </a:prstGeom>
          <a:noFill/>
          <a:ln w="28575">
            <a:solidFill>
              <a:srgbClr val="A9610B"/>
            </a:solidFill>
          </a:ln>
        </p:spPr>
      </p:sp>
      <p:sp>
        <p:nvSpPr>
          <p:cNvPr id="13" name="bridge-rescale-label">
            <a:extLst>
              <a:ext uri="{FF2B5EF4-FFF2-40B4-BE49-F238E27FC236}">
                <a16:creationId xmlns:a16="http://schemas.microsoft.com/office/drawing/2014/main" id="{DC35FBC8-5F36-44B2-8D36-65781070E8BF}"/>
              </a:ext>
            </a:extLst>
          </p:cNvPr>
          <p:cNvSpPr>
            <a:spLocks noGrp="1"/>
          </p:cNvSpPr>
          <p:nvPr/>
        </p:nvSpPr>
        <p:spPr>
          <a:xfrm>
            <a:off x="8648702" y="3970019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RESCALE</a:t>
            </a:r>
          </a:p>
        </p:txBody>
      </p:sp>
      <p:sp>
        <p:nvSpPr>
          <p:cNvPr id="14" name="bridge-rescale-body">
            <a:extLst>
              <a:ext uri="{FF2B5EF4-FFF2-40B4-BE49-F238E27FC236}">
                <a16:creationId xmlns:a16="http://schemas.microsoft.com/office/drawing/2014/main" id="{4D36FFC8-EC16-4A2A-856C-514CFE075BA1}"/>
              </a:ext>
            </a:extLst>
          </p:cNvPr>
          <p:cNvSpPr>
            <a:spLocks noGrp="1"/>
          </p:cNvSpPr>
          <p:nvPr/>
        </p:nvSpPr>
        <p:spPr>
          <a:xfrm>
            <a:off x="8648702" y="4255769"/>
            <a:ext cx="2762250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Should each parameter have its own effective step size? </a:t>
            </a:r>
            <a:r>
              <a:rPr sz="1575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AdaGrad</a:t>
            </a:r>
            <a:r>
              <a:rPr sz="1575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RMSProp</a:t>
            </a:r>
            <a:r>
              <a:rPr sz="1575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, Adam</a:t>
            </a:r>
          </a:p>
        </p:txBody>
      </p:sp>
      <p:sp>
        <p:nvSpPr>
          <p:cNvPr id="15" name="bridge-takeaway">
            <a:extLst>
              <a:ext uri="{FF2B5EF4-FFF2-40B4-BE49-F238E27FC236}">
                <a16:creationId xmlns:a16="http://schemas.microsoft.com/office/drawing/2014/main" id="{EDF25668-0FFD-40B3-AF40-754089121C23}"/>
              </a:ext>
            </a:extLst>
          </p:cNvPr>
          <p:cNvSpPr>
            <a:spLocks noGrp="1"/>
          </p:cNvSpPr>
          <p:nvPr/>
        </p:nvSpPr>
        <p:spPr>
          <a:xfrm>
            <a:off x="914400" y="5713094"/>
            <a:ext cx="100965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Stability still matters: 𝜂 sets the step </a:t>
            </a:r>
            <a:r>
              <a:rPr lang="en-US" sz="1800" b="1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size. </a:t>
            </a:r>
            <a:r>
              <a:rPr sz="1800" b="1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optimizer</a:t>
            </a:r>
            <a:r>
              <a:rPr lang="en-US" dirty="0"/>
              <a:t> determines </a:t>
            </a:r>
            <a:r>
              <a:rPr lang="en-US" sz="1800" b="1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𝑢ₜ.</a:t>
            </a:r>
            <a:endParaRPr sz="1800" b="1" dirty="0">
              <a:solidFill>
                <a:srgbClr val="1724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bridge-footer-rule">
            <a:extLst>
              <a:ext uri="{FF2B5EF4-FFF2-40B4-BE49-F238E27FC236}">
                <a16:creationId xmlns:a16="http://schemas.microsoft.com/office/drawing/2014/main" id="{C77E996E-6EFB-4F77-B43B-59A7F2F9540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</a:ln>
        </p:spPr>
      </p:sp>
      <p:sp>
        <p:nvSpPr>
          <p:cNvPr id="17" name="bridge-footer-progress">
            <a:extLst>
              <a:ext uri="{FF2B5EF4-FFF2-40B4-BE49-F238E27FC236}">
                <a16:creationId xmlns:a16="http://schemas.microsoft.com/office/drawing/2014/main" id="{F44411E2-14E4-476D-A3AA-6F3958E799A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4918805" cy="0"/>
          </a:xfrm>
          <a:prstGeom prst="line">
            <a:avLst/>
          </a:prstGeom>
          <a:noFill/>
          <a:ln w="28575">
            <a:solidFill>
              <a:srgbClr val="13877F"/>
            </a:solidFill>
          </a:ln>
        </p:spPr>
      </p:sp>
      <p:sp>
        <p:nvSpPr>
          <p:cNvPr id="18" name="bridge-footer-number">
            <a:extLst>
              <a:ext uri="{FF2B5EF4-FFF2-40B4-BE49-F238E27FC236}">
                <a16:creationId xmlns:a16="http://schemas.microsoft.com/office/drawing/2014/main" id="{F3703590-F960-437B-ACFA-8DB38BF468BF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877F"/>
                </a:solidFill>
                <a:latin typeface="Arial"/>
                <a:ea typeface="Arial"/>
                <a:cs typeface="Arial"/>
              </a:rPr>
              <a:t>13 / 29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0D86AE2-8909-4F7F-B693-CE43365CFFF7}"/>
              </a:ext>
            </a:extLst>
          </p:cNvPr>
          <p:cNvSpPr/>
          <p:nvPr/>
        </p:nvSpPr>
        <p:spPr>
          <a:xfrm>
            <a:off x="4414678" y="4568187"/>
            <a:ext cx="352741" cy="173676"/>
          </a:xfrm>
          <a:prstGeom prst="rightArrow">
            <a:avLst/>
          </a:prstGeom>
          <a:noFill/>
          <a:ln>
            <a:solidFill>
              <a:srgbClr val="3158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7A0E6F4-5ADA-4451-B1B0-195AA74F1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1" y="1585557"/>
            <a:ext cx="5855001" cy="14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83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997789" name="Rectangle 462997788">
            <a:extLst>
              <a:ext uri="{FF2B5EF4-FFF2-40B4-BE49-F238E27FC236}">
                <a16:creationId xmlns:a16="http://schemas.microsoft.com/office/drawing/2014/main" id="{D8045441-B325-4BA3-98C4-6745A192264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2107037904" name="Rectangle 2107037903">
            <a:extLst>
              <a:ext uri="{FF2B5EF4-FFF2-40B4-BE49-F238E27FC236}">
                <a16:creationId xmlns:a16="http://schemas.microsoft.com/office/drawing/2014/main" id="{CFE1531C-4357-4E27-A63D-4686BE00B98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How much data do we use to compute the gradient?</a:t>
            </a:r>
            <a:endParaRPr dirty="0"/>
          </a:p>
        </p:txBody>
      </p:sp>
      <p:sp>
        <p:nvSpPr>
          <p:cNvPr id="553610358" name="Straight Connector 553610357">
            <a:extLst>
              <a:ext uri="{FF2B5EF4-FFF2-40B4-BE49-F238E27FC236}">
                <a16:creationId xmlns:a16="http://schemas.microsoft.com/office/drawing/2014/main" id="{26648CC0-A0B8-4CCE-8477-CFA3AEF6F80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1327833644" name="Straight Connector 1327833643">
            <a:extLst>
              <a:ext uri="{FF2B5EF4-FFF2-40B4-BE49-F238E27FC236}">
                <a16:creationId xmlns:a16="http://schemas.microsoft.com/office/drawing/2014/main" id="{C7F2274E-4C9E-4034-A6E8-AC61128C06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336402477" name="Straight Connector 336402476">
            <a:extLst>
              <a:ext uri="{FF2B5EF4-FFF2-40B4-BE49-F238E27FC236}">
                <a16:creationId xmlns:a16="http://schemas.microsoft.com/office/drawing/2014/main" id="{43886430-3626-47D0-BB26-99A83C89B83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297234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987297054" name="Rectangle 1987297053">
            <a:extLst>
              <a:ext uri="{FF2B5EF4-FFF2-40B4-BE49-F238E27FC236}">
                <a16:creationId xmlns:a16="http://schemas.microsoft.com/office/drawing/2014/main" id="{46DDC797-AE22-44E3-AC32-593A3E3838AB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14 / 29</a:t>
            </a:r>
            <a:endParaRPr/>
          </a:p>
        </p:txBody>
      </p:sp>
      <p:sp>
        <p:nvSpPr>
          <p:cNvPr id="148119790" name="Straight Connector 148119789">
            <a:extLst>
              <a:ext uri="{FF2B5EF4-FFF2-40B4-BE49-F238E27FC236}">
                <a16:creationId xmlns:a16="http://schemas.microsoft.com/office/drawing/2014/main" id="{5D3887EA-BC02-4C30-BFA8-48CAA65A1875}"/>
              </a:ext>
            </a:extLst>
          </p:cNvPr>
          <p:cNvSpPr>
            <a:spLocks noGrp="1"/>
          </p:cNvSpPr>
          <p:nvPr/>
        </p:nvSpPr>
        <p:spPr>
          <a:xfrm>
            <a:off x="536995" y="1808480"/>
            <a:ext cx="0" cy="37846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1485847118" name="Straight Connector 1485847117">
            <a:extLst>
              <a:ext uri="{FF2B5EF4-FFF2-40B4-BE49-F238E27FC236}">
                <a16:creationId xmlns:a16="http://schemas.microsoft.com/office/drawing/2014/main" id="{54BCB70F-62F1-48CF-B0C0-D17EA0001C89}"/>
              </a:ext>
            </a:extLst>
          </p:cNvPr>
          <p:cNvSpPr>
            <a:spLocks noGrp="1"/>
          </p:cNvSpPr>
          <p:nvPr/>
        </p:nvSpPr>
        <p:spPr>
          <a:xfrm>
            <a:off x="8458105" y="1808480"/>
            <a:ext cx="0" cy="378460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p:sp>
        <p:nvSpPr>
          <p:cNvPr id="1457157065" name="Rectangle 1457157064">
            <a:extLst>
              <a:ext uri="{FF2B5EF4-FFF2-40B4-BE49-F238E27FC236}">
                <a16:creationId xmlns:a16="http://schemas.microsoft.com/office/drawing/2014/main" id="{B8C33F3C-2AEA-4F8E-8BDE-981AA1E1464E}"/>
              </a:ext>
            </a:extLst>
          </p:cNvPr>
          <p:cNvSpPr>
            <a:spLocks noGrp="1"/>
          </p:cNvSpPr>
          <p:nvPr/>
        </p:nvSpPr>
        <p:spPr>
          <a:xfrm>
            <a:off x="1009650" y="6965950"/>
            <a:ext cx="5810250" cy="120015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 algn="l">
              <a:buNone/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vₜ = state / accumulated direction</a:t>
            </a:r>
            <a:endParaRPr dirty="0"/>
          </a:p>
          <a:p>
            <a:pPr algn="l">
              <a:buNone/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250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,   ε = small stabilizer</a:t>
            </a:r>
            <a:endParaRPr dirty="0"/>
          </a:p>
        </p:txBody>
      </p:sp>
      <p:sp>
        <p:nvSpPr>
          <p:cNvPr id="1385028367" name="Straight Connector 1385028366">
            <a:extLst>
              <a:ext uri="{FF2B5EF4-FFF2-40B4-BE49-F238E27FC236}">
                <a16:creationId xmlns:a16="http://schemas.microsoft.com/office/drawing/2014/main" id="{20508E84-0B03-4557-A426-A07217D0F995}"/>
              </a:ext>
            </a:extLst>
          </p:cNvPr>
          <p:cNvSpPr>
            <a:spLocks noGrp="1"/>
          </p:cNvSpPr>
          <p:nvPr/>
        </p:nvSpPr>
        <p:spPr>
          <a:xfrm>
            <a:off x="4133006" y="1808480"/>
            <a:ext cx="0" cy="385064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73943863" name="Rectangle 73943862">
            <a:extLst>
              <a:ext uri="{FF2B5EF4-FFF2-40B4-BE49-F238E27FC236}">
                <a16:creationId xmlns:a16="http://schemas.microsoft.com/office/drawing/2014/main" id="{1684F736-98BB-47C8-A8DA-55C2CFBCDCF3}"/>
              </a:ext>
            </a:extLst>
          </p:cNvPr>
          <p:cNvSpPr>
            <a:spLocks noGrp="1"/>
          </p:cNvSpPr>
          <p:nvPr/>
        </p:nvSpPr>
        <p:spPr>
          <a:xfrm>
            <a:off x="7620000" y="808990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9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95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g², √v, and g/(√</a:t>
            </a:r>
            <a:r>
              <a:rPr sz="1950" b="1" i="0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v+ε</a:t>
            </a:r>
            <a:r>
              <a:rPr sz="195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) operate coordinate by coordinate.</a:t>
            </a: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21E36A-A677-4244-9315-DD4D55E3A0F7}"/>
              </a:ext>
            </a:extLst>
          </p:cNvPr>
          <p:cNvSpPr>
            <a:spLocks noGrp="1"/>
          </p:cNvSpPr>
          <p:nvPr/>
        </p:nvSpPr>
        <p:spPr>
          <a:xfrm>
            <a:off x="1200149" y="4219576"/>
            <a:ext cx="5524500" cy="120015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 algn="l">
              <a:buNone/>
              <a:defRPr sz="225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44EC54-2B49-4E30-A346-E2C1BEAF9BC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-375436" y="2299495"/>
                <a:ext cx="552450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𝑔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𝑓𝑢𝑙𝑙</m:t>
                          </m:r>
                        </m:sup>
                      </m:sSubSup>
                      <m:r>
                        <a:rPr lang="ar-AE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∇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𝐿</m:t>
                          </m:r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44EC54-2B49-4E30-A346-E2C1BEAF9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5436" y="2299495"/>
                <a:ext cx="5524500" cy="1200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8F258D32-CE6D-400C-AC37-4BB9617EB913}"/>
              </a:ext>
            </a:extLst>
          </p:cNvPr>
          <p:cNvSpPr>
            <a:spLocks noGrp="1"/>
          </p:cNvSpPr>
          <p:nvPr/>
        </p:nvSpPr>
        <p:spPr>
          <a:xfrm>
            <a:off x="960124" y="1382402"/>
            <a:ext cx="10031727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1800" b="0" i="0" dirty="0">
                <a:latin typeface="Arial"/>
                <a:ea typeface="Arial"/>
                <a:cs typeface="Arial"/>
              </a:rPr>
              <a:t>In a </a:t>
            </a:r>
            <a:r>
              <a:rPr lang="en-US" sz="1700" b="0" i="0" dirty="0">
                <a:latin typeface="Arial"/>
                <a:ea typeface="Arial"/>
                <a:cs typeface="Arial"/>
              </a:rPr>
              <a:t>dataset</a:t>
            </a:r>
            <a:r>
              <a:rPr lang="en-US" sz="1800" b="0" i="0" dirty="0">
                <a:latin typeface="Arial"/>
                <a:ea typeface="Arial"/>
                <a:cs typeface="Arial"/>
              </a:rPr>
              <a:t> of n samples:</a:t>
            </a:r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57685-D13E-4C3D-AF38-4DD684CEEEF3}"/>
              </a:ext>
            </a:extLst>
          </p:cNvPr>
          <p:cNvSpPr>
            <a:spLocks noGrp="1"/>
          </p:cNvSpPr>
          <p:nvPr/>
        </p:nvSpPr>
        <p:spPr>
          <a:xfrm>
            <a:off x="670532" y="1852388"/>
            <a:ext cx="3375700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1700" b="1" dirty="0">
                <a:solidFill>
                  <a:srgbClr val="3158C9"/>
                </a:solidFill>
                <a:latin typeface="Arial"/>
                <a:cs typeface="Arial"/>
              </a:rPr>
              <a:t>Full–batch (all n samples)</a:t>
            </a:r>
            <a:endParaRPr sz="1700" b="1" dirty="0">
              <a:solidFill>
                <a:srgbClr val="3158C9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5B286E-E527-43E4-A63B-9B6FABB685ED}"/>
              </a:ext>
            </a:extLst>
          </p:cNvPr>
          <p:cNvSpPr>
            <a:spLocks noGrp="1"/>
          </p:cNvSpPr>
          <p:nvPr/>
        </p:nvSpPr>
        <p:spPr>
          <a:xfrm>
            <a:off x="8488646" y="1776409"/>
            <a:ext cx="3220428" cy="8778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3877F"/>
                </a:solidFill>
                <a:latin typeface="Arial"/>
                <a:cs typeface="Arial"/>
              </a:rPr>
              <a:t>Stochastic (SGD) (1 sample per update</a:t>
            </a:r>
            <a:endParaRPr b="1" dirty="0">
              <a:solidFill>
                <a:srgbClr val="13877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313C64D-6E2F-40E7-AB6F-5ADFF9A3DE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73921" y="1657045"/>
                <a:ext cx="4116188" cy="77660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rmAutofit fontScale="95943"/>
              </a:bodyPr>
              <a:lstStyle/>
              <a:p>
                <a:pPr algn="ctr">
                  <a:lnSpc>
                    <a:spcPct val="113999"/>
                  </a:lnSpc>
                  <a:buNone/>
                  <a:defRPr sz="180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b="1" dirty="0">
                    <a:solidFill>
                      <a:srgbClr val="A9610B"/>
                    </a:solidFill>
                    <a:latin typeface="Arial"/>
                    <a:cs typeface="Arial"/>
                  </a:rPr>
                  <a:t>Mini-batch (batch size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A9610B"/>
                        </a:solidFill>
                        <a:latin typeface="Cambria Math" panose="02040503050406030204" pitchFamily="18" charset="0"/>
                        <a:cs typeface="Arial"/>
                      </a:rPr>
                      <m:t>𝑩</m:t>
                    </m:r>
                  </m:oMath>
                </a14:m>
                <a:r>
                  <a:rPr lang="en-US" b="1" dirty="0">
                    <a:solidFill>
                      <a:srgbClr val="A9610B"/>
                    </a:solidFill>
                    <a:latin typeface="Arial"/>
                    <a:cs typeface="Arial"/>
                  </a:rPr>
                  <a:t>, e.g. 32 or 64)</a:t>
                </a:r>
                <a:endParaRPr lang="en-US" b="1" dirty="0">
                  <a:solidFill>
                    <a:srgbClr val="A9610B"/>
                  </a:solidFill>
                </a:endParaRPr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313C64D-6E2F-40E7-AB6F-5ADFF9A3D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921" y="1657045"/>
                <a:ext cx="4116188" cy="776601"/>
              </a:xfrm>
              <a:prstGeom prst="rect">
                <a:avLst/>
              </a:prstGeom>
              <a:blipFill>
                <a:blip r:embed="rId4"/>
                <a:stretch>
                  <a:fillRect l="-741" r="-74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3ABD7DD-6A5D-4FAF-AA56-AFB9480330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336610" y="2290448"/>
                <a:ext cx="552450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𝑔</m:t>
                          </m:r>
                          <m:r>
                            <a:rPr lang="en-U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̂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𝑆𝐺𝐷</m:t>
                          </m:r>
                        </m:sup>
                      </m:sSubSup>
                      <m:r>
                        <a:rPr lang="ar-AE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∇</m:t>
                      </m:r>
                      <m:sSub>
                        <m:sSubPr>
                          <m:ctrlP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𝐿</m:t>
                          </m:r>
                        </m:e>
                        <m:sub>
                          <m:sSub>
                            <m:sSubPr>
                              <m:ctrlPr>
                                <a:rPr lang="ar-AE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𝜃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𝑡</m:t>
                          </m:r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ar-AE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3ABD7DD-6A5D-4FAF-AA56-AFB948033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610" y="2290448"/>
                <a:ext cx="5524500" cy="1200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A08AAD9-35F3-477B-BE90-A3CA466F7B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69765" y="2343546"/>
                <a:ext cx="552450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Sup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𝑔</m:t>
                          </m:r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̂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sub>
                        <m:sup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𝑚𝑖𝑛𝑖</m:t>
                          </m:r>
                        </m:sup>
                      </m:sSubSup>
                      <m:r>
                        <a:rPr lang="ar-AE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ar-AE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ar-AE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∇</m:t>
                          </m:r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)</m:t>
                          </m:r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≈</m:t>
                          </m:r>
                          <m:r>
                            <m:rPr>
                              <m:sty m:val="p"/>
                            </m:rP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∇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𝐿</m:t>
                          </m:r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ar-AE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A08AAD9-35F3-477B-BE90-A3CA466F7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765" y="2343546"/>
                <a:ext cx="5524500" cy="1200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02D98513-1F1F-4AC8-8B2B-B86C28EFAF0E}"/>
              </a:ext>
            </a:extLst>
          </p:cNvPr>
          <p:cNvSpPr>
            <a:spLocks noGrp="1"/>
          </p:cNvSpPr>
          <p:nvPr/>
        </p:nvSpPr>
        <p:spPr>
          <a:xfrm>
            <a:off x="1231285" y="3459962"/>
            <a:ext cx="2457450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latin typeface="Arial"/>
                <a:cs typeface="Arial"/>
              </a:rPr>
              <a:t>Stable, expensive</a:t>
            </a: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FE12A7-B720-4AED-8995-E5BCC8B7F32F}"/>
              </a:ext>
            </a:extLst>
          </p:cNvPr>
          <p:cNvSpPr>
            <a:spLocks noGrp="1"/>
          </p:cNvSpPr>
          <p:nvPr/>
        </p:nvSpPr>
        <p:spPr>
          <a:xfrm>
            <a:off x="8870135" y="3454326"/>
            <a:ext cx="2457450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latin typeface="Arial"/>
                <a:cs typeface="Arial"/>
              </a:rPr>
              <a:t>Noisy, cheap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8EF4B9-ADD7-475B-8A35-4CFDDB82DF99}"/>
              </a:ext>
            </a:extLst>
          </p:cNvPr>
          <p:cNvSpPr>
            <a:spLocks noGrp="1"/>
          </p:cNvSpPr>
          <p:nvPr/>
        </p:nvSpPr>
        <p:spPr>
          <a:xfrm>
            <a:off x="4316476" y="3478921"/>
            <a:ext cx="4031078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latin typeface="Arial"/>
                <a:cs typeface="Arial"/>
              </a:rPr>
              <a:t>Moderately noisy, practical compromise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8DEEA-67AF-45A2-AE83-D653715A75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02" y="4013201"/>
            <a:ext cx="2965954" cy="17115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753549-F1E8-40F6-9383-13CF23D1EE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2715" y="4031295"/>
            <a:ext cx="2896903" cy="17032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E3F8F2-D5E7-4D8F-8A27-C27572A7B1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081" y="4071830"/>
            <a:ext cx="2896903" cy="165886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87263D6-0CF9-47B5-B61C-26E32EA320A5}"/>
              </a:ext>
            </a:extLst>
          </p:cNvPr>
          <p:cNvSpPr>
            <a:spLocks noGrp="1"/>
          </p:cNvSpPr>
          <p:nvPr/>
        </p:nvSpPr>
        <p:spPr>
          <a:xfrm>
            <a:off x="-2657482" y="5897105"/>
            <a:ext cx="10031727" cy="3854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943"/>
          </a:bodyPr>
          <a:lstStyle/>
          <a:p>
            <a:pPr algn="ctr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ĝ: estimates of the full-batch gradient</a:t>
            </a:r>
          </a:p>
        </p:txBody>
      </p:sp>
    </p:spTree>
    <p:extLst>
      <p:ext uri="{BB962C8B-B14F-4D97-AF65-F5344CB8AC3E}">
        <p14:creationId xmlns:p14="http://schemas.microsoft.com/office/powerpoint/2010/main" val="753383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504069" name="Rectangle 1128504068">
            <a:extLst>
              <a:ext uri="{FF2B5EF4-FFF2-40B4-BE49-F238E27FC236}">
                <a16:creationId xmlns:a16="http://schemas.microsoft.com/office/drawing/2014/main" id="{FC8DCB54-CDF3-45E8-8B97-8A39D883D9E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1504683518" name="Rectangle 1504683517">
            <a:extLst>
              <a:ext uri="{FF2B5EF4-FFF2-40B4-BE49-F238E27FC236}">
                <a16:creationId xmlns:a16="http://schemas.microsoft.com/office/drawing/2014/main" id="{6EED09A4-6CCD-4C69-B218-248897F0C631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Momentum accumulates consistent directions</a:t>
            </a:r>
            <a:endParaRPr/>
          </a:p>
        </p:txBody>
      </p:sp>
      <p:sp>
        <p:nvSpPr>
          <p:cNvPr id="140902381" name="Straight Connector 140902380">
            <a:extLst>
              <a:ext uri="{FF2B5EF4-FFF2-40B4-BE49-F238E27FC236}">
                <a16:creationId xmlns:a16="http://schemas.microsoft.com/office/drawing/2014/main" id="{DC5935AE-AAA8-4BCF-B2B6-971AC21DA29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848384627" name="Straight Connector 848384626">
            <a:extLst>
              <a:ext uri="{FF2B5EF4-FFF2-40B4-BE49-F238E27FC236}">
                <a16:creationId xmlns:a16="http://schemas.microsoft.com/office/drawing/2014/main" id="{8857F3B8-BF1D-4EAC-B57A-5D596E6DCF8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462755833" name="Straight Connector 462755832">
            <a:extLst>
              <a:ext uri="{FF2B5EF4-FFF2-40B4-BE49-F238E27FC236}">
                <a16:creationId xmlns:a16="http://schemas.microsoft.com/office/drawing/2014/main" id="{12A200E6-FC6C-4239-BA55-0B6929DFEA3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675567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777568489" name="Rectangle 1777568488">
            <a:extLst>
              <a:ext uri="{FF2B5EF4-FFF2-40B4-BE49-F238E27FC236}">
                <a16:creationId xmlns:a16="http://schemas.microsoft.com/office/drawing/2014/main" id="{DE82ABA3-EFAC-4643-86AC-181C1FB3C716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15 / 29</a:t>
            </a:r>
            <a:endParaRPr/>
          </a:p>
        </p:txBody>
      </p:sp>
      <p:sp>
        <p:nvSpPr>
          <p:cNvPr id="946998440" name="Straight Connector 946998439">
            <a:extLst>
              <a:ext uri="{FF2B5EF4-FFF2-40B4-BE49-F238E27FC236}">
                <a16:creationId xmlns:a16="http://schemas.microsoft.com/office/drawing/2014/main" id="{C1C3E9BE-3344-4DFB-8C73-45B6F69BF8E4}"/>
              </a:ext>
            </a:extLst>
          </p:cNvPr>
          <p:cNvSpPr>
            <a:spLocks noGrp="1"/>
          </p:cNvSpPr>
          <p:nvPr/>
        </p:nvSpPr>
        <p:spPr>
          <a:xfrm>
            <a:off x="819150" y="4814013"/>
            <a:ext cx="0" cy="10096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2007424" name="Rectangle 1832007423">
                <a:extLst>
                  <a:ext uri="{FF2B5EF4-FFF2-40B4-BE49-F238E27FC236}">
                    <a16:creationId xmlns:a16="http://schemas.microsoft.com/office/drawing/2014/main" id="{ACE5D947-AC24-49EB-9132-B7856CCDF9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4648279"/>
                <a:ext cx="46672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 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𝛽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₋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𝑔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</m:oMath>
                  </m:oMathPara>
                </a14:m>
                <a:endParaRPr dirty="0"/>
              </a:p>
              <a:p>
                <a:pPr algn="l">
                  <a:buNone/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 </m:t>
                      </m:r>
                      <m:r>
                        <a:rPr lang="en-US" sz="2350" i="1" dirty="0" err="1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r>
                        <a:rPr lang="en-US" sz="2350" i="1" dirty="0" err="1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32007424" name="Rectangle 1832007423">
                <a:extLst>
                  <a:ext uri="{FF2B5EF4-FFF2-40B4-BE49-F238E27FC236}">
                    <a16:creationId xmlns:a16="http://schemas.microsoft.com/office/drawing/2014/main" id="{ACE5D947-AC24-49EB-9132-B7856CCDF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648279"/>
                <a:ext cx="4667250" cy="1200150"/>
              </a:xfrm>
              <a:prstGeom prst="rect">
                <a:avLst/>
              </a:prstGeom>
              <a:blipFill>
                <a:blip r:embed="rId3"/>
                <a:stretch>
                  <a:fillRect l="-196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32007438" name="Picture 1876778334"/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6661152" y="1292188"/>
            <a:ext cx="4572000" cy="25717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83AA1CE-24D2-4B9B-A60F-4C114C42AC40}"/>
              </a:ext>
            </a:extLst>
          </p:cNvPr>
          <p:cNvSpPr>
            <a:spLocks noGrp="1"/>
          </p:cNvSpPr>
          <p:nvPr/>
        </p:nvSpPr>
        <p:spPr>
          <a:xfrm>
            <a:off x="609600" y="5632485"/>
            <a:ext cx="6715760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vₜ = state / accumulated direction; </a:t>
            </a:r>
            <a:r>
              <a:rPr lang="el-GR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β = 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memory coefficient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F9A3A-4294-4D30-9728-2C6B8C11951A}"/>
              </a:ext>
            </a:extLst>
          </p:cNvPr>
          <p:cNvSpPr>
            <a:spLocks noGrp="1"/>
          </p:cNvSpPr>
          <p:nvPr/>
        </p:nvSpPr>
        <p:spPr>
          <a:xfrm>
            <a:off x="609600" y="1351873"/>
            <a:ext cx="492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Vanilla GD can struggle with: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B3E96A49-BAF2-4362-A41B-603C81804082}"/>
              </a:ext>
            </a:extLst>
          </p:cNvPr>
          <p:cNvSpPr>
            <a:spLocks noGrp="1"/>
          </p:cNvSpPr>
          <p:nvPr/>
        </p:nvSpPr>
        <p:spPr>
          <a:xfrm>
            <a:off x="819150" y="1830324"/>
            <a:ext cx="0" cy="1971676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B58274-EC61-40EB-AD97-161DDEA621F4}"/>
              </a:ext>
            </a:extLst>
          </p:cNvPr>
          <p:cNvSpPr txBox="1"/>
          <p:nvPr/>
        </p:nvSpPr>
        <p:spPr>
          <a:xfrm>
            <a:off x="895350" y="1830324"/>
            <a:ext cx="4723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Noisy gradients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different mini-batches give slightly different directions.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Narrow valleys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GD oscillates across steep directions and moves slowly along shallow 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memory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every step ignores previous motion.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B179D9-316F-4410-AD52-C1961E4822AF}"/>
              </a:ext>
            </a:extLst>
          </p:cNvPr>
          <p:cNvSpPr>
            <a:spLocks noGrp="1"/>
          </p:cNvSpPr>
          <p:nvPr/>
        </p:nvSpPr>
        <p:spPr>
          <a:xfrm>
            <a:off x="609600" y="3953138"/>
            <a:ext cx="3774439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 lnSpcReduction="10000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Momentum adds memory through a velocity term: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FB796B-53BE-4669-BF0C-481154CD6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761" y="3988561"/>
            <a:ext cx="6382078" cy="17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805" name="Rectangle 104960804">
            <a:extLst>
              <a:ext uri="{FF2B5EF4-FFF2-40B4-BE49-F238E27FC236}">
                <a16:creationId xmlns:a16="http://schemas.microsoft.com/office/drawing/2014/main" id="{D44D33CD-77DD-497D-9F69-8C9848DBED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1339542176" name="Rectangle 1339542175">
            <a:extLst>
              <a:ext uri="{FF2B5EF4-FFF2-40B4-BE49-F238E27FC236}">
                <a16:creationId xmlns:a16="http://schemas.microsoft.com/office/drawing/2014/main" id="{27706385-2431-44E4-BB8A-D9076049A818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Nesterov evaluates a look-ahead gradient</a:t>
            </a:r>
            <a:endParaRPr/>
          </a:p>
        </p:txBody>
      </p:sp>
      <p:sp>
        <p:nvSpPr>
          <p:cNvPr id="210124599" name="Straight Connector 210124598">
            <a:extLst>
              <a:ext uri="{FF2B5EF4-FFF2-40B4-BE49-F238E27FC236}">
                <a16:creationId xmlns:a16="http://schemas.microsoft.com/office/drawing/2014/main" id="{DC9F3EA4-0C51-4030-BA14-572BFBD3D1F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2087934739" name="Straight Connector 2087934738">
            <a:extLst>
              <a:ext uri="{FF2B5EF4-FFF2-40B4-BE49-F238E27FC236}">
                <a16:creationId xmlns:a16="http://schemas.microsoft.com/office/drawing/2014/main" id="{8D1C78F0-71D5-4B4F-B012-B8A7E0858AC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474369585" name="Straight Connector 474369584">
            <a:extLst>
              <a:ext uri="{FF2B5EF4-FFF2-40B4-BE49-F238E27FC236}">
                <a16:creationId xmlns:a16="http://schemas.microsoft.com/office/drawing/2014/main" id="{D0C4FEAA-88CB-469B-AC5A-B726307F1D9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6053995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969644236" name="Rectangle 1969644235">
            <a:extLst>
              <a:ext uri="{FF2B5EF4-FFF2-40B4-BE49-F238E27FC236}">
                <a16:creationId xmlns:a16="http://schemas.microsoft.com/office/drawing/2014/main" id="{27705C70-7089-4A1A-ABB2-5B4FFAFE9EB8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16 / 29</a:t>
            </a:r>
            <a:endParaRPr/>
          </a:p>
        </p:txBody>
      </p:sp>
      <p:sp>
        <p:nvSpPr>
          <p:cNvPr id="1201777846" name="Straight Connector 1201777845">
            <a:extLst>
              <a:ext uri="{FF2B5EF4-FFF2-40B4-BE49-F238E27FC236}">
                <a16:creationId xmlns:a16="http://schemas.microsoft.com/office/drawing/2014/main" id="{C6FDA24C-8311-4C79-9EE5-F52690A5EAD9}"/>
              </a:ext>
            </a:extLst>
          </p:cNvPr>
          <p:cNvSpPr>
            <a:spLocks noGrp="1"/>
          </p:cNvSpPr>
          <p:nvPr/>
        </p:nvSpPr>
        <p:spPr>
          <a:xfrm>
            <a:off x="819150" y="3798200"/>
            <a:ext cx="0" cy="156083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5695530" name="Rectangle 725695529">
                <a:extLst>
                  <a:ext uri="{FF2B5EF4-FFF2-40B4-BE49-F238E27FC236}">
                    <a16:creationId xmlns:a16="http://schemas.microsoft.com/office/drawing/2014/main" id="{70B05E12-6FBA-4726-9837-D8E60BCFE6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891363"/>
                <a:ext cx="5715000" cy="1619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𝑙𝑜𝑜𝑘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−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𝑎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h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𝑒𝑎𝑑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: 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̃ₜ = 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 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𝜂𝛽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₋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</m:oMath>
                  </m:oMathPara>
                </a14:m>
                <a:endParaRPr dirty="0"/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𝑔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 </m:t>
                      </m:r>
                      <m:r>
                        <m:rPr>
                          <m:sty m:val="p"/>
                        </m:rPr>
                        <a:rPr lang="en-US" sz="2250" i="0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∇</m:t>
                      </m:r>
                      <m:r>
                        <a:rPr lang="en-US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̃ₜ)</m:t>
                      </m:r>
                    </m:oMath>
                  </m:oMathPara>
                </a14:m>
                <a:endParaRPr dirty="0"/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 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𝛽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₋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𝑔</m:t>
                      </m:r>
                      <m:r>
                        <a:rPr lang="en-US" sz="22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</m:oMath>
                  </m:oMathPara>
                </a14:m>
                <a:endParaRPr lang="en-US" dirty="0"/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/>
                  <a:t>𝜃ₜ₊₁ = 𝜃ₜ − 𝜂𝑣ₜ</a:t>
                </a:r>
              </a:p>
              <a:p>
                <a:pPr algn="l">
                  <a:buNone/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:endParaRPr dirty="0"/>
              </a:p>
            </p:txBody>
          </p:sp>
        </mc:Choice>
        <mc:Fallback>
          <p:sp>
            <p:nvSpPr>
              <p:cNvPr id="725695530" name="Rectangle 725695529">
                <a:extLst>
                  <a:ext uri="{FF2B5EF4-FFF2-40B4-BE49-F238E27FC236}">
                    <a16:creationId xmlns:a16="http://schemas.microsoft.com/office/drawing/2014/main" id="{70B05E12-6FBA-4726-9837-D8E60BCF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891363"/>
                <a:ext cx="5715000" cy="1619250"/>
              </a:xfrm>
              <a:prstGeom prst="rect">
                <a:avLst/>
              </a:prstGeom>
              <a:blipFill>
                <a:blip r:embed="rId3"/>
                <a:stretch>
                  <a:fillRect l="-245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2058019" name="Rectangle 862058018">
            <a:extLst>
              <a:ext uri="{FF2B5EF4-FFF2-40B4-BE49-F238E27FC236}">
                <a16:creationId xmlns:a16="http://schemas.microsoft.com/office/drawing/2014/main" id="{D7904CA4-F341-461D-8399-DD1278BA962C}"/>
              </a:ext>
            </a:extLst>
          </p:cNvPr>
          <p:cNvSpPr>
            <a:spLocks noGrp="1"/>
          </p:cNvSpPr>
          <p:nvPr/>
        </p:nvSpPr>
        <p:spPr>
          <a:xfrm>
            <a:off x="1009650" y="3429000"/>
            <a:ext cx="45720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 algn="l">
              <a:buNone/>
              <a:defRPr sz="24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910710795" name="Rectangle 910710794">
            <a:extLst>
              <a:ext uri="{FF2B5EF4-FFF2-40B4-BE49-F238E27FC236}">
                <a16:creationId xmlns:a16="http://schemas.microsoft.com/office/drawing/2014/main" id="{12538804-4361-49B2-BC86-8B04B636C2F9}"/>
              </a:ext>
            </a:extLst>
          </p:cNvPr>
          <p:cNvSpPr>
            <a:spLocks noGrp="1"/>
          </p:cNvSpPr>
          <p:nvPr/>
        </p:nvSpPr>
        <p:spPr>
          <a:xfrm>
            <a:off x="819150" y="2579797"/>
            <a:ext cx="5034044" cy="12683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Instead of evaluating the gradient where you are, </a:t>
            </a:r>
            <a:r>
              <a:rPr lang="en-US" sz="2200" b="1" i="0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Nesterov</a:t>
            </a:r>
            <a:r>
              <a:rPr lang="en-US" sz="220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 evaluates it where momentum is about to take you.</a:t>
            </a:r>
            <a:endParaRPr lang="en-US" dirty="0"/>
          </a:p>
        </p:txBody>
      </p:sp>
      <p:sp>
        <p:nvSpPr>
          <p:cNvPr id="778614683" name="Straight Connector 778614682">
            <a:extLst>
              <a:ext uri="{FF2B5EF4-FFF2-40B4-BE49-F238E27FC236}">
                <a16:creationId xmlns:a16="http://schemas.microsoft.com/office/drawing/2014/main" id="{50DA3157-C56B-43E8-BFCD-A0ED670E9E5E}"/>
              </a:ext>
            </a:extLst>
          </p:cNvPr>
          <p:cNvSpPr>
            <a:spLocks noGrp="1"/>
          </p:cNvSpPr>
          <p:nvPr/>
        </p:nvSpPr>
        <p:spPr>
          <a:xfrm>
            <a:off x="814070" y="5686425"/>
            <a:ext cx="0" cy="53340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542210229" name="Rectangle 1542210228">
            <a:extLst>
              <a:ext uri="{FF2B5EF4-FFF2-40B4-BE49-F238E27FC236}">
                <a16:creationId xmlns:a16="http://schemas.microsoft.com/office/drawing/2014/main" id="{387551CF-0D3D-42C7-9C0E-CC4C2C21C11E}"/>
              </a:ext>
            </a:extLst>
          </p:cNvPr>
          <p:cNvSpPr>
            <a:spLocks noGrp="1"/>
          </p:cNvSpPr>
          <p:nvPr/>
        </p:nvSpPr>
        <p:spPr>
          <a:xfrm>
            <a:off x="966470" y="5724524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LOOK AHEAD</a:t>
            </a:r>
            <a:endParaRPr/>
          </a:p>
        </p:txBody>
      </p:sp>
      <p:sp>
        <p:nvSpPr>
          <p:cNvPr id="1985210479" name="Rectangle 1985210478">
            <a:extLst>
              <a:ext uri="{FF2B5EF4-FFF2-40B4-BE49-F238E27FC236}">
                <a16:creationId xmlns:a16="http://schemas.microsoft.com/office/drawing/2014/main" id="{BF94F0BA-2C17-43D4-90B8-C5F9356D8C54}"/>
              </a:ext>
            </a:extLst>
          </p:cNvPr>
          <p:cNvSpPr>
            <a:spLocks noGrp="1"/>
          </p:cNvSpPr>
          <p:nvPr/>
        </p:nvSpPr>
        <p:spPr>
          <a:xfrm>
            <a:off x="966470" y="5972175"/>
            <a:ext cx="523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62165" lnSpcReduction="20000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Preview first, measure the slope there, then update the actual parameters.</a:t>
            </a:r>
            <a:endParaRPr dirty="0"/>
          </a:p>
        </p:txBody>
      </p:sp>
      <p:pic>
        <p:nvPicPr>
          <p:cNvPr id="2087934755" name="Picture 674939750"/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6667500" y="1148952"/>
            <a:ext cx="4476750" cy="25181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4BD522-0C64-42B7-B839-4651771EE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676" y="3684586"/>
            <a:ext cx="4996524" cy="23653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11D8186-16FB-4323-8786-6CBF18E8885C}"/>
              </a:ext>
            </a:extLst>
          </p:cNvPr>
          <p:cNvSpPr>
            <a:spLocks noGrp="1"/>
          </p:cNvSpPr>
          <p:nvPr/>
        </p:nvSpPr>
        <p:spPr>
          <a:xfrm>
            <a:off x="609600" y="1351873"/>
            <a:ext cx="492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Momentum's limitation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FEDEB4BD-DAE8-41E0-AAB0-7DB08506B409}"/>
              </a:ext>
            </a:extLst>
          </p:cNvPr>
          <p:cNvSpPr>
            <a:spLocks noGrp="1"/>
          </p:cNvSpPr>
          <p:nvPr/>
        </p:nvSpPr>
        <p:spPr>
          <a:xfrm>
            <a:off x="819150" y="1858104"/>
            <a:ext cx="0" cy="618551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BE9920-5C5E-45AA-9FE9-E1C8BB65C7FE}"/>
              </a:ext>
            </a:extLst>
          </p:cNvPr>
          <p:cNvSpPr txBox="1"/>
          <p:nvPr/>
        </p:nvSpPr>
        <p:spPr>
          <a:xfrm>
            <a:off x="858521" y="1830324"/>
            <a:ext cx="4723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Gradient is measured </a:t>
            </a:r>
            <a:r>
              <a:rPr lang="en-US" b="1" dirty="0"/>
              <a:t>before</a:t>
            </a:r>
            <a:r>
              <a:rPr lang="en-US" dirty="0"/>
              <a:t> momentum carries us forward.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15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353456" name="Rectangle 1065353455">
            <a:extLst>
              <a:ext uri="{FF2B5EF4-FFF2-40B4-BE49-F238E27FC236}">
                <a16:creationId xmlns:a16="http://schemas.microsoft.com/office/drawing/2014/main" id="{D466A970-D55F-4212-A680-0AA70ED837F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906398912" name="Rectangle 906398911">
            <a:extLst>
              <a:ext uri="{FF2B5EF4-FFF2-40B4-BE49-F238E27FC236}">
                <a16:creationId xmlns:a16="http://schemas.microsoft.com/office/drawing/2014/main" id="{EC9D7BF8-6230-4CFD-AC69-FD33ECB21EA1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dirty="0" err="1"/>
              <a:t>AdaGrad</a:t>
            </a:r>
            <a:r>
              <a:rPr lang="en-US" dirty="0"/>
              <a:t>: different parameters need different step sizes</a:t>
            </a:r>
            <a:endParaRPr dirty="0"/>
          </a:p>
        </p:txBody>
      </p:sp>
      <p:sp>
        <p:nvSpPr>
          <p:cNvPr id="226817175" name="Straight Connector 226817174">
            <a:extLst>
              <a:ext uri="{FF2B5EF4-FFF2-40B4-BE49-F238E27FC236}">
                <a16:creationId xmlns:a16="http://schemas.microsoft.com/office/drawing/2014/main" id="{C8953D16-9F49-486E-9DF3-C014327C265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2101445190" name="Straight Connector 2101445189">
            <a:extLst>
              <a:ext uri="{FF2B5EF4-FFF2-40B4-BE49-F238E27FC236}">
                <a16:creationId xmlns:a16="http://schemas.microsoft.com/office/drawing/2014/main" id="{B3DD0BAB-EE46-41B5-8295-C5709C1B7F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913193879" name="Straight Connector 913193878">
            <a:extLst>
              <a:ext uri="{FF2B5EF4-FFF2-40B4-BE49-F238E27FC236}">
                <a16:creationId xmlns:a16="http://schemas.microsoft.com/office/drawing/2014/main" id="{0029C4C1-D8D0-4215-AF18-516B01D4CFC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6432328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586190683" name="Rectangle 586190682">
            <a:extLst>
              <a:ext uri="{FF2B5EF4-FFF2-40B4-BE49-F238E27FC236}">
                <a16:creationId xmlns:a16="http://schemas.microsoft.com/office/drawing/2014/main" id="{54EEE3A4-2152-4570-AAE9-7E28687B3834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17 / 29</a:t>
            </a:r>
            <a:endParaRPr/>
          </a:p>
        </p:txBody>
      </p:sp>
      <p:sp>
        <p:nvSpPr>
          <p:cNvPr id="121329110" name="Straight Connector 121329109">
            <a:extLst>
              <a:ext uri="{FF2B5EF4-FFF2-40B4-BE49-F238E27FC236}">
                <a16:creationId xmlns:a16="http://schemas.microsoft.com/office/drawing/2014/main" id="{F2C555B0-06A1-405F-85DB-55F79434FAA3}"/>
              </a:ext>
            </a:extLst>
          </p:cNvPr>
          <p:cNvSpPr>
            <a:spLocks noGrp="1"/>
          </p:cNvSpPr>
          <p:nvPr/>
        </p:nvSpPr>
        <p:spPr>
          <a:xfrm>
            <a:off x="819150" y="3574407"/>
            <a:ext cx="0" cy="11049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2143060" name="Rectangle 1132143059">
                <a:extLst>
                  <a:ext uri="{FF2B5EF4-FFF2-40B4-BE49-F238E27FC236}">
                    <a16:creationId xmlns:a16="http://schemas.microsoft.com/office/drawing/2014/main" id="{3EE5C1F0-E190-4745-A78D-96454B0E1E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470250"/>
                <a:ext cx="5715000" cy="12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5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𝐺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𝐺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₋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𝑔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2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</m:oMath>
                  </m:oMathPara>
                </a14:m>
                <a:endParaRPr lang="en-US" sz="2250" dirty="0"/>
              </a:p>
              <a:p>
                <a:pPr>
                  <a:defRPr sz="25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</m:t>
                      </m:r>
                      <m:r>
                        <a:rPr lang="en-US" sz="22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f>
                        <m:fPr>
                          <m:ctrlPr>
                            <a:rPr lang="en-US" sz="2250" b="0" i="1" dirty="0" smtClean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2250" i="1" dirty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</m:t>
                          </m:r>
                          <m:r>
                            <a:rPr lang="en-US" sz="2250" i="1" dirty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𝑔</m:t>
                          </m:r>
                          <m:r>
                            <a:rPr lang="en-US" sz="2250" i="1" dirty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50" i="1" dirty="0" smtClean="0">
                                  <a:solidFill>
                                    <a:srgbClr val="3158C9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50" i="1" dirty="0" smtClean="0">
                                  <a:solidFill>
                                    <a:srgbClr val="3158C9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𝐺</m:t>
                              </m:r>
                            </m:e>
                          </m:rad>
                          <m:r>
                            <a:rPr lang="en-US" sz="2250" i="1" dirty="0" smtClean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 + </m:t>
                          </m:r>
                          <m:r>
                            <a:rPr lang="en-US" sz="2250" i="1" dirty="0" smtClean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sz="2250" dirty="0"/>
              </a:p>
            </p:txBody>
          </p:sp>
        </mc:Choice>
        <mc:Fallback>
          <p:sp>
            <p:nvSpPr>
              <p:cNvPr id="1132143060" name="Rectangle 1132143059">
                <a:extLst>
                  <a:ext uri="{FF2B5EF4-FFF2-40B4-BE49-F238E27FC236}">
                    <a16:creationId xmlns:a16="http://schemas.microsoft.com/office/drawing/2014/main" id="{3EE5C1F0-E190-4745-A78D-96454B0E1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470250"/>
                <a:ext cx="5715000" cy="1295400"/>
              </a:xfrm>
              <a:prstGeom prst="rect">
                <a:avLst/>
              </a:prstGeom>
              <a:blipFill>
                <a:blip r:embed="rId3"/>
                <a:stretch>
                  <a:fillRect l="-149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126644" name="Rectangle 1640126643">
            <a:extLst>
              <a:ext uri="{FF2B5EF4-FFF2-40B4-BE49-F238E27FC236}">
                <a16:creationId xmlns:a16="http://schemas.microsoft.com/office/drawing/2014/main" id="{88D2BA5C-0843-4324-9F23-AF8B0C763503}"/>
              </a:ext>
            </a:extLst>
          </p:cNvPr>
          <p:cNvSpPr>
            <a:spLocks noGrp="1"/>
          </p:cNvSpPr>
          <p:nvPr/>
        </p:nvSpPr>
        <p:spPr>
          <a:xfrm>
            <a:off x="609600" y="2619674"/>
            <a:ext cx="5810250" cy="8762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3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Coordinates with large accumulated gradients receive smaller effective steps.</a:t>
            </a:r>
            <a:endParaRPr sz="2100" dirty="0"/>
          </a:p>
        </p:txBody>
      </p:sp>
      <p:sp>
        <p:nvSpPr>
          <p:cNvPr id="13651615" name="Straight Connector 13651614">
            <a:extLst>
              <a:ext uri="{FF2B5EF4-FFF2-40B4-BE49-F238E27FC236}">
                <a16:creationId xmlns:a16="http://schemas.microsoft.com/office/drawing/2014/main" id="{2033970A-C51E-4828-8DAF-DEE4490C5B92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0" cy="81915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385998064" name="Rectangle 1385998063">
            <a:extLst>
              <a:ext uri="{FF2B5EF4-FFF2-40B4-BE49-F238E27FC236}">
                <a16:creationId xmlns:a16="http://schemas.microsoft.com/office/drawing/2014/main" id="{41BC5294-6A87-4264-A284-C60DA368490E}"/>
              </a:ext>
            </a:extLst>
          </p:cNvPr>
          <p:cNvSpPr>
            <a:spLocks noGrp="1"/>
          </p:cNvSpPr>
          <p:nvPr/>
        </p:nvSpPr>
        <p:spPr>
          <a:xfrm>
            <a:off x="971550" y="5276850"/>
            <a:ext cx="3538457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737" lnSpcReduction="10000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accumulator only grows, so the effective step can shrink indefinitely.</a:t>
            </a:r>
            <a:endParaRPr dirty="0"/>
          </a:p>
        </p:txBody>
      </p:sp>
      <p:pic>
        <p:nvPicPr>
          <p:cNvPr id="2101445204" name="Picture 1372887138"/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7372350" y="1224061"/>
            <a:ext cx="4000500" cy="22502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0E92EF-A4AD-4F77-AC6D-CF4DF4EB3A2F}"/>
              </a:ext>
            </a:extLst>
          </p:cNvPr>
          <p:cNvSpPr>
            <a:spLocks noGrp="1"/>
          </p:cNvSpPr>
          <p:nvPr/>
        </p:nvSpPr>
        <p:spPr>
          <a:xfrm>
            <a:off x="609599" y="5632485"/>
            <a:ext cx="5274589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lang="el-GR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𝐺ₜ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: sum of past squared gradients; </a:t>
            </a:r>
            <a:r>
              <a:rPr lang="el-GR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ε = 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small stabilizer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853C7-3FDA-4B33-A462-383B28DF7E43}"/>
              </a:ext>
            </a:extLst>
          </p:cNvPr>
          <p:cNvSpPr>
            <a:spLocks noGrp="1"/>
          </p:cNvSpPr>
          <p:nvPr/>
        </p:nvSpPr>
        <p:spPr>
          <a:xfrm>
            <a:off x="609599" y="1351873"/>
            <a:ext cx="6309359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Vanilla GD uses one learning rate for all features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4003DFC-B39E-4C9E-9C44-1B20F15C2B25}"/>
              </a:ext>
            </a:extLst>
          </p:cNvPr>
          <p:cNvSpPr>
            <a:spLocks noGrp="1"/>
          </p:cNvSpPr>
          <p:nvPr/>
        </p:nvSpPr>
        <p:spPr>
          <a:xfrm>
            <a:off x="819150" y="1858104"/>
            <a:ext cx="0" cy="618551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10E726-3706-4204-A950-94DBDADA68AA}"/>
              </a:ext>
            </a:extLst>
          </p:cNvPr>
          <p:cNvSpPr txBox="1"/>
          <p:nvPr/>
        </p:nvSpPr>
        <p:spPr>
          <a:xfrm>
            <a:off x="858521" y="1830324"/>
            <a:ext cx="4723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Rare features learn too slowly, while frequent features oscillate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33BF18-1B18-4507-8A29-300881589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460" y="3574765"/>
            <a:ext cx="5810250" cy="252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10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825898" name="Rectangle 370825897">
            <a:extLst>
              <a:ext uri="{FF2B5EF4-FFF2-40B4-BE49-F238E27FC236}">
                <a16:creationId xmlns:a16="http://schemas.microsoft.com/office/drawing/2014/main" id="{5047BD5E-8C99-4903-9DC5-77A9BCF34CA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51433023" name="Rectangle 51433022">
            <a:extLst>
              <a:ext uri="{FF2B5EF4-FFF2-40B4-BE49-F238E27FC236}">
                <a16:creationId xmlns:a16="http://schemas.microsoft.com/office/drawing/2014/main" id="{5152F7A1-5FB3-48CB-87B3-1D807CB86C4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RMSProp keeps recent gradient history</a:t>
            </a:r>
            <a:endParaRPr/>
          </a:p>
        </p:txBody>
      </p:sp>
      <p:sp>
        <p:nvSpPr>
          <p:cNvPr id="1800971457" name="Straight Connector 1800971456">
            <a:extLst>
              <a:ext uri="{FF2B5EF4-FFF2-40B4-BE49-F238E27FC236}">
                <a16:creationId xmlns:a16="http://schemas.microsoft.com/office/drawing/2014/main" id="{121106C7-0AF6-4685-AD7E-073235597A1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1593142220" name="Straight Connector 1593142219">
            <a:extLst>
              <a:ext uri="{FF2B5EF4-FFF2-40B4-BE49-F238E27FC236}">
                <a16:creationId xmlns:a16="http://schemas.microsoft.com/office/drawing/2014/main" id="{251B18D5-2D33-4B5F-AC7D-A9CE2748222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952672944" name="Straight Connector 952672943">
            <a:extLst>
              <a:ext uri="{FF2B5EF4-FFF2-40B4-BE49-F238E27FC236}">
                <a16:creationId xmlns:a16="http://schemas.microsoft.com/office/drawing/2014/main" id="{93F38DA5-112A-4DEE-A251-205128788BC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6810661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227726606" name="Rectangle 227726605">
            <a:extLst>
              <a:ext uri="{FF2B5EF4-FFF2-40B4-BE49-F238E27FC236}">
                <a16:creationId xmlns:a16="http://schemas.microsoft.com/office/drawing/2014/main" id="{562C8AAE-E5B5-4315-84B7-621F20D19E9A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18 / 29</a:t>
            </a:r>
            <a:endParaRPr/>
          </a:p>
        </p:txBody>
      </p:sp>
      <p:sp>
        <p:nvSpPr>
          <p:cNvPr id="1635243733" name="Straight Connector 1635243732">
            <a:extLst>
              <a:ext uri="{FF2B5EF4-FFF2-40B4-BE49-F238E27FC236}">
                <a16:creationId xmlns:a16="http://schemas.microsoft.com/office/drawing/2014/main" id="{102C50F6-196A-4615-BE03-6A1E945859AF}"/>
              </a:ext>
            </a:extLst>
          </p:cNvPr>
          <p:cNvSpPr>
            <a:spLocks noGrp="1"/>
          </p:cNvSpPr>
          <p:nvPr/>
        </p:nvSpPr>
        <p:spPr>
          <a:xfrm>
            <a:off x="819150" y="3446434"/>
            <a:ext cx="0" cy="1104900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411565" name="Rectangle 74411564">
                <a:extLst>
                  <a:ext uri="{FF2B5EF4-FFF2-40B4-BE49-F238E27FC236}">
                    <a16:creationId xmlns:a16="http://schemas.microsoft.com/office/drawing/2014/main" id="{80C1A1B5-4508-4AAA-A4FA-0FEED8B823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351183"/>
                <a:ext cx="6000750" cy="1295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5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ar-AE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</m:t>
                      </m:r>
                      <m:r>
                        <a:rPr lang="ar-AE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𝜌</m:t>
                      </m:r>
                      <m:r>
                        <a:rPr lang="ar-AE" sz="2550" i="1" dirty="0" err="1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₋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 (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−</m:t>
                      </m:r>
                      <m:r>
                        <a:rPr lang="ar-AE" sz="28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𝜌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𝑔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²</m:t>
                      </m:r>
                    </m:oMath>
                  </m:oMathPara>
                </a14:m>
                <a:endParaRPr lang="ar-AE" dirty="0"/>
              </a:p>
              <a:p>
                <a:pPr>
                  <a:defRPr sz="25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</m:t>
                      </m:r>
                      <m:r>
                        <a:rPr lang="ar-AE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f>
                        <m:fPr>
                          <m:ctrlPr>
                            <a:rPr lang="ar-AE" sz="25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5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</m:t>
                          </m:r>
                          <m:r>
                            <a:rPr lang="ar-AE" sz="25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𝑔</m:t>
                          </m:r>
                          <m:r>
                            <a:rPr lang="ar-AE" sz="25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255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255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𝑠</m:t>
                              </m:r>
                            </m:e>
                          </m:rad>
                          <m:r>
                            <a:rPr lang="ar-AE" sz="25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 + </m:t>
                          </m:r>
                          <m:r>
                            <a:rPr lang="ar-AE" sz="25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4411565" name="Rectangle 74411564">
                <a:extLst>
                  <a:ext uri="{FF2B5EF4-FFF2-40B4-BE49-F238E27FC236}">
                    <a16:creationId xmlns:a16="http://schemas.microsoft.com/office/drawing/2014/main" id="{80C1A1B5-4508-4AAA-A4FA-0FEED8B823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351183"/>
                <a:ext cx="6000750" cy="12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8512110" name="Rectangle 1658512109">
            <a:extLst>
              <a:ext uri="{FF2B5EF4-FFF2-40B4-BE49-F238E27FC236}">
                <a16:creationId xmlns:a16="http://schemas.microsoft.com/office/drawing/2014/main" id="{03BB9B96-0BDC-4230-ADD4-9E24BC29B141}"/>
              </a:ext>
            </a:extLst>
          </p:cNvPr>
          <p:cNvSpPr>
            <a:spLocks noGrp="1"/>
          </p:cNvSpPr>
          <p:nvPr/>
        </p:nvSpPr>
        <p:spPr>
          <a:xfrm>
            <a:off x="609599" y="4787732"/>
            <a:ext cx="5927779" cy="1612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3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35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An exponential moving average emphasizes recent gradient magnitudes.</a:t>
            </a:r>
            <a:endParaRPr dirty="0"/>
          </a:p>
        </p:txBody>
      </p:sp>
      <p:pic>
        <p:nvPicPr>
          <p:cNvPr id="1800971471" name="Picture 880888743"/>
          <p:cNvPicPr>
            <a:picLocks noChangeAspect="1"/>
          </p:cNvPicPr>
          <p:nvPr/>
        </p:nvPicPr>
        <p:blipFill rotWithShape="1">
          <a:blip r:embed="rId4"/>
          <a:stretch/>
        </p:blipFill>
        <p:spPr>
          <a:xfrm>
            <a:off x="6787996" y="1178719"/>
            <a:ext cx="4000500" cy="22502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09DD83-578B-4B3D-BE13-20420B8E6C34}"/>
              </a:ext>
            </a:extLst>
          </p:cNvPr>
          <p:cNvSpPr>
            <a:spLocks noGrp="1"/>
          </p:cNvSpPr>
          <p:nvPr/>
        </p:nvSpPr>
        <p:spPr>
          <a:xfrm>
            <a:off x="609599" y="5632485"/>
            <a:ext cx="5274589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76200" rIns="38100" bIns="76200" anchor="ctr">
            <a:normAutofit/>
          </a:bodyPr>
          <a:lstStyle/>
          <a:p>
            <a:pPr>
              <a:defRPr sz="225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lang="el-GR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𝑠ₜ</a:t>
            </a: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: weighted average of recent squared gradients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68870-2D8C-4AC8-B3A7-CF297EA04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152" y="3409950"/>
            <a:ext cx="4448660" cy="279373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696518E-F42F-4A07-9839-03940CDD3309}"/>
              </a:ext>
            </a:extLst>
          </p:cNvPr>
          <p:cNvSpPr>
            <a:spLocks noGrp="1"/>
          </p:cNvSpPr>
          <p:nvPr/>
        </p:nvSpPr>
        <p:spPr>
          <a:xfrm>
            <a:off x="609599" y="1351873"/>
            <a:ext cx="6309359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 But </a:t>
            </a:r>
            <a:r>
              <a:rPr lang="en-US" sz="2200" b="1" i="0" dirty="0" err="1">
                <a:solidFill>
                  <a:srgbClr val="3158C9"/>
                </a:solidFill>
                <a:latin typeface="Arial"/>
                <a:ea typeface="Arial"/>
                <a:cs typeface="Arial"/>
              </a:rPr>
              <a:t>AdaGrad's</a:t>
            </a: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 accumulator only grows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9D6F880-6AC6-46F6-813A-79FE641503B5}"/>
              </a:ext>
            </a:extLst>
          </p:cNvPr>
          <p:cNvSpPr>
            <a:spLocks noGrp="1"/>
          </p:cNvSpPr>
          <p:nvPr/>
        </p:nvSpPr>
        <p:spPr>
          <a:xfrm>
            <a:off x="819150" y="1858104"/>
            <a:ext cx="0" cy="618551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697746-001F-4CA8-B33E-DD09277F52F7}"/>
              </a:ext>
            </a:extLst>
          </p:cNvPr>
          <p:cNvSpPr txBox="1"/>
          <p:nvPr/>
        </p:nvSpPr>
        <p:spPr>
          <a:xfrm>
            <a:off x="858521" y="1830324"/>
            <a:ext cx="5025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effective learning rate eventually shrinks to near zero and the model stops learning.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2EEE2-A701-4411-B003-2524ABE94C62}"/>
              </a:ext>
            </a:extLst>
          </p:cNvPr>
          <p:cNvSpPr>
            <a:spLocks noGrp="1"/>
          </p:cNvSpPr>
          <p:nvPr/>
        </p:nvSpPr>
        <p:spPr>
          <a:xfrm>
            <a:off x="609600" y="2578873"/>
            <a:ext cx="5810250" cy="8762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3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b="1" i="0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RMSProp</a:t>
            </a:r>
            <a:r>
              <a:rPr lang="en-US" sz="210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 replaces this with an exponentially decaying average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50419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347058" name="Rectangle 1820347057">
            <a:extLst>
              <a:ext uri="{FF2B5EF4-FFF2-40B4-BE49-F238E27FC236}">
                <a16:creationId xmlns:a16="http://schemas.microsoft.com/office/drawing/2014/main" id="{1D1D1FB6-3EB3-436E-9B30-6F4F96074B8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2083847225" name="Rectangle 2083847224">
            <a:extLst>
              <a:ext uri="{FF2B5EF4-FFF2-40B4-BE49-F238E27FC236}">
                <a16:creationId xmlns:a16="http://schemas.microsoft.com/office/drawing/2014/main" id="{C4AE2A43-B54B-4B5C-BF38-2EC5DE60EEBB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Adam combines memory with scale</a:t>
            </a:r>
            <a:endParaRPr/>
          </a:p>
        </p:txBody>
      </p:sp>
      <p:sp>
        <p:nvSpPr>
          <p:cNvPr id="282581589" name="Straight Connector 282581588">
            <a:extLst>
              <a:ext uri="{FF2B5EF4-FFF2-40B4-BE49-F238E27FC236}">
                <a16:creationId xmlns:a16="http://schemas.microsoft.com/office/drawing/2014/main" id="{41D3F786-9CE3-44A1-B44F-9312E4A99C4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894893076" name="Straight Connector 894893075">
            <a:extLst>
              <a:ext uri="{FF2B5EF4-FFF2-40B4-BE49-F238E27FC236}">
                <a16:creationId xmlns:a16="http://schemas.microsoft.com/office/drawing/2014/main" id="{0B480E83-B862-49BB-AA17-7B6B2331E56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953042754" name="Straight Connector 953042753">
            <a:extLst>
              <a:ext uri="{FF2B5EF4-FFF2-40B4-BE49-F238E27FC236}">
                <a16:creationId xmlns:a16="http://schemas.microsoft.com/office/drawing/2014/main" id="{477D5F74-CAFC-4BFC-A09B-03F9F6C5D0A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7189089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107611928" name="Rectangle 1107611927">
            <a:extLst>
              <a:ext uri="{FF2B5EF4-FFF2-40B4-BE49-F238E27FC236}">
                <a16:creationId xmlns:a16="http://schemas.microsoft.com/office/drawing/2014/main" id="{2CD2C54B-3C05-4184-9D25-CAB88C98CC97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19 / 29</a:t>
            </a:r>
            <a:endParaRPr/>
          </a:p>
        </p:txBody>
      </p:sp>
      <p:sp>
        <p:nvSpPr>
          <p:cNvPr id="154290632" name="Straight Connector 154290631">
            <a:extLst>
              <a:ext uri="{FF2B5EF4-FFF2-40B4-BE49-F238E27FC236}">
                <a16:creationId xmlns:a16="http://schemas.microsoft.com/office/drawing/2014/main" id="{3A90CFE0-57E7-4731-95C5-A6AB697ED278}"/>
              </a:ext>
            </a:extLst>
          </p:cNvPr>
          <p:cNvSpPr>
            <a:spLocks noGrp="1"/>
          </p:cNvSpPr>
          <p:nvPr/>
        </p:nvSpPr>
        <p:spPr>
          <a:xfrm>
            <a:off x="819150" y="1300480"/>
            <a:ext cx="0" cy="1056639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8346524" name="Rectangle 1208346523">
                <a:extLst>
                  <a:ext uri="{FF2B5EF4-FFF2-40B4-BE49-F238E27FC236}">
                    <a16:creationId xmlns:a16="http://schemas.microsoft.com/office/drawing/2014/main" id="{14F322D0-7149-479C-AE3C-A2AB31D6F7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49" y="1211247"/>
                <a:ext cx="6701791" cy="136173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 fontScale="85000" lnSpcReduction="20000"/>
              </a:bodyPr>
              <a:lstStyle/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first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moment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– 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direction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100" b="1" dirty="0">
                          <a:solidFill>
                            <a:srgbClr val="3158C9"/>
                          </a:solidFill>
                          <a:latin typeface="Arial"/>
                          <a:ea typeface="Arial"/>
                          <a:cs typeface="Arial"/>
                        </a:rPr>
                        <m:t>memory</m:t>
                      </m:r>
                    </m:oMath>
                  </m:oMathPara>
                </a14:m>
                <a:endParaRPr lang="en-US" sz="2100" b="1" dirty="0">
                  <a:solidFill>
                    <a:srgbClr val="3158C9"/>
                  </a:solidFill>
                  <a:latin typeface="Arial"/>
                  <a:ea typeface="Arial"/>
                  <a:cs typeface="Arial"/>
                </a:endParaRPr>
              </a:p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𝑚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 = 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𝛽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₁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𝑚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₋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₁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(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1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−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𝛽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₁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𝑔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</m:t>
                    </m:r>
                  </m:oMath>
                </a14:m>
                <a:r>
                  <a:rPr lang="en-US" sz="2100" dirty="0"/>
                  <a:t> </a:t>
                </a:r>
              </a:p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:endParaRPr lang="en-US" sz="2100" dirty="0"/>
              </a:p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100" b="1" dirty="0">
                    <a:solidFill>
                      <a:srgbClr val="3158C9"/>
                    </a:solidFill>
                    <a:latin typeface="Arial"/>
                    <a:cs typeface="Arial"/>
                  </a:rPr>
                  <a:t>the second moment – gradient scale</a:t>
                </a:r>
              </a:p>
              <a:p>
                <a:pPr>
                  <a:defRPr sz="22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𝑣</m:t>
                    </m:r>
                    <m:r>
                      <a:rPr lang="en-US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 = </m:t>
                    </m:r>
                    <m:sSub>
                      <m:sSubPr>
                        <m:ctrlPr>
                          <a:rPr lang="en-US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𝛽</m:t>
                        </m:r>
                      </m:e>
                      <m:sub>
                        <m:r>
                          <a:rPr lang="en-US" sz="2100" b="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  <m:r>
                      <a:rPr lang="ar-AE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𝑣</m:t>
                    </m:r>
                    <m:sSup>
                      <m:sSupPr>
                        <m:ctrlP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pPr>
                      <m:e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ₜ</m:t>
                        </m:r>
                      </m:e>
                      <m:sup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-</m:t>
                        </m:r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p>
                    </m:sSup>
                    <m:r>
                      <a:rPr lang="ar-AE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+ </m:t>
                    </m:r>
                    <m:d>
                      <m:dPr>
                        <m:ctrlP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dPr>
                      <m:e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sz="2100" i="1" dirty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 dirty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sz="210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𝑔</m:t>
                    </m:r>
                    <m:sSup>
                      <m:sSupPr>
                        <m:ctrlP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pPr>
                      <m:e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ₜ</m:t>
                        </m:r>
                      </m:e>
                      <m:sup>
                        <m:r>
                          <a:rPr lang="ar-AE" sz="2100" i="1" dirty="0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100" dirty="0"/>
                  <a:t> </a:t>
                </a:r>
                <a:endParaRPr sz="2100" dirty="0"/>
              </a:p>
            </p:txBody>
          </p:sp>
        </mc:Choice>
        <mc:Fallback>
          <p:sp>
            <p:nvSpPr>
              <p:cNvPr id="1208346524" name="Rectangle 1208346523">
                <a:extLst>
                  <a:ext uri="{FF2B5EF4-FFF2-40B4-BE49-F238E27FC236}">
                    <a16:creationId xmlns:a16="http://schemas.microsoft.com/office/drawing/2014/main" id="{14F322D0-7149-479C-AE3C-A2AB31D6F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49" y="1211247"/>
                <a:ext cx="6701791" cy="1361733"/>
              </a:xfrm>
              <a:prstGeom prst="rect">
                <a:avLst/>
              </a:prstGeom>
              <a:blipFill>
                <a:blip r:embed="rId3"/>
                <a:stretch>
                  <a:fillRect l="-1638" b="-26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2808574" name="Straight Connector 1102808573">
            <a:extLst>
              <a:ext uri="{FF2B5EF4-FFF2-40B4-BE49-F238E27FC236}">
                <a16:creationId xmlns:a16="http://schemas.microsoft.com/office/drawing/2014/main" id="{D51CC5F5-CCBF-4063-B994-0C57C69A10C9}"/>
              </a:ext>
            </a:extLst>
          </p:cNvPr>
          <p:cNvSpPr>
            <a:spLocks noGrp="1"/>
          </p:cNvSpPr>
          <p:nvPr/>
        </p:nvSpPr>
        <p:spPr>
          <a:xfrm>
            <a:off x="819150" y="2609756"/>
            <a:ext cx="0" cy="1206225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7954884" name="Rectangle 1727954883">
                <a:extLst>
                  <a:ext uri="{FF2B5EF4-FFF2-40B4-BE49-F238E27FC236}">
                    <a16:creationId xmlns:a16="http://schemas.microsoft.com/office/drawing/2014/main" id="{8E3CD90C-C50C-4653-8FC3-EF98EDC26C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696806"/>
                <a:ext cx="1831706" cy="1066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Autofit/>
              </a:bodyPr>
              <a:lstStyle/>
              <a:p>
                <a:pPr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10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𝑚</m:t>
                      </m:r>
                      <m:r>
                        <a:rPr lang="ar-AE" sz="210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̂ₜ = </m:t>
                      </m:r>
                      <m:f>
                        <m:fPr>
                          <m:ctrlP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𝑚</m:t>
                          </m:r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</m:t>
                          </m:r>
                        </m:num>
                        <m:den>
                          <m: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  <m: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210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100" b="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100" b="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ar-AE" sz="2100" dirty="0"/>
              </a:p>
              <a:p>
                <a:pPr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10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𝑣</m:t>
                      </m:r>
                      <m:r>
                        <a:rPr lang="ar-AE" sz="210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̂ₜ = </m:t>
                      </m:r>
                      <m:f>
                        <m:fPr>
                          <m:ctrlP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𝑣</m:t>
                          </m:r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ₜ</m:t>
                          </m:r>
                        </m:num>
                        <m:den>
                          <m: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</m:t>
                          </m:r>
                          <m:r>
                            <a:rPr lang="ar-AE" sz="210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SupPr>
                            <m:e>
                              <m: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100" b="0" i="1" dirty="0" smtClean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1727954884" name="Rectangle 1727954883">
                <a:extLst>
                  <a:ext uri="{FF2B5EF4-FFF2-40B4-BE49-F238E27FC236}">
                    <a16:creationId xmlns:a16="http://schemas.microsoft.com/office/drawing/2014/main" id="{8E3CD90C-C50C-4653-8FC3-EF98EDC26C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696806"/>
                <a:ext cx="1831706" cy="1066800"/>
              </a:xfrm>
              <a:prstGeom prst="rect">
                <a:avLst/>
              </a:prstGeom>
              <a:blipFill>
                <a:blip r:embed="rId4"/>
                <a:stretch>
                  <a:fillRect t="-5143" b="-91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3847239" name="Picture 1277180659"/>
          <p:cNvPicPr>
            <a:picLocks noChangeAspect="1"/>
          </p:cNvPicPr>
          <p:nvPr/>
        </p:nvPicPr>
        <p:blipFill rotWithShape="1">
          <a:blip r:embed="rId5"/>
          <a:srcRect t="9152" b="4386"/>
          <a:stretch/>
        </p:blipFill>
        <p:spPr>
          <a:xfrm>
            <a:off x="1490744" y="4028440"/>
            <a:ext cx="4000500" cy="1945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1F679D-55EE-473D-8928-F83D609FF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9603" y="1397669"/>
            <a:ext cx="4246365" cy="43233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4F237E-3044-48F6-BEB2-97355EC16C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85875" y="2696806"/>
                <a:ext cx="3262897" cy="1066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Autofit/>
              </a:bodyPr>
              <a:lstStyle/>
              <a:p>
                <a:pPr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</m:t>
                      </m:r>
                      <m:r>
                        <a:rPr lang="ar-AE" sz="210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f>
                        <m:fPr>
                          <m:ctrlP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𝑚</m:t>
                          </m:r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̂ₜ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𝑣</m:t>
                              </m:r>
                              <m: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 ̂</m:t>
                              </m:r>
                              <m:r>
                                <a:rPr lang="ar-AE" sz="2100" i="1" dirty="0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ₜ</m:t>
                              </m:r>
                            </m:e>
                          </m:rad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+ </m:t>
                          </m:r>
                          <m:r>
                            <a:rPr lang="ar-AE" sz="210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 sz="2100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4F237E-3044-48F6-BEB2-97355EC16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875" y="2696806"/>
                <a:ext cx="3262897" cy="1066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F8544E8-9285-47D7-8EA7-1D241016B7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9599" y="5632485"/>
                <a:ext cx="11125201" cy="1066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2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Arial"/>
                    <a:cs typeface="Arial"/>
                  </a:rPr>
                  <a:t>v</a:t>
                </a:r>
                <a:r>
                  <a:rPr lang="el-GR" sz="1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Arial"/>
                    <a:cs typeface="Arial"/>
                  </a:rPr>
                  <a:t>ₜ</a:t>
                </a:r>
                <a:r>
                  <a:rPr lang="en-US" sz="1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Arial"/>
                    <a:cs typeface="Arial"/>
                  </a:rPr>
                  <a:t>: second-moment estimate (not velocity);</a:t>
                </a:r>
                <a:r>
                  <a:rPr lang="en-US" sz="1700" dirty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ar-AE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𝑚</m:t>
                    </m:r>
                    <m:r>
                      <a:rPr lang="ar-AE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̂</m:t>
                    </m:r>
                    <m:r>
                      <a:rPr lang="ar-AE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 </m:t>
                    </m:r>
                  </m:oMath>
                </a14:m>
                <a:r>
                  <a:rPr lang="en-US" sz="1700" dirty="0">
                    <a:solidFill>
                      <a:schemeClr val="tx1"/>
                    </a:solidFill>
                  </a:rPr>
                  <a:t>, </a:t>
                </a:r>
                <a:r>
                  <a:rPr lang="en-US" sz="1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𝑣 ̂ₜ: bias-corrected direction memory, squared-gradient scale</a:t>
                </a: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F8544E8-9285-47D7-8EA7-1D241016B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632485"/>
                <a:ext cx="11125201" cy="1066800"/>
              </a:xfrm>
              <a:prstGeom prst="rect">
                <a:avLst/>
              </a:prstGeom>
              <a:blipFill>
                <a:blip r:embed="rId8"/>
                <a:stretch>
                  <a:fillRect l="-82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D10E8B8E-A120-43D2-813E-CDA70594FD1E}"/>
              </a:ext>
            </a:extLst>
          </p:cNvPr>
          <p:cNvSpPr/>
          <p:nvPr/>
        </p:nvSpPr>
        <p:spPr>
          <a:xfrm>
            <a:off x="2879611" y="3143368"/>
            <a:ext cx="352741" cy="173676"/>
          </a:xfrm>
          <a:prstGeom prst="rightArrow">
            <a:avLst/>
          </a:prstGeom>
          <a:noFill/>
          <a:ln>
            <a:solidFill>
              <a:srgbClr val="1387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387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679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29275" name="Rectangle 1482729274">
            <a:extLst>
              <a:ext uri="{FF2B5EF4-FFF2-40B4-BE49-F238E27FC236}">
                <a16:creationId xmlns:a16="http://schemas.microsoft.com/office/drawing/2014/main" id="{EA3DF41F-AD67-44AC-9FA5-EA105C80D2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1201803244" name="Rectangle 1201803243">
            <a:extLst>
              <a:ext uri="{FF2B5EF4-FFF2-40B4-BE49-F238E27FC236}">
                <a16:creationId xmlns:a16="http://schemas.microsoft.com/office/drawing/2014/main" id="{41B32458-4C19-49F7-A29D-D640A1C92F16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AdamW decouples weight decay</a:t>
            </a:r>
            <a:endParaRPr/>
          </a:p>
        </p:txBody>
      </p:sp>
      <p:sp>
        <p:nvSpPr>
          <p:cNvPr id="900928184" name="Straight Connector 900928183">
            <a:extLst>
              <a:ext uri="{FF2B5EF4-FFF2-40B4-BE49-F238E27FC236}">
                <a16:creationId xmlns:a16="http://schemas.microsoft.com/office/drawing/2014/main" id="{F2A4C51B-7689-435E-95CB-0A0CF3E274E0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1651745372" name="Straight Connector 1651745371">
            <a:extLst>
              <a:ext uri="{FF2B5EF4-FFF2-40B4-BE49-F238E27FC236}">
                <a16:creationId xmlns:a16="http://schemas.microsoft.com/office/drawing/2014/main" id="{4D847CB5-1F01-4F03-B01F-8D5F6EFDEBF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573765856" name="Straight Connector 1573765855">
            <a:extLst>
              <a:ext uri="{FF2B5EF4-FFF2-40B4-BE49-F238E27FC236}">
                <a16:creationId xmlns:a16="http://schemas.microsoft.com/office/drawing/2014/main" id="{FBB6CEAD-0655-422F-AD4C-BEA30E70B6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7567422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342818429" name="Rectangle 342818428">
            <a:extLst>
              <a:ext uri="{FF2B5EF4-FFF2-40B4-BE49-F238E27FC236}">
                <a16:creationId xmlns:a16="http://schemas.microsoft.com/office/drawing/2014/main" id="{E2C78D5D-DE3A-4F5E-80C0-3D9BF23D41D1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20 / 29</a:t>
            </a:r>
            <a:endParaRPr/>
          </a:p>
        </p:txBody>
      </p:sp>
      <p:sp>
        <p:nvSpPr>
          <p:cNvPr id="802729166" name="Straight Connector 802729165">
            <a:extLst>
              <a:ext uri="{FF2B5EF4-FFF2-40B4-BE49-F238E27FC236}">
                <a16:creationId xmlns:a16="http://schemas.microsoft.com/office/drawing/2014/main" id="{E521F315-6E86-4F5D-917F-CBB27F2220FE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0" cy="53340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4458234" name="Rectangle 1264458233">
                <a:extLst>
                  <a:ext uri="{FF2B5EF4-FFF2-40B4-BE49-F238E27FC236}">
                    <a16:creationId xmlns:a16="http://schemas.microsoft.com/office/drawing/2014/main" id="{2507F4A4-1355-42ED-966C-5E7F46DE98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2705100"/>
                <a:ext cx="5143500" cy="723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𝑢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= 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𝐴𝑑𝑎𝑚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𝑢𝑝𝑑𝑎𝑡𝑒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  <m:r>
                        <a:rPr lang="en-US" sz="2350" i="1" dirty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𝑑𝑖𝑟𝑒𝑐𝑡𝑖𝑜𝑛</m:t>
                      </m:r>
                    </m:oMath>
                  </m:oMathPara>
                </a14:m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64458234" name="Rectangle 1264458233">
                <a:extLst>
                  <a:ext uri="{FF2B5EF4-FFF2-40B4-BE49-F238E27FC236}">
                    <a16:creationId xmlns:a16="http://schemas.microsoft.com/office/drawing/2014/main" id="{2507F4A4-1355-42ED-966C-5E7F46DE98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705100"/>
                <a:ext cx="5143500" cy="723900"/>
              </a:xfrm>
              <a:prstGeom prst="rect">
                <a:avLst/>
              </a:prstGeom>
              <a:blipFill>
                <a:blip r:embed="rId3"/>
                <a:stretch>
                  <a:fillRect l="-11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172777" name="Straight Connector 78172776">
            <a:extLst>
              <a:ext uri="{FF2B5EF4-FFF2-40B4-BE49-F238E27FC236}">
                <a16:creationId xmlns:a16="http://schemas.microsoft.com/office/drawing/2014/main" id="{2C3573FF-46AA-4026-A96E-573B58FBE0CF}"/>
              </a:ext>
            </a:extLst>
          </p:cNvPr>
          <p:cNvSpPr>
            <a:spLocks noGrp="1"/>
          </p:cNvSpPr>
          <p:nvPr/>
        </p:nvSpPr>
        <p:spPr>
          <a:xfrm>
            <a:off x="819150" y="3476625"/>
            <a:ext cx="0" cy="590549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962190" name="Rectangle 161962189">
                <a:extLst>
                  <a:ext uri="{FF2B5EF4-FFF2-40B4-BE49-F238E27FC236}">
                    <a16:creationId xmlns:a16="http://schemas.microsoft.com/office/drawing/2014/main" id="{928B3151-F0A4-4C91-8951-9CE61C9783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381375"/>
                <a:ext cx="5715000" cy="781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/>
              </a:bodyPr>
              <a:lstStyle/>
              <a:p>
                <a:pPr algn="l">
                  <a:buNone/>
                  <a:defRPr sz="25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(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−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𝜂𝜆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2550" i="1" dirty="0" smtClean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 </m:t>
                      </m:r>
                      <m:r>
                        <a:rPr lang="en-US" sz="2550" i="1" dirty="0" err="1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r>
                        <a:rPr lang="en-US" sz="2550" i="1" dirty="0" err="1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𝑢</m:t>
                      </m:r>
                      <m:r>
                        <a:rPr lang="en-US" sz="25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61962190" name="Rectangle 161962189">
                <a:extLst>
                  <a:ext uri="{FF2B5EF4-FFF2-40B4-BE49-F238E27FC236}">
                    <a16:creationId xmlns:a16="http://schemas.microsoft.com/office/drawing/2014/main" id="{928B3151-F0A4-4C91-8951-9CE61C978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381375"/>
                <a:ext cx="5715000" cy="781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6095858" name="Rectangle 1876095857">
                <a:extLst>
                  <a:ext uri="{FF2B5EF4-FFF2-40B4-BE49-F238E27FC236}">
                    <a16:creationId xmlns:a16="http://schemas.microsoft.com/office/drawing/2014/main" id="{58792CF0-48F9-45FC-BAE1-DF74526790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9150" y="4343400"/>
                <a:ext cx="561975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>
                <a:normAutofit/>
              </a:bodyPr>
              <a:lstStyle/>
              <a:p>
                <a:pPr marL="279400" indent="-139700">
                  <a:lnSpc>
                    <a:spcPct val="113999"/>
                  </a:lnSpc>
                  <a:spcAft>
                    <a:spcPts val="1000"/>
                  </a:spcAft>
                  <a:buNone/>
                  <a:defRPr sz="205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The decay term shrinks </a:t>
                </a:r>
                <a14:m>
                  <m:oMath xmlns:m="http://schemas.openxmlformats.org/officeDocument/2006/math">
                    <m:r>
                      <a:rPr lang="en-US" sz="2050" i="1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𝜃</m:t>
                    </m:r>
                    <m:r>
                      <a:rPr lang="en-US" sz="2050" i="1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 </m:t>
                    </m:r>
                  </m:oMath>
                </a14:m>
                <a:r>
                  <a:rPr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directly</a:t>
                </a:r>
                <a:r>
                  <a:rPr lang="en-US"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  <a:p>
                <a:pPr marL="279400" indent="-139700">
                  <a:lnSpc>
                    <a:spcPct val="113999"/>
                  </a:lnSpc>
                  <a:spcAft>
                    <a:spcPts val="1000"/>
                  </a:spcAft>
                  <a:buNone/>
                  <a:defRPr sz="205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The adaptive direction </a:t>
                </a:r>
                <a14:m>
                  <m:oMath xmlns:m="http://schemas.openxmlformats.org/officeDocument/2006/math">
                    <m:r>
                      <a:rPr lang="en-US" sz="2050" i="1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𝑢</m:t>
                    </m:r>
                    <m:r>
                      <a:rPr lang="en-US" sz="2050" i="1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ₜ </m:t>
                    </m:r>
                  </m:oMath>
                </a14:m>
                <a:r>
                  <a:rPr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remains separate.</a:t>
                </a:r>
                <a:endParaRPr dirty="0"/>
              </a:p>
              <a:p>
                <a:pPr marL="279400" indent="-139700">
                  <a:lnSpc>
                    <a:spcPct val="113999"/>
                  </a:lnSpc>
                  <a:spcAft>
                    <a:spcPts val="1000"/>
                  </a:spcAft>
                  <a:buNone/>
                  <a:defRPr sz="205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2050" i="1" dirty="0" smtClean="0">
                        <a:solidFill>
                          <a:srgbClr val="17243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𝜆</m:t>
                    </m:r>
                  </m:oMath>
                </a14:m>
                <a:r>
                  <a:rPr sz="2050" dirty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rPr>
                  <a:t> controls the strength of the shrinkage.</a:t>
                </a:r>
                <a:endParaRPr dirty="0"/>
              </a:p>
            </p:txBody>
          </p:sp>
        </mc:Choice>
        <mc:Fallback>
          <p:sp>
            <p:nvSpPr>
              <p:cNvPr id="1876095858" name="Rectangle 1876095857">
                <a:extLst>
                  <a:ext uri="{FF2B5EF4-FFF2-40B4-BE49-F238E27FC236}">
                    <a16:creationId xmlns:a16="http://schemas.microsoft.com/office/drawing/2014/main" id="{58792CF0-48F9-45FC-BAE1-DF7452679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" y="4343400"/>
                <a:ext cx="5619750" cy="1428750"/>
              </a:xfrm>
              <a:prstGeom prst="rect">
                <a:avLst/>
              </a:prstGeom>
              <a:blipFill>
                <a:blip r:embed="rId5"/>
                <a:stretch>
                  <a:fillRect l="-325" t="-5128" b="-170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76095871" name="Picture 1129002409"/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6915149" y="1372673"/>
            <a:ext cx="3810000" cy="21431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20327D-5349-42BA-9D8F-BD0C70F68B0D}"/>
              </a:ext>
            </a:extLst>
          </p:cNvPr>
          <p:cNvSpPr>
            <a:spLocks noGrp="1"/>
          </p:cNvSpPr>
          <p:nvPr/>
        </p:nvSpPr>
        <p:spPr>
          <a:xfrm>
            <a:off x="609599" y="1351873"/>
            <a:ext cx="6309359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5723"/>
          </a:bodyPr>
          <a:lstStyle/>
          <a:p>
            <a:pPr algn="l">
              <a:lnSpc>
                <a:spcPct val="113999"/>
              </a:lnSpc>
              <a:buNone/>
              <a:defRPr sz="22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2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Adam + L2 regularization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A8F1F81-CBB4-4084-9B5B-D602ED82757B}"/>
              </a:ext>
            </a:extLst>
          </p:cNvPr>
          <p:cNvSpPr>
            <a:spLocks noGrp="1"/>
          </p:cNvSpPr>
          <p:nvPr/>
        </p:nvSpPr>
        <p:spPr>
          <a:xfrm>
            <a:off x="819150" y="1858104"/>
            <a:ext cx="0" cy="618551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0ACB3-71AA-462E-8575-9A72B52C617E}"/>
              </a:ext>
            </a:extLst>
          </p:cNvPr>
          <p:cNvSpPr txBox="1"/>
          <p:nvPr/>
        </p:nvSpPr>
        <p:spPr>
          <a:xfrm>
            <a:off x="858521" y="1830324"/>
            <a:ext cx="5237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 term gets mixed into the gradient and then also gets adaptively rescaled by Adam.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362DD-FCD5-440C-8B06-D8A679CE2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4883" y="3597057"/>
            <a:ext cx="5447829" cy="248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1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56335" name="Rectangle 161956334">
            <a:extLst>
              <a:ext uri="{FF2B5EF4-FFF2-40B4-BE49-F238E27FC236}">
                <a16:creationId xmlns:a16="http://schemas.microsoft.com/office/drawing/2014/main" id="{346511A0-401F-417F-A0D0-DF7850F0EB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1734004703" name="Rectangle 1734004702">
            <a:extLst>
              <a:ext uri="{FF2B5EF4-FFF2-40B4-BE49-F238E27FC236}">
                <a16:creationId xmlns:a16="http://schemas.microsoft.com/office/drawing/2014/main" id="{89A107B1-2616-4C5A-B687-F67586B5E82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Optimizer choices change different parts of the loop</a:t>
            </a:r>
            <a:endParaRPr/>
          </a:p>
        </p:txBody>
      </p:sp>
      <p:sp>
        <p:nvSpPr>
          <p:cNvPr id="1582560217" name="Straight Connector 1582560216">
            <a:extLst>
              <a:ext uri="{FF2B5EF4-FFF2-40B4-BE49-F238E27FC236}">
                <a16:creationId xmlns:a16="http://schemas.microsoft.com/office/drawing/2014/main" id="{E1B3718D-B195-4E64-B962-940BC8D1A4F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1380358908" name="Straight Connector 1380358907">
            <a:extLst>
              <a:ext uri="{FF2B5EF4-FFF2-40B4-BE49-F238E27FC236}">
                <a16:creationId xmlns:a16="http://schemas.microsoft.com/office/drawing/2014/main" id="{3048A4ED-EE3E-49BF-B78B-D98F1B5AAAF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944287384" name="Straight Connector 944287383">
            <a:extLst>
              <a:ext uri="{FF2B5EF4-FFF2-40B4-BE49-F238E27FC236}">
                <a16:creationId xmlns:a16="http://schemas.microsoft.com/office/drawing/2014/main" id="{73DC4A3C-251D-46F2-AFFE-E017BC32ADD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7945850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791747444" name="Rectangle 1791747443">
            <a:extLst>
              <a:ext uri="{FF2B5EF4-FFF2-40B4-BE49-F238E27FC236}">
                <a16:creationId xmlns:a16="http://schemas.microsoft.com/office/drawing/2014/main" id="{4C020480-D185-4309-B8B5-595C64A8BD6F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21 / 29</a:t>
            </a:r>
            <a:endParaRPr/>
          </a:p>
        </p:txBody>
      </p:sp>
      <p:sp>
        <p:nvSpPr>
          <p:cNvPr id="1848786425" name="Rectangle: Rounded Corners 1848786424">
            <a:extLst>
              <a:ext uri="{FF2B5EF4-FFF2-40B4-BE49-F238E27FC236}">
                <a16:creationId xmlns:a16="http://schemas.microsoft.com/office/drawing/2014/main" id="{7A4D5B35-B0D3-4E23-9E9F-7FE3468D2AC1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2476500" cy="1428750"/>
          </a:xfrm>
          <a:prstGeom prst="roundRect">
            <a:avLst>
              <a:gd name="adj" fmla="val 9333"/>
            </a:avLst>
          </a:prstGeom>
          <a:solidFill>
            <a:srgbClr val="EDF2FF"/>
          </a:solidFill>
          <a:ln w="14288">
            <a:solidFill>
              <a:srgbClr val="3158C9"/>
            </a:solidFill>
            <a:prstDash val="solid"/>
          </a:ln>
        </p:spPr>
        <p:txBody>
          <a:bodyPr lIns="152400" tIns="133350" rIns="152400" bIns="133350" anchor="ctr">
            <a:normAutofit fontScale="90002" lnSpcReduction="20000"/>
          </a:bodyPr>
          <a:lstStyle/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GRADIENT SOURCE</a:t>
            </a:r>
            <a:endParaRPr/>
          </a:p>
          <a:p>
            <a:pPr>
              <a:buNone/>
            </a:pPr>
            <a:endParaRPr/>
          </a:p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full batch</a:t>
            </a:r>
            <a:endParaRPr/>
          </a:p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mini-batch</a:t>
            </a:r>
            <a:endParaRPr/>
          </a:p>
        </p:txBody>
      </p:sp>
      <p:sp>
        <p:nvSpPr>
          <p:cNvPr id="449610905" name="Rectangle: Rounded Corners 449610904">
            <a:extLst>
              <a:ext uri="{FF2B5EF4-FFF2-40B4-BE49-F238E27FC236}">
                <a16:creationId xmlns:a16="http://schemas.microsoft.com/office/drawing/2014/main" id="{20519799-ABAB-4C6A-BF4A-3BC8CF290987}"/>
              </a:ext>
            </a:extLst>
          </p:cNvPr>
          <p:cNvSpPr>
            <a:spLocks noGrp="1"/>
          </p:cNvSpPr>
          <p:nvPr/>
        </p:nvSpPr>
        <p:spPr>
          <a:xfrm>
            <a:off x="4286250" y="1657350"/>
            <a:ext cx="2724150" cy="2476500"/>
          </a:xfrm>
          <a:prstGeom prst="roundRect">
            <a:avLst>
              <a:gd name="adj" fmla="val 5385"/>
            </a:avLst>
          </a:prstGeom>
          <a:solidFill>
            <a:srgbClr val="E9F6F3"/>
          </a:solidFill>
          <a:ln w="14288">
            <a:solidFill>
              <a:srgbClr val="13877F"/>
            </a:solidFill>
            <a:prstDash val="solid"/>
          </a:ln>
        </p:spPr>
        <p:txBody>
          <a:bodyPr lIns="152400" tIns="133350" rIns="152400" bIns="133350" anchor="ctr">
            <a:normAutofit/>
          </a:bodyPr>
          <a:lstStyle/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UPDATE RULE</a:t>
            </a:r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endParaRPr lang="en-US" dirty="0"/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SGD</a:t>
            </a:r>
            <a:endParaRPr dirty="0"/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Momentum</a:t>
            </a:r>
            <a:endParaRPr dirty="0"/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3877F"/>
                </a:solidFill>
                <a:latin typeface="Arial"/>
                <a:ea typeface="Arial"/>
                <a:cs typeface="Arial"/>
              </a:rPr>
              <a:t>Nesterov</a:t>
            </a:r>
            <a:endParaRPr dirty="0"/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3877F"/>
                </a:solidFill>
                <a:latin typeface="Arial"/>
                <a:ea typeface="Arial"/>
                <a:cs typeface="Arial"/>
              </a:rPr>
              <a:t>AdaGrad</a:t>
            </a:r>
            <a:r>
              <a:rPr sz="18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 / </a:t>
            </a:r>
            <a:r>
              <a:rPr sz="1800" b="1" dirty="0" err="1">
                <a:solidFill>
                  <a:srgbClr val="13877F"/>
                </a:solidFill>
                <a:latin typeface="Arial"/>
                <a:ea typeface="Arial"/>
                <a:cs typeface="Arial"/>
              </a:rPr>
              <a:t>RMSProp</a:t>
            </a:r>
            <a:endParaRPr dirty="0"/>
          </a:p>
          <a:p>
            <a:pPr algn="ctr">
              <a:buNone/>
              <a:defRPr sz="18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Adam / </a:t>
            </a:r>
            <a:r>
              <a:rPr sz="1800" b="1" dirty="0" err="1">
                <a:solidFill>
                  <a:srgbClr val="13877F"/>
                </a:solidFill>
                <a:latin typeface="Arial"/>
                <a:ea typeface="Arial"/>
                <a:cs typeface="Arial"/>
              </a:rPr>
              <a:t>AdamW</a:t>
            </a:r>
            <a:endParaRPr dirty="0"/>
          </a:p>
        </p:txBody>
      </p:sp>
      <p:sp>
        <p:nvSpPr>
          <p:cNvPr id="1594056332" name="Rectangle: Rounded Corners 1594056331">
            <a:extLst>
              <a:ext uri="{FF2B5EF4-FFF2-40B4-BE49-F238E27FC236}">
                <a16:creationId xmlns:a16="http://schemas.microsoft.com/office/drawing/2014/main" id="{B0054C85-074A-4A12-A6D8-1C854AF3D141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2857500" cy="1428750"/>
          </a:xfrm>
          <a:prstGeom prst="roundRect">
            <a:avLst>
              <a:gd name="adj" fmla="val 9333"/>
            </a:avLst>
          </a:prstGeom>
          <a:solidFill>
            <a:srgbClr val="FFF4E2"/>
          </a:solidFill>
          <a:ln w="14288">
            <a:solidFill>
              <a:srgbClr val="A9610B"/>
            </a:solidFill>
            <a:prstDash val="solid"/>
          </a:ln>
        </p:spPr>
        <p:txBody>
          <a:bodyPr lIns="152400" tIns="133350" rIns="152400" bIns="133350" anchor="ctr">
            <a:normAutofit fontScale="85814"/>
          </a:bodyPr>
          <a:lstStyle/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REGULARIZATION</a:t>
            </a:r>
            <a:endParaRPr/>
          </a:p>
          <a:p>
            <a:pPr>
              <a:buNone/>
            </a:pPr>
            <a:endParaRPr/>
          </a:p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weight decay</a:t>
            </a:r>
            <a:endParaRPr/>
          </a:p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(dropout is model-side)</a:t>
            </a:r>
            <a:endParaRPr/>
          </a:p>
        </p:txBody>
      </p:sp>
      <p:sp>
        <p:nvSpPr>
          <p:cNvPr id="110672518" name="Rectangle: Rounded Corners 110672517">
            <a:extLst>
              <a:ext uri="{FF2B5EF4-FFF2-40B4-BE49-F238E27FC236}">
                <a16:creationId xmlns:a16="http://schemas.microsoft.com/office/drawing/2014/main" id="{5A12E861-0DFA-4D13-9989-5831D74F8E29}"/>
              </a:ext>
            </a:extLst>
          </p:cNvPr>
          <p:cNvSpPr>
            <a:spLocks noGrp="1"/>
          </p:cNvSpPr>
          <p:nvPr/>
        </p:nvSpPr>
        <p:spPr>
          <a:xfrm>
            <a:off x="4286250" y="4572000"/>
            <a:ext cx="2724150" cy="1428750"/>
          </a:xfrm>
          <a:prstGeom prst="roundRect">
            <a:avLst>
              <a:gd name="adj" fmla="val 9333"/>
            </a:avLst>
          </a:prstGeom>
          <a:solidFill>
            <a:srgbClr val="FCECEF"/>
          </a:solidFill>
          <a:ln w="14288">
            <a:solidFill>
              <a:srgbClr val="B53D4A"/>
            </a:solidFill>
            <a:prstDash val="solid"/>
          </a:ln>
        </p:spPr>
        <p:txBody>
          <a:bodyPr lIns="152400" tIns="133350" rIns="152400" bIns="133350" anchor="ctr">
            <a:normAutofit fontScale="94833"/>
          </a:bodyPr>
          <a:lstStyle/>
          <a:p>
            <a:pPr algn="ctr">
              <a:buNone/>
              <a:defRPr sz="1900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B53D4A"/>
                </a:solidFill>
                <a:latin typeface="Arial"/>
                <a:ea typeface="Arial"/>
                <a:cs typeface="Arial"/>
              </a:rPr>
              <a:t>ALTERNATIVE METHODS</a:t>
            </a:r>
            <a:endParaRPr dirty="0"/>
          </a:p>
          <a:p>
            <a:pPr>
              <a:buNone/>
            </a:pPr>
            <a:endParaRPr dirty="0"/>
          </a:p>
          <a:p>
            <a:pPr algn="ctr">
              <a:buNone/>
              <a:defRPr sz="1900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B53D4A"/>
                </a:solidFill>
                <a:latin typeface="Arial"/>
                <a:ea typeface="Arial"/>
                <a:cs typeface="Arial"/>
              </a:rPr>
              <a:t>SAM · L-BFGS · Lion</a:t>
            </a:r>
            <a:endParaRPr dirty="0"/>
          </a:p>
        </p:txBody>
      </p:sp>
      <p:sp>
        <p:nvSpPr>
          <p:cNvPr id="2060622822" name="Rectangle 2060622821">
            <a:extLst>
              <a:ext uri="{FF2B5EF4-FFF2-40B4-BE49-F238E27FC236}">
                <a16:creationId xmlns:a16="http://schemas.microsoft.com/office/drawing/2014/main" id="{FFFDECA8-C7BF-45A4-B8CB-F14F274DD365}"/>
              </a:ext>
            </a:extLst>
          </p:cNvPr>
          <p:cNvSpPr>
            <a:spLocks noGrp="1"/>
          </p:cNvSpPr>
          <p:nvPr/>
        </p:nvSpPr>
        <p:spPr>
          <a:xfrm>
            <a:off x="2286000" y="6067425"/>
            <a:ext cx="762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036"/>
          </a:bodyPr>
          <a:lstStyle/>
          <a:p>
            <a:pPr algn="ctr">
              <a:lnSpc>
                <a:spcPct val="113999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B80"/>
                </a:solidFill>
                <a:latin typeface="Arial"/>
                <a:ea typeface="Arial"/>
                <a:cs typeface="Arial"/>
              </a:rPr>
              <a:t>These choices can be combined, but they answer different questions.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0296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570973" name="Rectangle 1286570972">
            <a:extLst>
              <a:ext uri="{FF2B5EF4-FFF2-40B4-BE49-F238E27FC236}">
                <a16:creationId xmlns:a16="http://schemas.microsoft.com/office/drawing/2014/main" id="{9102CE6E-2153-4155-AC38-E483B3E234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OPTIMIZERS</a:t>
            </a:r>
            <a:endParaRPr/>
          </a:p>
        </p:txBody>
      </p:sp>
      <p:sp>
        <p:nvSpPr>
          <p:cNvPr id="533791074" name="Rectangle 533791073">
            <a:extLst>
              <a:ext uri="{FF2B5EF4-FFF2-40B4-BE49-F238E27FC236}">
                <a16:creationId xmlns:a16="http://schemas.microsoft.com/office/drawing/2014/main" id="{E635F54A-9C62-455B-81B4-96B96025607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285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Compare mechanisms before comparing every optimizer</a:t>
            </a:r>
            <a:endParaRPr/>
          </a:p>
        </p:txBody>
      </p:sp>
      <p:sp>
        <p:nvSpPr>
          <p:cNvPr id="1354566029" name="Straight Connector 1354566028">
            <a:extLst>
              <a:ext uri="{FF2B5EF4-FFF2-40B4-BE49-F238E27FC236}">
                <a16:creationId xmlns:a16="http://schemas.microsoft.com/office/drawing/2014/main" id="{B504529D-13E9-412E-8FD0-886E9906800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13877F"/>
            </a:solidFill>
            <a:prstDash val="solid"/>
          </a:ln>
        </p:spPr>
      </p:sp>
      <p:sp>
        <p:nvSpPr>
          <p:cNvPr id="760797807" name="Straight Connector 760797806">
            <a:extLst>
              <a:ext uri="{FF2B5EF4-FFF2-40B4-BE49-F238E27FC236}">
                <a16:creationId xmlns:a16="http://schemas.microsoft.com/office/drawing/2014/main" id="{55E040CE-6B5D-4426-9CC1-237F0346D7F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291387824" name="Straight Connector 291387823">
            <a:extLst>
              <a:ext uri="{FF2B5EF4-FFF2-40B4-BE49-F238E27FC236}">
                <a16:creationId xmlns:a16="http://schemas.microsoft.com/office/drawing/2014/main" id="{EA94A364-86E0-47BF-9138-A2A0AA4D5CE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324183" cy="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5468983" name="Rectangle 15468982">
            <a:extLst>
              <a:ext uri="{FF2B5EF4-FFF2-40B4-BE49-F238E27FC236}">
                <a16:creationId xmlns:a16="http://schemas.microsoft.com/office/drawing/2014/main" id="{DDEBA04D-D8B4-4413-A382-C2523A15C0BD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22 / 29</a:t>
            </a:r>
            <a:endParaRPr/>
          </a:p>
        </p:txBody>
      </p:sp>
      <p:pic>
        <p:nvPicPr>
          <p:cNvPr id="1669347200" name="Graphic 2131341277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1390650"/>
            <a:ext cx="7524750" cy="4286250"/>
          </a:xfrm>
          <a:prstGeom prst="rect">
            <a:avLst/>
          </a:prstGeom>
        </p:spPr>
      </p:pic>
      <p:sp>
        <p:nvSpPr>
          <p:cNvPr id="1669347192" name="Rectangle 1669347191">
            <a:extLst>
              <a:ext uri="{FF2B5EF4-FFF2-40B4-BE49-F238E27FC236}">
                <a16:creationId xmlns:a16="http://schemas.microsoft.com/office/drawing/2014/main" id="{E6D31B03-AAC3-4987-A40B-465BB5839A24}"/>
              </a:ext>
            </a:extLst>
          </p:cNvPr>
          <p:cNvSpPr>
            <a:spLocks noGrp="1"/>
          </p:cNvSpPr>
          <p:nvPr/>
        </p:nvSpPr>
        <p:spPr>
          <a:xfrm>
            <a:off x="8407400" y="1866900"/>
            <a:ext cx="3016249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 fontScale="87410"/>
          </a:bodyPr>
          <a:lstStyle/>
          <a:p>
            <a:pPr marL="279400" indent="-139700">
              <a:lnSpc>
                <a:spcPct val="113999"/>
              </a:lnSpc>
              <a:spcAft>
                <a:spcPts val="1100"/>
              </a:spcAft>
              <a:buNone/>
              <a:defRPr sz="17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Same objective and starting point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100"/>
              </a:spcAft>
              <a:buNone/>
              <a:defRPr sz="17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Method-specific learning rates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100"/>
              </a:spcAft>
              <a:buNone/>
              <a:defRPr sz="17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Fixed step budget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100"/>
              </a:spcAft>
              <a:buNone/>
              <a:defRPr sz="175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Mechanism evidence, not a</a:t>
            </a:r>
            <a:r>
              <a:rPr lang="en-US"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 </a:t>
            </a:r>
            <a:r>
              <a:rPr sz="175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universal ranking</a:t>
            </a:r>
            <a:endParaRPr dirty="0"/>
          </a:p>
        </p:txBody>
      </p:sp>
      <p:sp>
        <p:nvSpPr>
          <p:cNvPr id="1629270003" name="Straight Connector 1629270002">
            <a:extLst>
              <a:ext uri="{FF2B5EF4-FFF2-40B4-BE49-F238E27FC236}">
                <a16:creationId xmlns:a16="http://schemas.microsoft.com/office/drawing/2014/main" id="{040EE702-DE8D-41B7-BED0-80346B39FD4F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0" cy="102870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1203142649" name="Rectangle 1203142648">
            <a:extLst>
              <a:ext uri="{FF2B5EF4-FFF2-40B4-BE49-F238E27FC236}">
                <a16:creationId xmlns:a16="http://schemas.microsoft.com/office/drawing/2014/main" id="{75CDC4BF-9793-4943-BC3E-F9BA0A03892D}"/>
              </a:ext>
            </a:extLst>
          </p:cNvPr>
          <p:cNvSpPr>
            <a:spLocks noGrp="1"/>
          </p:cNvSpPr>
          <p:nvPr/>
        </p:nvSpPr>
        <p:spPr>
          <a:xfrm>
            <a:off x="8724900" y="455295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TEACHING SEQUENCE</a:t>
            </a:r>
            <a:endParaRPr/>
          </a:p>
        </p:txBody>
      </p:sp>
      <p:sp>
        <p:nvSpPr>
          <p:cNvPr id="1230118123" name="Rectangle 1230118122">
            <a:extLst>
              <a:ext uri="{FF2B5EF4-FFF2-40B4-BE49-F238E27FC236}">
                <a16:creationId xmlns:a16="http://schemas.microsoft.com/office/drawing/2014/main" id="{08D70E8A-E6FE-442A-BAA5-B4CF2C4BC5CB}"/>
              </a:ext>
            </a:extLst>
          </p:cNvPr>
          <p:cNvSpPr>
            <a:spLocks noGrp="1"/>
          </p:cNvSpPr>
          <p:nvPr/>
        </p:nvSpPr>
        <p:spPr>
          <a:xfrm>
            <a:off x="8724900" y="4800600"/>
            <a:ext cx="2381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4660" lnSpcReduction="10000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Show one pair, pause, predict the next step, then reveal the trajectory.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623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501252" name="Rectangle 1069501251">
            <a:extLst>
              <a:ext uri="{FF2B5EF4-FFF2-40B4-BE49-F238E27FC236}">
                <a16:creationId xmlns:a16="http://schemas.microsoft.com/office/drawing/2014/main" id="{DD735B04-23EC-4C4B-B35B-B3B2A41BD0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427146834" name="Rectangle 427146833">
            <a:extLst>
              <a:ext uri="{FF2B5EF4-FFF2-40B4-BE49-F238E27FC236}">
                <a16:creationId xmlns:a16="http://schemas.microsoft.com/office/drawing/2014/main" id="{52CDDC5A-3659-48F5-8463-86270420761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same update loop appears in a NumPy CNN</a:t>
            </a:r>
            <a:endParaRPr/>
          </a:p>
        </p:txBody>
      </p:sp>
      <p:sp>
        <p:nvSpPr>
          <p:cNvPr id="908492854" name="Straight Connector 908492853">
            <a:extLst>
              <a:ext uri="{FF2B5EF4-FFF2-40B4-BE49-F238E27FC236}">
                <a16:creationId xmlns:a16="http://schemas.microsoft.com/office/drawing/2014/main" id="{6B2CBD57-033B-450F-B724-277658C1264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6652A3"/>
            </a:solidFill>
            <a:prstDash val="solid"/>
          </a:ln>
        </p:spPr>
      </p:sp>
      <p:sp>
        <p:nvSpPr>
          <p:cNvPr id="1893993262" name="Straight Connector 1893993261">
            <a:extLst>
              <a:ext uri="{FF2B5EF4-FFF2-40B4-BE49-F238E27FC236}">
                <a16:creationId xmlns:a16="http://schemas.microsoft.com/office/drawing/2014/main" id="{96029A59-65F2-4ADB-BC0B-392FE92A135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256181082" name="Straight Connector 1256181081">
            <a:extLst>
              <a:ext uri="{FF2B5EF4-FFF2-40B4-BE49-F238E27FC236}">
                <a16:creationId xmlns:a16="http://schemas.microsoft.com/office/drawing/2014/main" id="{7F4992E6-DE36-40E9-BAFA-6ABAADCB02A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8702612" cy="0"/>
          </a:xfrm>
          <a:prstGeom prst="line">
            <a:avLst/>
          </a:prstGeom>
          <a:noFill/>
          <a:ln w="28575">
            <a:solidFill>
              <a:srgbClr val="6652A3"/>
            </a:solidFill>
            <a:prstDash val="solid"/>
          </a:ln>
        </p:spPr>
      </p:sp>
      <p:sp>
        <p:nvSpPr>
          <p:cNvPr id="596953804" name="Rectangle 596953803">
            <a:extLst>
              <a:ext uri="{FF2B5EF4-FFF2-40B4-BE49-F238E27FC236}">
                <a16:creationId xmlns:a16="http://schemas.microsoft.com/office/drawing/2014/main" id="{53509A43-44C7-47E7-8842-B1D9B1428634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23 / 29</a:t>
            </a:r>
            <a:endParaRPr/>
          </a:p>
        </p:txBody>
      </p:sp>
      <p:sp>
        <p:nvSpPr>
          <p:cNvPr id="93558196" name="Rectangle 93558195">
            <a:extLst>
              <a:ext uri="{FF2B5EF4-FFF2-40B4-BE49-F238E27FC236}">
                <a16:creationId xmlns:a16="http://schemas.microsoft.com/office/drawing/2014/main" id="{59976F6B-A80C-49C3-B88D-E8955E2F887B}"/>
              </a:ext>
            </a:extLst>
          </p:cNvPr>
          <p:cNvSpPr>
            <a:spLocks noGrp="1"/>
          </p:cNvSpPr>
          <p:nvPr/>
        </p:nvSpPr>
        <p:spPr>
          <a:xfrm>
            <a:off x="876299" y="60007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036"/>
          </a:bodyPr>
          <a:lstStyle/>
          <a:p>
            <a:pPr algn="l">
              <a:lnSpc>
                <a:spcPct val="113999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5D6B80"/>
                </a:solidFill>
                <a:latin typeface="Arial"/>
                <a:ea typeface="Arial"/>
                <a:cs typeface="Arial"/>
              </a:rPr>
              <a:t>Input → feature learning → classification</a:t>
            </a:r>
            <a:endParaRPr dirty="0"/>
          </a:p>
        </p:txBody>
      </p:sp>
      <p:pic>
        <p:nvPicPr>
          <p:cNvPr id="10" name="Picture 1476854806">
            <a:extLst>
              <a:ext uri="{FF2B5EF4-FFF2-40B4-BE49-F238E27FC236}">
                <a16:creationId xmlns:a16="http://schemas.microsoft.com/office/drawing/2014/main" id="{3F679288-8A4F-42FD-B449-F9487BC891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1823175" y="1266824"/>
            <a:ext cx="8195732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8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45894" name="Rectangle 335945893">
            <a:extLst>
              <a:ext uri="{FF2B5EF4-FFF2-40B4-BE49-F238E27FC236}">
                <a16:creationId xmlns:a16="http://schemas.microsoft.com/office/drawing/2014/main" id="{CE5F43BB-FBE1-4B0A-8F7A-CBC94D185A2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1814053978" name="Rectangle 1814053977">
            <a:extLst>
              <a:ext uri="{FF2B5EF4-FFF2-40B4-BE49-F238E27FC236}">
                <a16:creationId xmlns:a16="http://schemas.microsoft.com/office/drawing/2014/main" id="{394D616B-A5D1-4D2E-BF27-D08391373555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Forward pass, loss, backpropagation, update</a:t>
            </a:r>
            <a:endParaRPr/>
          </a:p>
        </p:txBody>
      </p:sp>
      <p:sp>
        <p:nvSpPr>
          <p:cNvPr id="1971977892" name="Straight Connector 1971977891">
            <a:extLst>
              <a:ext uri="{FF2B5EF4-FFF2-40B4-BE49-F238E27FC236}">
                <a16:creationId xmlns:a16="http://schemas.microsoft.com/office/drawing/2014/main" id="{0306BA4E-8ACA-4375-B744-8830A9B084E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6652A3"/>
            </a:solidFill>
            <a:prstDash val="solid"/>
          </a:ln>
        </p:spPr>
      </p:sp>
      <p:sp>
        <p:nvSpPr>
          <p:cNvPr id="981125959" name="Straight Connector 981125958">
            <a:extLst>
              <a:ext uri="{FF2B5EF4-FFF2-40B4-BE49-F238E27FC236}">
                <a16:creationId xmlns:a16="http://schemas.microsoft.com/office/drawing/2014/main" id="{8917BC49-7F3D-4CBA-9491-5FB7451B4FC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88608508" name="Straight Connector 188608507">
            <a:extLst>
              <a:ext uri="{FF2B5EF4-FFF2-40B4-BE49-F238E27FC236}">
                <a16:creationId xmlns:a16="http://schemas.microsoft.com/office/drawing/2014/main" id="{7742812A-FD7E-41C2-84D6-C5644473E2E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080945" cy="0"/>
          </a:xfrm>
          <a:prstGeom prst="line">
            <a:avLst/>
          </a:prstGeom>
          <a:noFill/>
          <a:ln w="28575">
            <a:solidFill>
              <a:srgbClr val="6652A3"/>
            </a:solidFill>
            <a:prstDash val="solid"/>
          </a:ln>
        </p:spPr>
      </p:sp>
      <p:sp>
        <p:nvSpPr>
          <p:cNvPr id="2146332996" name="Rectangle 2146332995">
            <a:extLst>
              <a:ext uri="{FF2B5EF4-FFF2-40B4-BE49-F238E27FC236}">
                <a16:creationId xmlns:a16="http://schemas.microsoft.com/office/drawing/2014/main" id="{DBA5A48F-C354-48D0-B3B3-68565B7B3DAC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24 / 29</a:t>
            </a:r>
            <a:endParaRPr/>
          </a:p>
        </p:txBody>
      </p:sp>
      <p:pic>
        <p:nvPicPr>
          <p:cNvPr id="2146333004" name="Picture 1476854806"/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1998133" y="1390650"/>
            <a:ext cx="8195732" cy="4610100"/>
          </a:xfrm>
          <a:prstGeom prst="rect">
            <a:avLst/>
          </a:prstGeom>
        </p:spPr>
      </p:pic>
      <p:sp>
        <p:nvSpPr>
          <p:cNvPr id="1618449843" name="Rectangle 1618449842">
            <a:extLst>
              <a:ext uri="{FF2B5EF4-FFF2-40B4-BE49-F238E27FC236}">
                <a16:creationId xmlns:a16="http://schemas.microsoft.com/office/drawing/2014/main" id="{C69EA720-E85A-4F06-B866-475E8A4A99F2}"/>
              </a:ext>
            </a:extLst>
          </p:cNvPr>
          <p:cNvSpPr>
            <a:spLocks noGrp="1"/>
          </p:cNvSpPr>
          <p:nvPr/>
        </p:nvSpPr>
        <p:spPr>
          <a:xfrm>
            <a:off x="876299" y="6000750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036"/>
          </a:bodyPr>
          <a:lstStyle/>
          <a:p>
            <a:pPr algn="l">
              <a:lnSpc>
                <a:spcPct val="113999"/>
              </a:lnSpc>
              <a:buNone/>
              <a:defRPr sz="1650" b="0" i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B80"/>
                </a:solidFill>
                <a:latin typeface="Arial"/>
                <a:ea typeface="Arial"/>
                <a:cs typeface="Arial"/>
              </a:rPr>
              <a:t>Backpropagation computes gradients. The optimizer transforms them into parameter updates.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074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417422" name="Rectangle 1154417421">
            <a:extLst>
              <a:ext uri="{FF2B5EF4-FFF2-40B4-BE49-F238E27FC236}">
                <a16:creationId xmlns:a16="http://schemas.microsoft.com/office/drawing/2014/main" id="{7F540027-F2D4-4F3E-B435-B779A3B0A7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1421936841" name="Rectangle 1421936840">
            <a:extLst>
              <a:ext uri="{FF2B5EF4-FFF2-40B4-BE49-F238E27FC236}">
                <a16:creationId xmlns:a16="http://schemas.microsoft.com/office/drawing/2014/main" id="{29F22ACD-A501-4557-9A20-73C8CC48E5C2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fair comparison needs controlled conditions</a:t>
            </a:r>
            <a:endParaRPr/>
          </a:p>
        </p:txBody>
      </p:sp>
      <p:sp>
        <p:nvSpPr>
          <p:cNvPr id="347353814" name="Straight Connector 347353813">
            <a:extLst>
              <a:ext uri="{FF2B5EF4-FFF2-40B4-BE49-F238E27FC236}">
                <a16:creationId xmlns:a16="http://schemas.microsoft.com/office/drawing/2014/main" id="{1D65BD91-8BD6-4420-832A-9F2014C8C07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6652A3"/>
            </a:solidFill>
            <a:prstDash val="solid"/>
          </a:ln>
        </p:spPr>
      </p:sp>
      <p:sp>
        <p:nvSpPr>
          <p:cNvPr id="2061107544" name="Straight Connector 2061107543">
            <a:extLst>
              <a:ext uri="{FF2B5EF4-FFF2-40B4-BE49-F238E27FC236}">
                <a16:creationId xmlns:a16="http://schemas.microsoft.com/office/drawing/2014/main" id="{13051059-B19F-4335-B217-731C3CFECAB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170947628" name="Straight Connector 1170947627">
            <a:extLst>
              <a:ext uri="{FF2B5EF4-FFF2-40B4-BE49-F238E27FC236}">
                <a16:creationId xmlns:a16="http://schemas.microsoft.com/office/drawing/2014/main" id="{42E38A1F-9557-4272-88FD-86005BCF44F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459278" cy="0"/>
          </a:xfrm>
          <a:prstGeom prst="line">
            <a:avLst/>
          </a:prstGeom>
          <a:noFill/>
          <a:ln w="28575">
            <a:solidFill>
              <a:srgbClr val="6652A3"/>
            </a:solidFill>
            <a:prstDash val="solid"/>
          </a:ln>
        </p:spPr>
      </p:sp>
      <p:sp>
        <p:nvSpPr>
          <p:cNvPr id="124219271" name="Rectangle 124219270">
            <a:extLst>
              <a:ext uri="{FF2B5EF4-FFF2-40B4-BE49-F238E27FC236}">
                <a16:creationId xmlns:a16="http://schemas.microsoft.com/office/drawing/2014/main" id="{3C6CAFF9-F71C-471F-9FC7-B3D5F29A249C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25 / 29</a:t>
            </a:r>
            <a:endParaRPr/>
          </a:p>
        </p:txBody>
      </p:sp>
      <p:sp>
        <p:nvSpPr>
          <p:cNvPr id="1212089329" name="Rectangle 1212089328">
            <a:extLst>
              <a:ext uri="{FF2B5EF4-FFF2-40B4-BE49-F238E27FC236}">
                <a16:creationId xmlns:a16="http://schemas.microsoft.com/office/drawing/2014/main" id="{056761FC-3E66-4974-99F9-070FADC185FE}"/>
              </a:ext>
            </a:extLst>
          </p:cNvPr>
          <p:cNvSpPr>
            <a:spLocks noGrp="1"/>
          </p:cNvSpPr>
          <p:nvPr/>
        </p:nvSpPr>
        <p:spPr>
          <a:xfrm>
            <a:off x="876299" y="1619250"/>
            <a:ext cx="65722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 fontScale="95943"/>
          </a:bodyPr>
          <a:lstStyle/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Hold the architecture, data split, initialization, batch order, and step budget constant.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Use validation data during development and reserve the test set for final evaluation.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Compare multiple random seeds and report variability with the mean.</a:t>
            </a:r>
            <a:endParaRPr dirty="0"/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Report accuracy, loss, runtime, and the comparison conditions together.</a:t>
            </a:r>
            <a:endParaRPr dirty="0"/>
          </a:p>
        </p:txBody>
      </p:sp>
      <p:sp>
        <p:nvSpPr>
          <p:cNvPr id="1711458612" name="Straight Connector 1711458611">
            <a:extLst>
              <a:ext uri="{FF2B5EF4-FFF2-40B4-BE49-F238E27FC236}">
                <a16:creationId xmlns:a16="http://schemas.microsoft.com/office/drawing/2014/main" id="{F588F349-C705-4C7B-8AE3-1557C24199EE}"/>
              </a:ext>
            </a:extLst>
          </p:cNvPr>
          <p:cNvSpPr>
            <a:spLocks noGrp="1"/>
          </p:cNvSpPr>
          <p:nvPr/>
        </p:nvSpPr>
        <p:spPr>
          <a:xfrm>
            <a:off x="7905750" y="2305050"/>
            <a:ext cx="0" cy="1924050"/>
          </a:xfrm>
          <a:prstGeom prst="line">
            <a:avLst/>
          </a:prstGeom>
          <a:noFill/>
          <a:ln w="28575">
            <a:solidFill>
              <a:srgbClr val="A9610B"/>
            </a:solidFill>
            <a:prstDash val="solid"/>
          </a:ln>
        </p:spPr>
      </p:sp>
      <p:sp>
        <p:nvSpPr>
          <p:cNvPr id="1771781522" name="Rectangle 1771781521">
            <a:extLst>
              <a:ext uri="{FF2B5EF4-FFF2-40B4-BE49-F238E27FC236}">
                <a16:creationId xmlns:a16="http://schemas.microsoft.com/office/drawing/2014/main" id="{A3304E12-F8FD-428F-8335-6B17960B92F3}"/>
              </a:ext>
            </a:extLst>
          </p:cNvPr>
          <p:cNvSpPr>
            <a:spLocks noGrp="1"/>
          </p:cNvSpPr>
          <p:nvPr/>
        </p:nvSpPr>
        <p:spPr>
          <a:xfrm>
            <a:off x="8058150" y="2343150"/>
            <a:ext cx="2667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A9610B"/>
                </a:solidFill>
                <a:latin typeface="Arial"/>
                <a:ea typeface="Arial"/>
                <a:cs typeface="Arial"/>
              </a:rPr>
              <a:t>INTERPRETATION</a:t>
            </a:r>
            <a:endParaRPr/>
          </a:p>
        </p:txBody>
      </p:sp>
      <p:sp>
        <p:nvSpPr>
          <p:cNvPr id="179081019" name="Rectangle 179081018">
            <a:extLst>
              <a:ext uri="{FF2B5EF4-FFF2-40B4-BE49-F238E27FC236}">
                <a16:creationId xmlns:a16="http://schemas.microsoft.com/office/drawing/2014/main" id="{13C6D90C-EA62-4273-ACDC-AA41922BC1AE}"/>
              </a:ext>
            </a:extLst>
          </p:cNvPr>
          <p:cNvSpPr>
            <a:spLocks noGrp="1"/>
          </p:cNvSpPr>
          <p:nvPr/>
        </p:nvSpPr>
        <p:spPr>
          <a:xfrm>
            <a:off x="8058150" y="2590800"/>
            <a:ext cx="26670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5510"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A faster path on one two-dimensional surface is evidence about a mechanism, not a universal performance claim.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5457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710459" name="Rectangle 1949710458">
            <a:extLst>
              <a:ext uri="{FF2B5EF4-FFF2-40B4-BE49-F238E27FC236}">
                <a16:creationId xmlns:a16="http://schemas.microsoft.com/office/drawing/2014/main" id="{8AC4ACE5-91A6-48FD-9D4D-31BC91D69B0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1264097385" name="Rectangle 1264097384">
            <a:extLst>
              <a:ext uri="{FF2B5EF4-FFF2-40B4-BE49-F238E27FC236}">
                <a16:creationId xmlns:a16="http://schemas.microsoft.com/office/drawing/2014/main" id="{76C1EA2F-C3D1-47AB-A39B-A80901E6455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711"/>
          </a:bodyPr>
          <a:lstStyle/>
          <a:p>
            <a:pPr algn="l">
              <a:lnSpc>
                <a:spcPct val="113999"/>
              </a:lnSpc>
              <a:buNone/>
              <a:defRPr sz="31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100" b="1" i="0" dirty="0" err="1">
                <a:solidFill>
                  <a:srgbClr val="17243A"/>
                </a:solidFill>
                <a:latin typeface="Arial"/>
                <a:ea typeface="Arial"/>
                <a:cs typeface="Arial"/>
              </a:rPr>
              <a:t>Softmax</a:t>
            </a:r>
            <a:r>
              <a:rPr sz="3100" b="1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 cross-entropy starts backpropagation</a:t>
            </a:r>
            <a:endParaRPr dirty="0"/>
          </a:p>
        </p:txBody>
      </p:sp>
      <p:sp>
        <p:nvSpPr>
          <p:cNvPr id="1181536248" name="Straight Connector 1181536247">
            <a:extLst>
              <a:ext uri="{FF2B5EF4-FFF2-40B4-BE49-F238E27FC236}">
                <a16:creationId xmlns:a16="http://schemas.microsoft.com/office/drawing/2014/main" id="{F3E77C4A-25FF-48C8-B0DE-4D3B97B52E7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6652A3"/>
            </a:solidFill>
            <a:prstDash val="solid"/>
          </a:ln>
        </p:spPr>
      </p:sp>
      <p:sp>
        <p:nvSpPr>
          <p:cNvPr id="287581067" name="Straight Connector 287581066">
            <a:extLst>
              <a:ext uri="{FF2B5EF4-FFF2-40B4-BE49-F238E27FC236}">
                <a16:creationId xmlns:a16="http://schemas.microsoft.com/office/drawing/2014/main" id="{632DB8C1-14C4-491A-A6FB-3C5B9998FF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774986092" name="Straight Connector 1774986091">
            <a:extLst>
              <a:ext uri="{FF2B5EF4-FFF2-40B4-BE49-F238E27FC236}">
                <a16:creationId xmlns:a16="http://schemas.microsoft.com/office/drawing/2014/main" id="{B1B4FB1D-3286-4FDB-9012-83A769241AE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9837706" cy="0"/>
          </a:xfrm>
          <a:prstGeom prst="line">
            <a:avLst/>
          </a:prstGeom>
          <a:noFill/>
          <a:ln w="28575">
            <a:solidFill>
              <a:srgbClr val="6652A3"/>
            </a:solidFill>
            <a:prstDash val="solid"/>
          </a:ln>
        </p:spPr>
      </p:sp>
      <p:sp>
        <p:nvSpPr>
          <p:cNvPr id="1202559271" name="Rectangle 1202559270">
            <a:extLst>
              <a:ext uri="{FF2B5EF4-FFF2-40B4-BE49-F238E27FC236}">
                <a16:creationId xmlns:a16="http://schemas.microsoft.com/office/drawing/2014/main" id="{40FE9012-9E6C-40B3-ABFC-A7AA838234D0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26 / 29</a:t>
            </a:r>
            <a:endParaRPr/>
          </a:p>
        </p:txBody>
      </p:sp>
      <p:sp>
        <p:nvSpPr>
          <p:cNvPr id="1703953414" name="Straight Connector 1703953413">
            <a:extLst>
              <a:ext uri="{FF2B5EF4-FFF2-40B4-BE49-F238E27FC236}">
                <a16:creationId xmlns:a16="http://schemas.microsoft.com/office/drawing/2014/main" id="{ABA345B8-9A57-4164-97F5-0A7ADA769EFF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0" cy="1009650"/>
          </a:xfrm>
          <a:prstGeom prst="line">
            <a:avLst/>
          </a:prstGeom>
          <a:noFill/>
          <a:ln w="23813">
            <a:solidFill>
              <a:srgbClr val="3158C9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7960516" name="Rectangle 1067960515">
                <a:extLst>
                  <a:ext uri="{FF2B5EF4-FFF2-40B4-BE49-F238E27FC236}">
                    <a16:creationId xmlns:a16="http://schemas.microsoft.com/office/drawing/2014/main" id="{CBB89150-152C-453D-9376-0D797298B3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1524000"/>
                <a:ext cx="495300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rmAutofit lnSpcReduction="10000"/>
              </a:bodyPr>
              <a:lstStyle/>
              <a:p>
                <a:pPr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350" i="1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ar-AE" sz="2350" b="0" i="1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𝑝</m:t>
                        </m:r>
                      </m:e>
                      <m:sub>
                        <m:r>
                          <a:rPr lang="en-US" sz="2350" b="0" i="1" smtClean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𝑘</m:t>
                        </m:r>
                      </m:sub>
                    </m:sSub>
                    <m:r>
                      <a:rPr lang="ar-AE" sz="2350" i="1" dirty="0" smtClean="0">
                        <a:solidFill>
                          <a:srgbClr val="3158C9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=</m:t>
                    </m:r>
                  </m:oMath>
                </a14:m>
                <a:r>
                  <a:rPr lang="ar-AE" sz="2350" dirty="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50" i="1" dirty="0">
                            <a:solidFill>
                              <a:srgbClr val="3158C9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350" i="1" dirty="0" smtClean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sSupPr>
                          <m:e>
                            <m:r>
                              <a:rPr lang="en-US" sz="2350" i="1" dirty="0" smtClean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350" i="1" dirty="0">
                                    <a:solidFill>
                                      <a:srgbClr val="3158C9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350" i="1" dirty="0" err="1">
                                    <a:solidFill>
                                      <a:srgbClr val="3158C9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350" i="1" dirty="0" err="1">
                                    <a:solidFill>
                                      <a:srgbClr val="3158C9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350" i="1" dirty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350" i="1" dirty="0">
                                <a:solidFill>
                                  <a:srgbClr val="3158C9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350" i="1" dirty="0">
                                    <a:solidFill>
                                      <a:srgbClr val="3158C9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350" i="1" dirty="0" err="1">
                                    <a:solidFill>
                                      <a:srgbClr val="3158C9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2350" i="1" dirty="0">
                                        <a:solidFill>
                                          <a:srgbClr val="3158C9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350" i="1" dirty="0">
                                        <a:solidFill>
                                          <a:srgbClr val="3158C9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350" i="1" dirty="0">
                                        <a:solidFill>
                                          <a:srgbClr val="3158C9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  <m:t>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US" sz="2350" dirty="0">
                  <a:solidFill>
                    <a:srgbClr val="3158C9"/>
                  </a:solidFill>
                  <a:latin typeface="Arial"/>
                  <a:ea typeface="Arial"/>
                  <a:cs typeface="Arial"/>
                </a:endParaRPr>
              </a:p>
              <a:p>
                <a:pPr>
                  <a:defRPr sz="2350">
                    <a:solidFill>
                      <a:srgbClr val="3158C9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𝐿</m:t>
                      </m:r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−</m:t>
                      </m:r>
                      <m:func>
                        <m:funcPr>
                          <m:ctrlPr>
                            <a:rPr lang="en-US" sz="2350" i="1" dirty="0" smtClean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50" i="0" dirty="0" smtClean="0">
                              <a:solidFill>
                                <a:srgbClr val="3158C9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2350" i="1" dirty="0">
                                  <a:solidFill>
                                    <a:srgbClr val="3158C9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2350" i="1" dirty="0" err="1">
                                  <a:solidFill>
                                    <a:srgbClr val="3158C9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350" i="1" dirty="0">
                                  <a:solidFill>
                                    <a:srgbClr val="3158C9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𝑦</m:t>
                              </m:r>
                            </m:sub>
                          </m:sSub>
                        </m:e>
                      </m:func>
                      <m:r>
                        <a:rPr lang="en-US" sz="2350" i="1" dirty="0" smtClean="0">
                          <a:solidFill>
                            <a:srgbClr val="3158C9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⁡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67960516" name="Rectangle 1067960515">
                <a:extLst>
                  <a:ext uri="{FF2B5EF4-FFF2-40B4-BE49-F238E27FC236}">
                    <a16:creationId xmlns:a16="http://schemas.microsoft.com/office/drawing/2014/main" id="{CBB89150-152C-453D-9376-0D797298B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524000"/>
                <a:ext cx="4953000" cy="1200150"/>
              </a:xfrm>
              <a:prstGeom prst="rect">
                <a:avLst/>
              </a:prstGeom>
              <a:blipFill>
                <a:blip r:embed="rId3"/>
                <a:stretch>
                  <a:fillRect l="-135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8407306" name="Straight Connector 1318407305">
            <a:extLst>
              <a:ext uri="{FF2B5EF4-FFF2-40B4-BE49-F238E27FC236}">
                <a16:creationId xmlns:a16="http://schemas.microsoft.com/office/drawing/2014/main" id="{787B3BD3-8D7C-48AA-BFD2-AE4695B223D1}"/>
              </a:ext>
            </a:extLst>
          </p:cNvPr>
          <p:cNvSpPr>
            <a:spLocks noGrp="1"/>
          </p:cNvSpPr>
          <p:nvPr/>
        </p:nvSpPr>
        <p:spPr>
          <a:xfrm>
            <a:off x="819150" y="3314700"/>
            <a:ext cx="0" cy="590549"/>
          </a:xfrm>
          <a:prstGeom prst="line">
            <a:avLst/>
          </a:prstGeom>
          <a:noFill/>
          <a:ln w="23813">
            <a:solidFill>
              <a:srgbClr val="13877F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16999" name="Rectangle 23916998">
                <a:extLst>
                  <a:ext uri="{FF2B5EF4-FFF2-40B4-BE49-F238E27FC236}">
                    <a16:creationId xmlns:a16="http://schemas.microsoft.com/office/drawing/2014/main" id="{D9DA8E70-542A-40E2-89AB-9B95EA7B44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3219449"/>
                <a:ext cx="5619750" cy="781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Autofit/>
              </a:bodyPr>
              <a:lstStyle/>
              <a:p>
                <a:pPr>
                  <a:defRPr sz="2550">
                    <a:solidFill>
                      <a:srgbClr val="13877F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23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en-US" sz="2350" i="1" dirty="0" smtClean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𝐿</m:t>
                          </m:r>
                        </m:num>
                        <m:den>
                          <m:r>
                            <a:rPr lang="en-US" sz="2350" i="1" dirty="0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350" i="1" dirty="0" err="1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2350" i="1" dirty="0" err="1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350" i="1" dirty="0" err="1">
                                  <a:solidFill>
                                    <a:srgbClr val="13877F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sSub>
                        <m:sSubPr>
                          <m:ctrlPr>
                            <a:rPr lang="en-US" sz="2350" i="1" dirty="0" err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350" i="1" dirty="0" err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𝑝</m:t>
                          </m:r>
                        </m:e>
                        <m:sub>
                          <m:r>
                            <a:rPr lang="en-US" sz="2350" i="1" dirty="0" err="1">
                              <a:solidFill>
                                <a:srgbClr val="13877F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𝑘</m:t>
                          </m:r>
                        </m:sub>
                      </m:sSub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1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{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𝑘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𝑦</m:t>
                      </m:r>
                      <m:r>
                        <a:rPr lang="en-US" sz="2350" i="1" dirty="0">
                          <a:solidFill>
                            <a:srgbClr val="13877F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}</m:t>
                      </m:r>
                    </m:oMath>
                  </m:oMathPara>
                </a14:m>
                <a:endParaRPr sz="2350" dirty="0"/>
              </a:p>
            </p:txBody>
          </p:sp>
        </mc:Choice>
        <mc:Fallback>
          <p:sp>
            <p:nvSpPr>
              <p:cNvPr id="23916999" name="Rectangle 23916998">
                <a:extLst>
                  <a:ext uri="{FF2B5EF4-FFF2-40B4-BE49-F238E27FC236}">
                    <a16:creationId xmlns:a16="http://schemas.microsoft.com/office/drawing/2014/main" id="{D9DA8E70-542A-40E2-89AB-9B95EA7B44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219449"/>
                <a:ext cx="5619750" cy="781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03321" name="Straight Connector 11403320">
            <a:extLst>
              <a:ext uri="{FF2B5EF4-FFF2-40B4-BE49-F238E27FC236}">
                <a16:creationId xmlns:a16="http://schemas.microsoft.com/office/drawing/2014/main" id="{BE261303-058A-4D70-94A0-FD54F4BA3864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0" cy="1009650"/>
          </a:xfrm>
          <a:prstGeom prst="line">
            <a:avLst/>
          </a:prstGeom>
          <a:noFill/>
          <a:ln w="23813">
            <a:solidFill>
              <a:srgbClr val="A9610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8834107" name="Rectangle 448834106">
                <a:extLst>
                  <a:ext uri="{FF2B5EF4-FFF2-40B4-BE49-F238E27FC236}">
                    <a16:creationId xmlns:a16="http://schemas.microsoft.com/office/drawing/2014/main" id="{9BF5093F-E2E6-41A9-8316-5DC3BDEB7EA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9650" y="4495800"/>
                <a:ext cx="5619750" cy="12001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38100" tIns="76200" rIns="38100" bIns="76200" anchor="ctr">
                <a:noAutofit/>
              </a:bodyPr>
              <a:lstStyle/>
              <a:p>
                <a:pPr>
                  <a:defRPr sz="2250">
                    <a:solidFill>
                      <a:srgbClr val="A9610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𝐿</m:t>
                          </m:r>
                        </m:num>
                        <m:den>
                          <m:r>
                            <a:rPr lang="ar-AE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ar-AE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𝑊</m:t>
                          </m:r>
                        </m:den>
                      </m:f>
                      <m:r>
                        <a:rPr lang="ar-AE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f>
                        <m:fPr>
                          <m:ctrlP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ar-AE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𝐿</m:t>
                          </m:r>
                        </m:num>
                        <m:den>
                          <m:r>
                            <a:rPr lang="ar-AE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ar-AE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𝑧</m:t>
                          </m:r>
                        </m:den>
                      </m:f>
                      <m:r>
                        <a:rPr lang="ar-AE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h</m:t>
                      </m:r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ᵀ</m:t>
                      </m:r>
                    </m:oMath>
                  </m:oMathPara>
                </a14:m>
                <a:endParaRPr lang="en-US" sz="2350" dirty="0"/>
              </a:p>
              <a:p>
                <a:pPr>
                  <a:defRPr sz="2250">
                    <a:solidFill>
                      <a:srgbClr val="A9610B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𝑊</m:t>
                      </m:r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← </m:t>
                      </m:r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𝑊</m:t>
                      </m:r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</m:t>
                      </m:r>
                      <m:r>
                        <a:rPr lang="en-US" sz="2350" i="1" dirty="0" smtClean="0">
                          <a:solidFill>
                            <a:srgbClr val="A9610B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f>
                        <m:fPr>
                          <m:ctrlPr>
                            <a:rPr lang="en-US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en-US" sz="2350" i="1" dirty="0" smtClean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𝐿</m:t>
                          </m:r>
                        </m:num>
                        <m:den>
                          <m:r>
                            <a:rPr lang="en-US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𝜕</m:t>
                          </m:r>
                          <m:r>
                            <a:rPr lang="en-US" sz="2350" i="1" dirty="0">
                              <a:solidFill>
                                <a:srgbClr val="A9610B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sz="2350" dirty="0"/>
              </a:p>
            </p:txBody>
          </p:sp>
        </mc:Choice>
        <mc:Fallback>
          <p:sp>
            <p:nvSpPr>
              <p:cNvPr id="448834107" name="Rectangle 448834106">
                <a:extLst>
                  <a:ext uri="{FF2B5EF4-FFF2-40B4-BE49-F238E27FC236}">
                    <a16:creationId xmlns:a16="http://schemas.microsoft.com/office/drawing/2014/main" id="{9BF5093F-E2E6-41A9-8316-5DC3BDEB7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495800"/>
                <a:ext cx="5619750" cy="1200150"/>
              </a:xfrm>
              <a:prstGeom prst="rect">
                <a:avLst/>
              </a:prstGeom>
              <a:blipFill>
                <a:blip r:embed="rId5"/>
                <a:stretch>
                  <a:fillRect t="-3571" b="-714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1132923" name="Straight Connector 1381132922">
            <a:extLst>
              <a:ext uri="{FF2B5EF4-FFF2-40B4-BE49-F238E27FC236}">
                <a16:creationId xmlns:a16="http://schemas.microsoft.com/office/drawing/2014/main" id="{1EC0B53D-6910-4232-B0F1-9FE25B00BF9A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0" cy="1924050"/>
          </a:xfrm>
          <a:prstGeom prst="line">
            <a:avLst/>
          </a:prstGeom>
          <a:noFill/>
          <a:ln w="28575">
            <a:solidFill>
              <a:srgbClr val="13877F"/>
            </a:solidFill>
            <a:prstDash val="solid"/>
          </a:ln>
        </p:spPr>
      </p:sp>
      <p:sp>
        <p:nvSpPr>
          <p:cNvPr id="727393302" name="Rectangle 727393301">
            <a:extLst>
              <a:ext uri="{FF2B5EF4-FFF2-40B4-BE49-F238E27FC236}">
                <a16:creationId xmlns:a16="http://schemas.microsoft.com/office/drawing/2014/main" id="{00610A3D-217D-412B-AC4A-0E5170B8090E}"/>
              </a:ext>
            </a:extLst>
          </p:cNvPr>
          <p:cNvSpPr>
            <a:spLocks noGrp="1"/>
          </p:cNvSpPr>
          <p:nvPr/>
        </p:nvSpPr>
        <p:spPr>
          <a:xfrm>
            <a:off x="7677150" y="2419350"/>
            <a:ext cx="304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THE CONNECTION</a:t>
            </a:r>
            <a:endParaRPr/>
          </a:p>
        </p:txBody>
      </p:sp>
      <p:sp>
        <p:nvSpPr>
          <p:cNvPr id="646043297" name="Rectangle 646043296">
            <a:extLst>
              <a:ext uri="{FF2B5EF4-FFF2-40B4-BE49-F238E27FC236}">
                <a16:creationId xmlns:a16="http://schemas.microsoft.com/office/drawing/2014/main" id="{A2232B76-4E3B-42F1-B925-639118BD1949}"/>
              </a:ext>
            </a:extLst>
          </p:cNvPr>
          <p:cNvSpPr>
            <a:spLocks noGrp="1"/>
          </p:cNvSpPr>
          <p:nvPr/>
        </p:nvSpPr>
        <p:spPr>
          <a:xfrm>
            <a:off x="7677150" y="2667000"/>
            <a:ext cx="30480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3999"/>
              </a:lnSpc>
              <a:buNone/>
              <a:defRPr sz="18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loss creates a gradient at the logits. Backpropagation carries it into the weights. The optimizer changes those weights.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1252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257037" name="Rectangle 640257036">
            <a:extLst>
              <a:ext uri="{FF2B5EF4-FFF2-40B4-BE49-F238E27FC236}">
                <a16:creationId xmlns:a16="http://schemas.microsoft.com/office/drawing/2014/main" id="{D465A8BC-8BBA-4D73-83EA-E162FCE77C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1748235585" name="Rectangle 1748235584">
            <a:extLst>
              <a:ext uri="{FF2B5EF4-FFF2-40B4-BE49-F238E27FC236}">
                <a16:creationId xmlns:a16="http://schemas.microsoft.com/office/drawing/2014/main" id="{193F4063-73AC-4CD4-9E4A-468242DA948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Training is a cycle</a:t>
            </a:r>
            <a:endParaRPr/>
          </a:p>
        </p:txBody>
      </p:sp>
      <p:sp>
        <p:nvSpPr>
          <p:cNvPr id="666569330" name="Straight Connector 666569329">
            <a:extLst>
              <a:ext uri="{FF2B5EF4-FFF2-40B4-BE49-F238E27FC236}">
                <a16:creationId xmlns:a16="http://schemas.microsoft.com/office/drawing/2014/main" id="{F55DDEF3-CA49-4208-B90F-B9BB0EB119B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6652A3"/>
            </a:solidFill>
            <a:prstDash val="solid"/>
          </a:ln>
        </p:spPr>
      </p:sp>
      <p:sp>
        <p:nvSpPr>
          <p:cNvPr id="859068622" name="Straight Connector 859068621">
            <a:extLst>
              <a:ext uri="{FF2B5EF4-FFF2-40B4-BE49-F238E27FC236}">
                <a16:creationId xmlns:a16="http://schemas.microsoft.com/office/drawing/2014/main" id="{31640B38-C641-4C53-B1A2-E6611E50212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848140814" name="Straight Connector 1848140813">
            <a:extLst>
              <a:ext uri="{FF2B5EF4-FFF2-40B4-BE49-F238E27FC236}">
                <a16:creationId xmlns:a16="http://schemas.microsoft.com/office/drawing/2014/main" id="{0123063D-D1FC-4550-A7F1-FBFA5D4C493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216039" cy="0"/>
          </a:xfrm>
          <a:prstGeom prst="line">
            <a:avLst/>
          </a:prstGeom>
          <a:noFill/>
          <a:ln w="28575">
            <a:solidFill>
              <a:srgbClr val="6652A3"/>
            </a:solidFill>
            <a:prstDash val="solid"/>
          </a:ln>
        </p:spPr>
      </p:sp>
      <p:sp>
        <p:nvSpPr>
          <p:cNvPr id="869992983" name="Rectangle 869992982">
            <a:extLst>
              <a:ext uri="{FF2B5EF4-FFF2-40B4-BE49-F238E27FC236}">
                <a16:creationId xmlns:a16="http://schemas.microsoft.com/office/drawing/2014/main" id="{0590B991-4FD8-4F73-91D0-D42A1EF76D86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6652A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52A3"/>
                </a:solidFill>
                <a:latin typeface="Arial"/>
                <a:ea typeface="Arial"/>
                <a:cs typeface="Arial"/>
              </a:rPr>
              <a:t>27 / 29</a:t>
            </a:r>
            <a:endParaRPr/>
          </a:p>
        </p:txBody>
      </p:sp>
      <p:sp>
        <p:nvSpPr>
          <p:cNvPr id="65546613" name="Rectangle: Rounded Corners 65546612">
            <a:extLst>
              <a:ext uri="{FF2B5EF4-FFF2-40B4-BE49-F238E27FC236}">
                <a16:creationId xmlns:a16="http://schemas.microsoft.com/office/drawing/2014/main" id="{03A1BFC2-15A4-4A0E-B283-80D60ED2EF90}"/>
              </a:ext>
            </a:extLst>
          </p:cNvPr>
          <p:cNvSpPr>
            <a:spLocks noGrp="1"/>
          </p:cNvSpPr>
          <p:nvPr/>
        </p:nvSpPr>
        <p:spPr>
          <a:xfrm>
            <a:off x="781050" y="2038349"/>
            <a:ext cx="2457450" cy="1352550"/>
          </a:xfrm>
          <a:prstGeom prst="roundRect">
            <a:avLst>
              <a:gd name="adj" fmla="val 9859"/>
            </a:avLst>
          </a:prstGeom>
          <a:solidFill>
            <a:srgbClr val="EDF2FF"/>
          </a:solidFill>
          <a:ln w="14288">
            <a:solidFill>
              <a:srgbClr val="3158C9"/>
            </a:solidFill>
            <a:prstDash val="solid"/>
          </a:ln>
        </p:spPr>
        <p:txBody>
          <a:bodyPr lIns="133350" tIns="114300" rIns="133350" bIns="114300" anchor="ctr">
            <a:normAutofit fontScale="98999" lnSpcReduction="10000"/>
          </a:bodyPr>
          <a:lstStyle/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FORWARD PASS</a:t>
            </a:r>
            <a:endParaRPr dirty="0"/>
          </a:p>
          <a:p>
            <a:pPr>
              <a:buNone/>
            </a:pPr>
            <a:endParaRPr dirty="0"/>
          </a:p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predictions</a:t>
            </a:r>
            <a:endParaRPr dirty="0"/>
          </a:p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from θₜ</a:t>
            </a:r>
            <a:endParaRPr dirty="0"/>
          </a:p>
        </p:txBody>
      </p:sp>
      <p:sp>
        <p:nvSpPr>
          <p:cNvPr id="553354330" name="Rectangle: Rounded Corners 553354329">
            <a:extLst>
              <a:ext uri="{FF2B5EF4-FFF2-40B4-BE49-F238E27FC236}">
                <a16:creationId xmlns:a16="http://schemas.microsoft.com/office/drawing/2014/main" id="{88652A48-901E-488F-B970-EAD90D4ED7C1}"/>
              </a:ext>
            </a:extLst>
          </p:cNvPr>
          <p:cNvSpPr>
            <a:spLocks noGrp="1"/>
          </p:cNvSpPr>
          <p:nvPr/>
        </p:nvSpPr>
        <p:spPr>
          <a:xfrm>
            <a:off x="4476750" y="2038349"/>
            <a:ext cx="2457450" cy="1352550"/>
          </a:xfrm>
          <a:prstGeom prst="roundRect">
            <a:avLst>
              <a:gd name="adj" fmla="val 9859"/>
            </a:avLst>
          </a:prstGeom>
          <a:solidFill>
            <a:srgbClr val="E9F6F3"/>
          </a:solidFill>
          <a:ln w="14288">
            <a:solidFill>
              <a:srgbClr val="13877F"/>
            </a:solidFill>
            <a:prstDash val="solid"/>
          </a:ln>
        </p:spPr>
        <p:txBody>
          <a:bodyPr lIns="133350" tIns="114300" rIns="133350" bIns="114300" anchor="ctr">
            <a:normAutofit fontScale="98999" lnSpcReduction="10000"/>
          </a:bodyPr>
          <a:lstStyle/>
          <a:p>
            <a:pPr algn="ctr">
              <a:buNone/>
              <a:defRPr sz="19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LOSS</a:t>
            </a:r>
            <a:endParaRPr dirty="0"/>
          </a:p>
          <a:p>
            <a:pPr>
              <a:buNone/>
            </a:pPr>
            <a:endParaRPr dirty="0"/>
          </a:p>
          <a:p>
            <a:pPr algn="ctr">
              <a:buNone/>
              <a:defRPr sz="19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measure</a:t>
            </a:r>
            <a:endParaRPr dirty="0"/>
          </a:p>
          <a:p>
            <a:pPr algn="ctr">
              <a:buNone/>
              <a:defRPr sz="1900" b="1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1900" b="1" dirty="0">
                <a:solidFill>
                  <a:srgbClr val="13877F"/>
                </a:solidFill>
                <a:latin typeface="Arial"/>
                <a:ea typeface="Arial"/>
                <a:cs typeface="Arial"/>
              </a:rPr>
              <a:t>error</a:t>
            </a:r>
            <a:endParaRPr dirty="0"/>
          </a:p>
        </p:txBody>
      </p:sp>
      <p:sp>
        <p:nvSpPr>
          <p:cNvPr id="510966674" name="Rectangle: Rounded Corners 510966673">
            <a:extLst>
              <a:ext uri="{FF2B5EF4-FFF2-40B4-BE49-F238E27FC236}">
                <a16:creationId xmlns:a16="http://schemas.microsoft.com/office/drawing/2014/main" id="{5E8147A0-95AA-4D49-AD31-B9281E649BD7}"/>
              </a:ext>
            </a:extLst>
          </p:cNvPr>
          <p:cNvSpPr>
            <a:spLocks noGrp="1"/>
          </p:cNvSpPr>
          <p:nvPr/>
        </p:nvSpPr>
        <p:spPr>
          <a:xfrm>
            <a:off x="8172450" y="2038349"/>
            <a:ext cx="2857500" cy="1352550"/>
          </a:xfrm>
          <a:prstGeom prst="roundRect">
            <a:avLst>
              <a:gd name="adj" fmla="val 9859"/>
            </a:avLst>
          </a:prstGeom>
          <a:solidFill>
            <a:srgbClr val="FFF4E2"/>
          </a:solidFill>
          <a:ln w="14288">
            <a:solidFill>
              <a:srgbClr val="A9610B"/>
            </a:solidFill>
            <a:prstDash val="solid"/>
          </a:ln>
        </p:spPr>
        <p:txBody>
          <a:bodyPr lIns="133350" tIns="114300" rIns="133350" bIns="114300" anchor="ctr">
            <a:normAutofit fontScale="98999" lnSpcReduction="10000"/>
          </a:bodyPr>
          <a:lstStyle/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BACKPROPAGATION</a:t>
            </a:r>
            <a:endParaRPr/>
          </a:p>
          <a:p>
            <a:pPr>
              <a:buNone/>
            </a:pPr>
            <a:endParaRPr/>
          </a:p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compute</a:t>
            </a:r>
            <a:endParaRPr/>
          </a:p>
          <a:p>
            <a:pPr algn="ctr">
              <a:buNone/>
              <a:defRPr sz="1900" b="1">
                <a:solidFill>
                  <a:srgbClr val="A9610B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A9610B"/>
                </a:solidFill>
                <a:latin typeface="Arial"/>
                <a:ea typeface="Arial"/>
                <a:cs typeface="Arial"/>
              </a:rPr>
              <a:t>∇θL</a:t>
            </a:r>
            <a:endParaRPr/>
          </a:p>
        </p:txBody>
      </p:sp>
      <p:sp>
        <p:nvSpPr>
          <p:cNvPr id="1789773005" name="Rectangle: Rounded Corners 1789773004">
            <a:extLst>
              <a:ext uri="{FF2B5EF4-FFF2-40B4-BE49-F238E27FC236}">
                <a16:creationId xmlns:a16="http://schemas.microsoft.com/office/drawing/2014/main" id="{977FEA5D-DD61-4F40-85CD-EBA496681D52}"/>
              </a:ext>
            </a:extLst>
          </p:cNvPr>
          <p:cNvSpPr>
            <a:spLocks noGrp="1"/>
          </p:cNvSpPr>
          <p:nvPr/>
        </p:nvSpPr>
        <p:spPr>
          <a:xfrm>
            <a:off x="8172450" y="4438650"/>
            <a:ext cx="2857500" cy="1200150"/>
          </a:xfrm>
          <a:prstGeom prst="roundRect">
            <a:avLst>
              <a:gd name="adj" fmla="val 11111"/>
            </a:avLst>
          </a:prstGeom>
          <a:solidFill>
            <a:srgbClr val="FCECEF"/>
          </a:solidFill>
          <a:ln w="14288">
            <a:solidFill>
              <a:srgbClr val="B53D4A"/>
            </a:solidFill>
            <a:prstDash val="solid"/>
          </a:ln>
        </p:spPr>
        <p:txBody>
          <a:bodyPr lIns="133350" tIns="114300" rIns="133350" bIns="114300" anchor="ctr">
            <a:normAutofit fontScale="85666" lnSpcReduction="10000"/>
          </a:bodyPr>
          <a:lstStyle/>
          <a:p>
            <a:pPr algn="ctr">
              <a:buNone/>
              <a:defRPr sz="1900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OPTIMIZER</a:t>
            </a:r>
            <a:endParaRPr/>
          </a:p>
          <a:p>
            <a:pPr>
              <a:buNone/>
            </a:pPr>
            <a:endParaRPr/>
          </a:p>
          <a:p>
            <a:pPr algn="ctr">
              <a:buNone/>
              <a:defRPr sz="1900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use η and</a:t>
            </a:r>
            <a:endParaRPr/>
          </a:p>
          <a:p>
            <a:pPr algn="ctr">
              <a:buNone/>
              <a:defRPr sz="1900" b="1">
                <a:solidFill>
                  <a:srgbClr val="B53D4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B53D4A"/>
                </a:solidFill>
                <a:latin typeface="Arial"/>
                <a:ea typeface="Arial"/>
                <a:cs typeface="Arial"/>
              </a:rPr>
              <a:t>state</a:t>
            </a:r>
            <a:endParaRPr/>
          </a:p>
        </p:txBody>
      </p:sp>
      <p:sp>
        <p:nvSpPr>
          <p:cNvPr id="1744150092" name="Rectangle: Rounded Corners 1744150091">
            <a:extLst>
              <a:ext uri="{FF2B5EF4-FFF2-40B4-BE49-F238E27FC236}">
                <a16:creationId xmlns:a16="http://schemas.microsoft.com/office/drawing/2014/main" id="{C963A5D5-9F20-4035-BB2C-A8DBA3677B9E}"/>
              </a:ext>
            </a:extLst>
          </p:cNvPr>
          <p:cNvSpPr>
            <a:spLocks noGrp="1"/>
          </p:cNvSpPr>
          <p:nvPr/>
        </p:nvSpPr>
        <p:spPr>
          <a:xfrm>
            <a:off x="4476750" y="4438650"/>
            <a:ext cx="2457450" cy="1200150"/>
          </a:xfrm>
          <a:prstGeom prst="roundRect">
            <a:avLst>
              <a:gd name="adj" fmla="val 11111"/>
            </a:avLst>
          </a:prstGeom>
          <a:solidFill>
            <a:srgbClr val="EDF2FF"/>
          </a:solidFill>
          <a:ln w="14288">
            <a:solidFill>
              <a:srgbClr val="3158C9"/>
            </a:solidFill>
            <a:prstDash val="solid"/>
          </a:ln>
        </p:spPr>
        <p:txBody>
          <a:bodyPr lIns="133350" tIns="114300" rIns="133350" bIns="114300" anchor="ctr">
            <a:normAutofit fontScale="85666" lnSpcReduction="10000"/>
          </a:bodyPr>
          <a:lstStyle/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UPDATED PARAMETERS</a:t>
            </a:r>
            <a:endParaRPr/>
          </a:p>
          <a:p>
            <a:pPr>
              <a:buNone/>
            </a:pPr>
            <a:endParaRPr/>
          </a:p>
          <a:p>
            <a:pPr algn="ctr">
              <a:buNone/>
              <a:defRPr sz="1900" b="1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158C9"/>
                </a:solidFill>
                <a:latin typeface="Arial"/>
                <a:ea typeface="Arial"/>
                <a:cs typeface="Arial"/>
              </a:rPr>
              <a:t>θₜ₊₁</a:t>
            </a:r>
            <a:endParaRPr/>
          </a:p>
        </p:txBody>
      </p:sp>
      <p:sp>
        <p:nvSpPr>
          <p:cNvPr id="559748435" name="Straight Connector 559748434">
            <a:extLst>
              <a:ext uri="{FF2B5EF4-FFF2-40B4-BE49-F238E27FC236}">
                <a16:creationId xmlns:a16="http://schemas.microsoft.com/office/drawing/2014/main" id="{B7D8D824-FA06-41D3-84DE-D0F0ED501521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1238250" cy="0"/>
          </a:xfrm>
          <a:prstGeom prst="line">
            <a:avLst/>
          </a:prstGeom>
          <a:noFill/>
          <a:ln w="28575">
            <a:solidFill>
              <a:srgbClr val="5D6B80"/>
            </a:solidFill>
            <a:prstDash val="solid"/>
          </a:ln>
        </p:spPr>
      </p:sp>
      <p:sp>
        <p:nvSpPr>
          <p:cNvPr id="1068390246" name="Straight Connector 1068390245">
            <a:extLst>
              <a:ext uri="{FF2B5EF4-FFF2-40B4-BE49-F238E27FC236}">
                <a16:creationId xmlns:a16="http://schemas.microsoft.com/office/drawing/2014/main" id="{B251984E-3C68-4EED-BA3E-6E63D8C5C877}"/>
              </a:ext>
            </a:extLst>
          </p:cNvPr>
          <p:cNvSpPr>
            <a:spLocks noGrp="1"/>
          </p:cNvSpPr>
          <p:nvPr/>
        </p:nvSpPr>
        <p:spPr>
          <a:xfrm>
            <a:off x="6934200" y="2714625"/>
            <a:ext cx="1238250" cy="0"/>
          </a:xfrm>
          <a:prstGeom prst="line">
            <a:avLst/>
          </a:prstGeom>
          <a:noFill/>
          <a:ln w="28575">
            <a:solidFill>
              <a:srgbClr val="5D6B80"/>
            </a:solidFill>
            <a:prstDash val="solid"/>
          </a:ln>
        </p:spPr>
      </p:sp>
      <p:sp>
        <p:nvSpPr>
          <p:cNvPr id="1487485469" name="Straight Connector 1487485468">
            <a:extLst>
              <a:ext uri="{FF2B5EF4-FFF2-40B4-BE49-F238E27FC236}">
                <a16:creationId xmlns:a16="http://schemas.microsoft.com/office/drawing/2014/main" id="{0A1DF80F-304A-45E4-BB53-4B8E1246C6B2}"/>
              </a:ext>
            </a:extLst>
          </p:cNvPr>
          <p:cNvSpPr>
            <a:spLocks noGrp="1"/>
          </p:cNvSpPr>
          <p:nvPr/>
        </p:nvSpPr>
        <p:spPr>
          <a:xfrm>
            <a:off x="9601200" y="3390900"/>
            <a:ext cx="0" cy="1047750"/>
          </a:xfrm>
          <a:prstGeom prst="line">
            <a:avLst/>
          </a:prstGeom>
          <a:noFill/>
          <a:ln w="28575">
            <a:solidFill>
              <a:srgbClr val="5D6B80"/>
            </a:solidFill>
            <a:prstDash val="solid"/>
          </a:ln>
        </p:spPr>
      </p:sp>
      <p:sp>
        <p:nvSpPr>
          <p:cNvPr id="364330653" name="Straight Connector 364330652">
            <a:extLst>
              <a:ext uri="{FF2B5EF4-FFF2-40B4-BE49-F238E27FC236}">
                <a16:creationId xmlns:a16="http://schemas.microsoft.com/office/drawing/2014/main" id="{C9EAA82D-7B3A-437B-B58B-1E92FEF8033D}"/>
              </a:ext>
            </a:extLst>
          </p:cNvPr>
          <p:cNvSpPr>
            <a:spLocks noGrp="1"/>
          </p:cNvSpPr>
          <p:nvPr/>
        </p:nvSpPr>
        <p:spPr>
          <a:xfrm>
            <a:off x="6934200" y="5038725"/>
            <a:ext cx="1238250" cy="0"/>
          </a:xfrm>
          <a:prstGeom prst="line">
            <a:avLst/>
          </a:prstGeom>
          <a:noFill/>
          <a:ln w="28575">
            <a:solidFill>
              <a:srgbClr val="5D6B80"/>
            </a:solidFill>
            <a:prstDash val="solid"/>
          </a:ln>
        </p:spPr>
      </p:sp>
      <p:sp>
        <p:nvSpPr>
          <p:cNvPr id="954771180" name="Straight Connector 954771179">
            <a:extLst>
              <a:ext uri="{FF2B5EF4-FFF2-40B4-BE49-F238E27FC236}">
                <a16:creationId xmlns:a16="http://schemas.microsoft.com/office/drawing/2014/main" id="{B2923C4F-2B50-41EC-805C-968AA6BC3A8E}"/>
              </a:ext>
            </a:extLst>
          </p:cNvPr>
          <p:cNvSpPr>
            <a:spLocks noGrp="1"/>
          </p:cNvSpPr>
          <p:nvPr/>
        </p:nvSpPr>
        <p:spPr>
          <a:xfrm>
            <a:off x="2009774" y="5038364"/>
            <a:ext cx="2466974" cy="360"/>
          </a:xfrm>
          <a:prstGeom prst="line">
            <a:avLst/>
          </a:prstGeom>
          <a:noFill/>
          <a:ln w="28575">
            <a:solidFill>
              <a:srgbClr val="5D6B80"/>
            </a:solidFill>
            <a:prstDash val="solid"/>
          </a:ln>
        </p:spPr>
      </p:sp>
      <p:sp>
        <p:nvSpPr>
          <p:cNvPr id="417558046" name="Straight Connector 417558045">
            <a:extLst>
              <a:ext uri="{FF2B5EF4-FFF2-40B4-BE49-F238E27FC236}">
                <a16:creationId xmlns:a16="http://schemas.microsoft.com/office/drawing/2014/main" id="{884B07AA-2C0D-4A98-BAB4-ECE492270CE4}"/>
              </a:ext>
            </a:extLst>
          </p:cNvPr>
          <p:cNvSpPr>
            <a:spLocks noGrp="1"/>
          </p:cNvSpPr>
          <p:nvPr/>
        </p:nvSpPr>
        <p:spPr>
          <a:xfrm>
            <a:off x="2009774" y="3390899"/>
            <a:ext cx="0" cy="1647824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508212933" name="Rectangle 1508212932">
            <a:extLst>
              <a:ext uri="{FF2B5EF4-FFF2-40B4-BE49-F238E27FC236}">
                <a16:creationId xmlns:a16="http://schemas.microsoft.com/office/drawing/2014/main" id="{B1CF22FD-05CE-42CE-A811-73208258D76A}"/>
              </a:ext>
            </a:extLst>
          </p:cNvPr>
          <p:cNvSpPr>
            <a:spLocks noGrp="1"/>
          </p:cNvSpPr>
          <p:nvPr/>
        </p:nvSpPr>
        <p:spPr>
          <a:xfrm>
            <a:off x="1352550" y="3676650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3999"/>
              </a:lnSpc>
              <a:buNone/>
              <a:defRPr sz="15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repeat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3119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100085" name="Rectangle 1084100084">
            <a:extLst>
              <a:ext uri="{FF2B5EF4-FFF2-40B4-BE49-F238E27FC236}">
                <a16:creationId xmlns:a16="http://schemas.microsoft.com/office/drawing/2014/main" id="{6B57910B-60AA-471C-8820-EC655E9888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SUMMARY</a:t>
            </a:r>
            <a:endParaRPr/>
          </a:p>
        </p:txBody>
      </p:sp>
      <p:sp>
        <p:nvSpPr>
          <p:cNvPr id="1768608802" name="Rectangle 1768608801">
            <a:extLst>
              <a:ext uri="{FF2B5EF4-FFF2-40B4-BE49-F238E27FC236}">
                <a16:creationId xmlns:a16="http://schemas.microsoft.com/office/drawing/2014/main" id="{8CD23C22-E205-4988-B040-A01387D9C31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TL;DR</a:t>
            </a:r>
            <a:endParaRPr/>
          </a:p>
        </p:txBody>
      </p:sp>
      <p:sp>
        <p:nvSpPr>
          <p:cNvPr id="1037418263" name="Straight Connector 1037418262">
            <a:extLst>
              <a:ext uri="{FF2B5EF4-FFF2-40B4-BE49-F238E27FC236}">
                <a16:creationId xmlns:a16="http://schemas.microsoft.com/office/drawing/2014/main" id="{035F8A68-9458-44C7-97E6-7EBCFEF7A18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684758466" name="Straight Connector 684758465">
            <a:extLst>
              <a:ext uri="{FF2B5EF4-FFF2-40B4-BE49-F238E27FC236}">
                <a16:creationId xmlns:a16="http://schemas.microsoft.com/office/drawing/2014/main" id="{D7CB7D61-43BB-4B66-A20A-3C715039307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1755665557" name="Straight Connector 1755665556">
            <a:extLst>
              <a:ext uri="{FF2B5EF4-FFF2-40B4-BE49-F238E27FC236}">
                <a16:creationId xmlns:a16="http://schemas.microsoft.com/office/drawing/2014/main" id="{E99380A6-76D8-4774-A44C-046D8187C8A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594467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79731035" name="Rectangle 179731034">
            <a:extLst>
              <a:ext uri="{FF2B5EF4-FFF2-40B4-BE49-F238E27FC236}">
                <a16:creationId xmlns:a16="http://schemas.microsoft.com/office/drawing/2014/main" id="{F2573D62-25BB-4532-ADEE-9A622C72BFAD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28 / 29</a:t>
            </a:r>
            <a:endParaRPr/>
          </a:p>
        </p:txBody>
      </p:sp>
      <p:sp>
        <p:nvSpPr>
          <p:cNvPr id="1187104659" name="Rectangle 1187104658">
            <a:extLst>
              <a:ext uri="{FF2B5EF4-FFF2-40B4-BE49-F238E27FC236}">
                <a16:creationId xmlns:a16="http://schemas.microsoft.com/office/drawing/2014/main" id="{E440A9BD-866A-423E-94C8-5C0992FE84D3}"/>
              </a:ext>
            </a:extLst>
          </p:cNvPr>
          <p:cNvSpPr>
            <a:spLocks noGrp="1"/>
          </p:cNvSpPr>
          <p:nvPr/>
        </p:nvSpPr>
        <p:spPr>
          <a:xfrm>
            <a:off x="705376" y="1365787"/>
            <a:ext cx="10402913" cy="411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 fontScale="88008"/>
          </a:bodyPr>
          <a:lstStyle/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loss tells us how wrong the model currently is. Training tries to make that number smaller.</a:t>
            </a:r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gradient tells us which way increases the loss the fastest. So we move in the opposite direction.</a:t>
            </a:r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The learning rate decides how big each step is. The shape of the loss surface determines whether those steps are smooth, zigzag, or diverge.</a:t>
            </a:r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Different optimizers change how we use the gradient. Momentum remembers previous directions; adaptive methods change the step size for each parameter; Adam does both.</a:t>
            </a:r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Backpropagation calculates the gradients. The optimizer uses those gradients to update the model's weights.</a:t>
            </a:r>
          </a:p>
          <a:p>
            <a:pPr marL="279400" indent="-139700">
              <a:lnSpc>
                <a:spcPct val="113999"/>
              </a:lnSpc>
              <a:spcAft>
                <a:spcPts val="1400"/>
              </a:spcAft>
              <a:buNone/>
              <a:defRPr sz="21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lang="en-US" sz="2100" dirty="0">
                <a:solidFill>
                  <a:srgbClr val="17243A"/>
                </a:solidFill>
                <a:latin typeface="Arial"/>
                <a:ea typeface="Arial"/>
                <a:cs typeface="Arial"/>
              </a:rPr>
              <a:t>When comparing optimizers, keep everything else the same. Otherwise we can't tell whether the difference actually came from the optimizer. </a:t>
            </a:r>
          </a:p>
        </p:txBody>
      </p:sp>
      <p:sp>
        <p:nvSpPr>
          <p:cNvPr id="602040768" name="Straight Connector 602040767">
            <a:extLst>
              <a:ext uri="{FF2B5EF4-FFF2-40B4-BE49-F238E27FC236}">
                <a16:creationId xmlns:a16="http://schemas.microsoft.com/office/drawing/2014/main" id="{777006B9-5581-448E-9B13-87977BFFF8D4}"/>
              </a:ext>
            </a:extLst>
          </p:cNvPr>
          <p:cNvSpPr>
            <a:spLocks noGrp="1"/>
          </p:cNvSpPr>
          <p:nvPr/>
        </p:nvSpPr>
        <p:spPr>
          <a:xfrm>
            <a:off x="5021774" y="5467350"/>
            <a:ext cx="0" cy="66675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82857864" name="Rectangle 182857863">
            <a:extLst>
              <a:ext uri="{FF2B5EF4-FFF2-40B4-BE49-F238E27FC236}">
                <a16:creationId xmlns:a16="http://schemas.microsoft.com/office/drawing/2014/main" id="{BCD28DFB-C682-4282-9774-D9C998B90B56}"/>
              </a:ext>
            </a:extLst>
          </p:cNvPr>
          <p:cNvSpPr>
            <a:spLocks noGrp="1"/>
          </p:cNvSpPr>
          <p:nvPr/>
        </p:nvSpPr>
        <p:spPr>
          <a:xfrm>
            <a:off x="5174174" y="5505450"/>
            <a:ext cx="1472159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3158C9"/>
                </a:solidFill>
                <a:latin typeface="Arial"/>
                <a:ea typeface="Arial"/>
                <a:cs typeface="Arial"/>
              </a:rPr>
              <a:t>CORE UPDATE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462714" name="Rectangle 226462713">
                <a:extLst>
                  <a:ext uri="{FF2B5EF4-FFF2-40B4-BE49-F238E27FC236}">
                    <a16:creationId xmlns:a16="http://schemas.microsoft.com/office/drawing/2014/main" id="{405E37B1-A8EA-4819-B11C-41DD9F3524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74174" y="5753100"/>
                <a:ext cx="1843652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rmAutofit fontScale="85000" lnSpcReduction="10000"/>
              </a:bodyPr>
              <a:lstStyle/>
              <a:p>
                <a:pPr algn="l">
                  <a:lnSpc>
                    <a:spcPct val="113999"/>
                  </a:lnSpc>
                  <a:buNone/>
                  <a:defRPr sz="1800" b="0" i="0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₊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₁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1800" b="0" i="1" dirty="0" smtClean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 − </m:t>
                      </m:r>
                      <m:r>
                        <a:rPr lang="en-US" sz="1800" b="0" i="1" dirty="0" err="1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sz="1800" b="0" i="0" dirty="0" err="1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∇</m:t>
                      </m:r>
                      <m:r>
                        <a:rPr lang="en-US" sz="1800" b="0" i="1" dirty="0" err="1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𝑓</m:t>
                      </m:r>
                      <m:r>
                        <a:rPr lang="en-US" sz="1800" b="0" i="1" dirty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𝜃</m:t>
                      </m:r>
                      <m:r>
                        <a:rPr lang="en-US" sz="1800" b="0" i="1" dirty="0">
                          <a:solidFill>
                            <a:srgbClr val="17243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ₜ)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26462714" name="Rectangle 226462713">
                <a:extLst>
                  <a:ext uri="{FF2B5EF4-FFF2-40B4-BE49-F238E27FC236}">
                    <a16:creationId xmlns:a16="http://schemas.microsoft.com/office/drawing/2014/main" id="{405E37B1-A8EA-4819-B11C-41DD9F352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174" y="5753100"/>
                <a:ext cx="1843652" cy="361950"/>
              </a:xfrm>
              <a:prstGeom prst="rect">
                <a:avLst/>
              </a:prstGeom>
              <a:blipFill>
                <a:blip r:embed="rId3"/>
                <a:stretch>
                  <a:fillRect l="-1987" r="-2980" b="-508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399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874862" name="Rectangle 1118874861">
            <a:extLst>
              <a:ext uri="{FF2B5EF4-FFF2-40B4-BE49-F238E27FC236}">
                <a16:creationId xmlns:a16="http://schemas.microsoft.com/office/drawing/2014/main" id="{7CC2EA9D-0E25-4181-8423-064F6298A42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0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SUMMARY</a:t>
            </a:r>
            <a:endParaRPr/>
          </a:p>
        </p:txBody>
      </p:sp>
      <p:sp>
        <p:nvSpPr>
          <p:cNvPr id="1666325319" name="Rectangle 1666325318">
            <a:extLst>
              <a:ext uri="{FF2B5EF4-FFF2-40B4-BE49-F238E27FC236}">
                <a16:creationId xmlns:a16="http://schemas.microsoft.com/office/drawing/2014/main" id="{69B4F20C-BD8E-4D0A-9D79-9C8766DB6DA8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3890"/>
          </a:bodyPr>
          <a:lstStyle/>
          <a:p>
            <a:pPr algn="l">
              <a:lnSpc>
                <a:spcPct val="113999"/>
              </a:lnSpc>
              <a:buNone/>
              <a:defRPr sz="3300" b="1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References</a:t>
            </a:r>
            <a:endParaRPr/>
          </a:p>
        </p:txBody>
      </p:sp>
      <p:sp>
        <p:nvSpPr>
          <p:cNvPr id="1261000318" name="Straight Connector 1261000317">
            <a:extLst>
              <a:ext uri="{FF2B5EF4-FFF2-40B4-BE49-F238E27FC236}">
                <a16:creationId xmlns:a16="http://schemas.microsoft.com/office/drawing/2014/main" id="{C3FBE89D-DE20-4E57-A564-B29E7356C20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0"/>
          </a:xfrm>
          <a:prstGeom prst="line">
            <a:avLst/>
          </a:prstGeom>
          <a:noFill/>
          <a:ln w="14288">
            <a:solidFill>
              <a:srgbClr val="3158C9"/>
            </a:solidFill>
            <a:prstDash val="solid"/>
          </a:ln>
        </p:spPr>
      </p:sp>
      <p:sp>
        <p:nvSpPr>
          <p:cNvPr id="1804972991" name="Straight Connector 1804972990">
            <a:extLst>
              <a:ext uri="{FF2B5EF4-FFF2-40B4-BE49-F238E27FC236}">
                <a16:creationId xmlns:a16="http://schemas.microsoft.com/office/drawing/2014/main" id="{54BA2879-1EEE-407A-A01B-B4DAEB06A8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14288">
            <a:solidFill>
              <a:srgbClr val="DCE3ED"/>
            </a:solidFill>
            <a:prstDash val="solid"/>
          </a:ln>
        </p:spPr>
      </p:sp>
      <p:sp>
        <p:nvSpPr>
          <p:cNvPr id="887401503" name="Straight Connector 887401502">
            <a:extLst>
              <a:ext uri="{FF2B5EF4-FFF2-40B4-BE49-F238E27FC236}">
                <a16:creationId xmlns:a16="http://schemas.microsoft.com/office/drawing/2014/main" id="{1C6B3A2A-778E-49AA-9E12-64E45338D5E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28575">
            <a:solidFill>
              <a:srgbClr val="3158C9"/>
            </a:solidFill>
            <a:prstDash val="solid"/>
          </a:ln>
        </p:spPr>
      </p:sp>
      <p:sp>
        <p:nvSpPr>
          <p:cNvPr id="1882462811" name="Rectangle 1882462810">
            <a:extLst>
              <a:ext uri="{FF2B5EF4-FFF2-40B4-BE49-F238E27FC236}">
                <a16:creationId xmlns:a16="http://schemas.microsoft.com/office/drawing/2014/main" id="{17DED960-E1A9-441B-97B4-9C68FE810B79}"/>
              </a:ext>
            </a:extLst>
          </p:cNvPr>
          <p:cNvSpPr>
            <a:spLocks noGrp="1"/>
          </p:cNvSpPr>
          <p:nvPr/>
        </p:nvSpPr>
        <p:spPr>
          <a:xfrm>
            <a:off x="10668000" y="6477000"/>
            <a:ext cx="914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3999"/>
              </a:lnSpc>
              <a:buNone/>
              <a:defRPr sz="9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29 / 29</a:t>
            </a:r>
            <a:endParaRPr/>
          </a:p>
        </p:txBody>
      </p:sp>
      <p:sp>
        <p:nvSpPr>
          <p:cNvPr id="2061822852" name="Rectangle 2061822851">
            <a:extLst>
              <a:ext uri="{FF2B5EF4-FFF2-40B4-BE49-F238E27FC236}">
                <a16:creationId xmlns:a16="http://schemas.microsoft.com/office/drawing/2014/main" id="{BF5866AA-A4CC-438C-9501-4E3DEAC066CE}"/>
              </a:ext>
            </a:extLst>
          </p:cNvPr>
          <p:cNvSpPr>
            <a:spLocks noGrp="1"/>
          </p:cNvSpPr>
          <p:nvPr/>
        </p:nvSpPr>
        <p:spPr>
          <a:xfrm>
            <a:off x="895350" y="1466849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264"/>
          </a:bodyPr>
          <a:lstStyle/>
          <a:p>
            <a:pPr algn="l">
              <a:lnSpc>
                <a:spcPct val="113999"/>
              </a:lnSpc>
              <a:buNone/>
              <a:defRPr sz="21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158C9"/>
                </a:solidFill>
                <a:latin typeface="Arial"/>
                <a:ea typeface="Arial"/>
                <a:cs typeface="Arial"/>
              </a:rPr>
              <a:t>Primary methods</a:t>
            </a:r>
            <a:endParaRPr/>
          </a:p>
        </p:txBody>
      </p:sp>
      <p:sp>
        <p:nvSpPr>
          <p:cNvPr id="1251602304" name="Rectangle 1251602303">
            <a:extLst>
              <a:ext uri="{FF2B5EF4-FFF2-40B4-BE49-F238E27FC236}">
                <a16:creationId xmlns:a16="http://schemas.microsoft.com/office/drawing/2014/main" id="{A453D7F2-E0B4-4F37-9432-7C1389430866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0096500" cy="23621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79400" indent="-139700">
              <a:lnSpc>
                <a:spcPct val="113999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Kingma and Ba, “Adam: A Method for Stochastic Optimization” — arXiv:1412.6980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Duchi et al., “Adaptive Subgradient Methods for Online Learning and Stochastic Optimization” — JMLR 2011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Tieleman and Hinton, “RMSProp” — lecture notes, 2012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Loshchilov and Hutter, “Decoupled Weight Decay Regularization” — arXiv:1711.05101</a:t>
            </a:r>
            <a:endParaRPr/>
          </a:p>
          <a:p>
            <a:pPr marL="279400" indent="-139700">
              <a:lnSpc>
                <a:spcPct val="113999"/>
              </a:lnSpc>
              <a:spcAft>
                <a:spcPts val="800"/>
              </a:spcAft>
              <a:buNone/>
              <a:defRPr sz="150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A"/>
                </a:solidFill>
                <a:latin typeface="Arial"/>
                <a:ea typeface="Arial"/>
                <a:cs typeface="Arial"/>
              </a:rPr>
              <a:t>Chen et al., “Symbolic Discovery of Optimization Algorithms” — arXiv:2302.06675</a:t>
            </a:r>
            <a:endParaRPr/>
          </a:p>
        </p:txBody>
      </p:sp>
      <p:sp>
        <p:nvSpPr>
          <p:cNvPr id="1100826580" name="Rectangle 1100826579">
            <a:extLst>
              <a:ext uri="{FF2B5EF4-FFF2-40B4-BE49-F238E27FC236}">
                <a16:creationId xmlns:a16="http://schemas.microsoft.com/office/drawing/2014/main" id="{E3D10CD4-E64D-43DB-99AA-8A6043BA83D3}"/>
              </a:ext>
            </a:extLst>
          </p:cNvPr>
          <p:cNvSpPr>
            <a:spLocks noGrp="1"/>
          </p:cNvSpPr>
          <p:nvPr/>
        </p:nvSpPr>
        <p:spPr>
          <a:xfrm>
            <a:off x="895349" y="4761309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264"/>
          </a:bodyPr>
          <a:lstStyle/>
          <a:p>
            <a:pPr algn="l">
              <a:lnSpc>
                <a:spcPct val="113999"/>
              </a:lnSpc>
              <a:buNone/>
              <a:defRPr sz="2100" b="1" i="0">
                <a:solidFill>
                  <a:srgbClr val="13877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3877F"/>
                </a:solidFill>
                <a:latin typeface="Arial"/>
                <a:ea typeface="Arial"/>
                <a:cs typeface="Arial"/>
              </a:rPr>
              <a:t>Additional sources</a:t>
            </a:r>
            <a:endParaRPr/>
          </a:p>
        </p:txBody>
      </p:sp>
      <p:sp>
        <p:nvSpPr>
          <p:cNvPr id="61803250" name="Rectangle 61803249">
            <a:extLst>
              <a:ext uri="{FF2B5EF4-FFF2-40B4-BE49-F238E27FC236}">
                <a16:creationId xmlns:a16="http://schemas.microsoft.com/office/drawing/2014/main" id="{849C8237-74DA-4335-9CF1-10DD5C0136D6}"/>
              </a:ext>
            </a:extLst>
          </p:cNvPr>
          <p:cNvSpPr>
            <a:spLocks noGrp="1"/>
          </p:cNvSpPr>
          <p:nvPr/>
        </p:nvSpPr>
        <p:spPr>
          <a:xfrm>
            <a:off x="914400" y="5218509"/>
            <a:ext cx="9906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3999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Foret et al., “Sharpness-Aware Minimization” — arXiv:2010.01412</a:t>
            </a:r>
            <a:endParaRPr/>
          </a:p>
          <a:p>
            <a:pPr algn="l">
              <a:lnSpc>
                <a:spcPct val="113999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PyTorch optimizer documentation — docs.pytorch.org/docs/stable/optim.html</a:t>
            </a:r>
            <a:endParaRPr/>
          </a:p>
          <a:p>
            <a:pPr algn="l">
              <a:lnSpc>
                <a:spcPct val="113999"/>
              </a:lnSpc>
              <a:buNone/>
              <a:defRPr sz="1500" b="0" i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43A"/>
                </a:solidFill>
                <a:latin typeface="Arial"/>
                <a:ea typeface="Arial"/>
                <a:cs typeface="Arial"/>
              </a:rPr>
              <a:t>MNIST archive — storage.googleapis.com/tensorflow/tf-keras-datasets/mnist.npz</a:t>
            </a:r>
            <a:endParaRPr/>
          </a:p>
        </p:txBody>
      </p:sp>
      <p:sp>
        <p:nvSpPr>
          <p:cNvPr id="670579412" name="Rectangle 670579411">
            <a:extLst>
              <a:ext uri="{FF2B5EF4-FFF2-40B4-BE49-F238E27FC236}">
                <a16:creationId xmlns:a16="http://schemas.microsoft.com/office/drawing/2014/main" id="{EFBF5948-F456-4B8C-A45B-4F905A03C80B}"/>
              </a:ext>
            </a:extLst>
          </p:cNvPr>
          <p:cNvSpPr>
            <a:spLocks noGrp="1"/>
          </p:cNvSpPr>
          <p:nvPr/>
        </p:nvSpPr>
        <p:spPr>
          <a:xfrm>
            <a:off x="895349" y="3702842"/>
            <a:ext cx="4000500" cy="3238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264"/>
          </a:bodyPr>
          <a:lstStyle/>
          <a:p>
            <a:pPr algn="l">
              <a:lnSpc>
                <a:spcPct val="113999"/>
              </a:lnSpc>
              <a:buNone/>
              <a:defRPr sz="2100" b="1" i="0">
                <a:solidFill>
                  <a:srgbClr val="3158C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C000"/>
                </a:solidFill>
                <a:latin typeface="Arial"/>
                <a:ea typeface="Arial"/>
                <a:cs typeface="Arial"/>
              </a:rPr>
              <a:t>Source code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26736352" name="Rectangle 126736351">
            <a:extLst>
              <a:ext uri="{FF2B5EF4-FFF2-40B4-BE49-F238E27FC236}">
                <a16:creationId xmlns:a16="http://schemas.microsoft.com/office/drawing/2014/main" id="{770C3B14-EFA0-491C-A40C-A5930FA0BB16}"/>
              </a:ext>
            </a:extLst>
          </p:cNvPr>
          <p:cNvSpPr>
            <a:spLocks noGrp="1"/>
          </p:cNvSpPr>
          <p:nvPr/>
        </p:nvSpPr>
        <p:spPr>
          <a:xfrm>
            <a:off x="1007268" y="4026692"/>
            <a:ext cx="5319449" cy="586978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anchor="t">
            <a:normAutofit/>
          </a:bodyPr>
          <a:lstStyle/>
          <a:p>
            <a:pPr>
              <a:buNone/>
            </a:pPr>
            <a:r>
              <a:rPr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Visualizations: </a:t>
            </a:r>
            <a:r>
              <a:rPr sz="15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/>
              </a:rPr>
              <a:t>https://github.com/1zuki/gradient-descent/</a:t>
            </a:r>
            <a:br>
              <a:rPr sz="1500">
                <a:latin typeface="Arial"/>
                <a:ea typeface="Arial"/>
                <a:cs typeface="Arial"/>
              </a:rPr>
            </a:br>
            <a:r>
              <a:rPr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Numpy CNN: </a:t>
            </a:r>
            <a:r>
              <a:rPr sz="15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/>
              </a:rPr>
              <a:t>https://github.com/1zuki/numpy-cnn/</a:t>
            </a:r>
            <a:endParaRPr sz="1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66244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Reader Facing Seminar">
      <a:dk1>
        <a:srgbClr val="000000"/>
      </a:dk1>
      <a:lt1>
        <a:srgbClr val="FFFFFF"/>
      </a:lt1>
      <a:dk2>
        <a:srgbClr val="17243A"/>
      </a:dk2>
      <a:lt2>
        <a:srgbClr val="DCE3ED"/>
      </a:lt2>
      <a:accent1>
        <a:srgbClr val="3158C9"/>
      </a:accent1>
      <a:accent2>
        <a:srgbClr val="13877F"/>
      </a:accent2>
      <a:accent3>
        <a:srgbClr val="A9610B"/>
      </a:accent3>
      <a:accent4>
        <a:srgbClr val="B53D4A"/>
      </a:accent4>
      <a:accent5>
        <a:srgbClr val="6652A3"/>
      </a:accent5>
      <a:accent6>
        <a:srgbClr val="4C7A34"/>
      </a:accent6>
      <a:hlink>
        <a:srgbClr val="3158C9"/>
      </a:hlink>
      <a:folHlink>
        <a:srgbClr val="6652A3"/>
      </a:folHlink>
    </a:clrScheme>
    <a:fontScheme name="">
      <a:majorFont>
        <a:latin typeface="Aptos"/>
        <a:ea typeface="Arial"/>
        <a:cs typeface="Arial"/>
      </a:majorFont>
      <a:minorFont>
        <a:latin typeface="Aptos"/>
        <a:ea typeface="Arial"/>
        <a:cs typeface="Arial"/>
      </a:minorFont>
    </a:fontScheme>
    <a:fmtScheme name="Reader Facing Semin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Reader Facing Seminar">
      <a:dk1>
        <a:srgbClr val="000000"/>
      </a:dk1>
      <a:lt1>
        <a:srgbClr val="FFFFFF"/>
      </a:lt1>
      <a:dk2>
        <a:srgbClr val="17243A"/>
      </a:dk2>
      <a:lt2>
        <a:srgbClr val="DCE3ED"/>
      </a:lt2>
      <a:accent1>
        <a:srgbClr val="3158C9"/>
      </a:accent1>
      <a:accent2>
        <a:srgbClr val="13877F"/>
      </a:accent2>
      <a:accent3>
        <a:srgbClr val="A9610B"/>
      </a:accent3>
      <a:accent4>
        <a:srgbClr val="B53D4A"/>
      </a:accent4>
      <a:accent5>
        <a:srgbClr val="6652A3"/>
      </a:accent5>
      <a:accent6>
        <a:srgbClr val="4C7A34"/>
      </a:accent6>
      <a:hlink>
        <a:srgbClr val="3158C9"/>
      </a:hlink>
      <a:folHlink>
        <a:srgbClr val="6652A3"/>
      </a:folHlink>
    </a:clrScheme>
    <a:fontScheme name="">
      <a:majorFont>
        <a:latin typeface="Aptos"/>
        <a:ea typeface="Arial"/>
        <a:cs typeface="Arial"/>
      </a:majorFont>
      <a:minorFont>
        <a:latin typeface="Aptos"/>
        <a:ea typeface="Arial"/>
        <a:cs typeface="Arial"/>
      </a:minorFont>
    </a:fontScheme>
    <a:fmtScheme name="Reader Facing Semina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2177</Words>
  <Application>Microsoft Office PowerPoint</Application>
  <DocSecurity>0</DocSecurity>
  <PresentationFormat>Widescreen</PresentationFormat>
  <Paragraphs>315</Paragraphs>
  <Slides>29</Slides>
  <Notes>29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楓 Kaede</cp:lastModifiedBy>
  <cp:revision>39</cp:revision>
  <dcterms:created xsi:type="dcterms:W3CDTF">2026-09-27T14:01:15Z</dcterms:created>
  <dcterms:modified xsi:type="dcterms:W3CDTF">2026-09-27T22:32:43Z</dcterms:modified>
</cp:coreProperties>
</file>