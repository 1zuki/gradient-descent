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53acb01624c9d" /><Relationship Type="http://schemas.openxmlformats.org/officeDocument/2006/relationships/extended-properties" Target="/docProps/app.xml" Id="R538c620a2c484f97" /><Relationship Type="http://schemas.openxmlformats.org/officeDocument/2006/relationships/officeDocument" Target="/ppt/presentation.xml" Id="R9299e841b49a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c4eceaf1848ea"/>
  </p:sldMasterIdLst>
  <p:notesMasterIdLst>
    <p:notesMasterId xmlns:r="http://schemas.openxmlformats.org/officeDocument/2006/relationships" r:id="Ra8fa45fda520472d"/>
  </p:notesMasterIdLst>
  <p:sldIdLst>
    <p:sldId xmlns:r="http://schemas.openxmlformats.org/officeDocument/2006/relationships" id="256" r:id="Rf3aa60a90a3e4dfe"/>
    <p:sldId xmlns:r="http://schemas.openxmlformats.org/officeDocument/2006/relationships" id="257" r:id="R6134c03d18dd4a56"/>
    <p:sldId xmlns:r="http://schemas.openxmlformats.org/officeDocument/2006/relationships" id="258" r:id="R721180dd9fd2482c"/>
    <p:sldId xmlns:r="http://schemas.openxmlformats.org/officeDocument/2006/relationships" id="259" r:id="Rf54c222437594139"/>
    <p:sldId xmlns:r="http://schemas.openxmlformats.org/officeDocument/2006/relationships" id="260" r:id="R95b8b20ab37b4839"/>
    <p:sldId xmlns:r="http://schemas.openxmlformats.org/officeDocument/2006/relationships" id="261" r:id="R5ef4f25583e64f95"/>
    <p:sldId xmlns:r="http://schemas.openxmlformats.org/officeDocument/2006/relationships" id="262" r:id="Rc37e164b07284cb2"/>
    <p:sldId xmlns:r="http://schemas.openxmlformats.org/officeDocument/2006/relationships" id="263" r:id="Rffbd3b442d5a435f"/>
    <p:sldId xmlns:r="http://schemas.openxmlformats.org/officeDocument/2006/relationships" id="264" r:id="R5041a4437caf431b"/>
    <p:sldId xmlns:r="http://schemas.openxmlformats.org/officeDocument/2006/relationships" id="265" r:id="R6e40a097b6264709"/>
    <p:sldId xmlns:r="http://schemas.openxmlformats.org/officeDocument/2006/relationships" id="266" r:id="R7571bf0f17824190"/>
    <p:sldId xmlns:r="http://schemas.openxmlformats.org/officeDocument/2006/relationships" id="267" r:id="R1595c0d178134df1"/>
    <p:sldId xmlns:r="http://schemas.openxmlformats.org/officeDocument/2006/relationships" id="268" r:id="R3269df6b36fa4e9e"/>
    <p:sldId xmlns:r="http://schemas.openxmlformats.org/officeDocument/2006/relationships" id="269" r:id="R7374c589d62544b0"/>
    <p:sldId xmlns:r="http://schemas.openxmlformats.org/officeDocument/2006/relationships" id="270" r:id="R73f4bf66c4f94af4"/>
    <p:sldId xmlns:r="http://schemas.openxmlformats.org/officeDocument/2006/relationships" id="271" r:id="R995d84db36864bc0"/>
    <p:sldId xmlns:r="http://schemas.openxmlformats.org/officeDocument/2006/relationships" id="272" r:id="R61ca6a394aa44112"/>
    <p:sldId xmlns:r="http://schemas.openxmlformats.org/officeDocument/2006/relationships" id="273" r:id="R7d552749dd524a4b"/>
    <p:sldId xmlns:r="http://schemas.openxmlformats.org/officeDocument/2006/relationships" id="274" r:id="Rccc7f802d5c7472e"/>
    <p:sldId xmlns:r="http://schemas.openxmlformats.org/officeDocument/2006/relationships" id="275" r:id="R8b0d028c6273415e"/>
    <p:sldId xmlns:r="http://schemas.openxmlformats.org/officeDocument/2006/relationships" id="276" r:id="R9bf6501e4491480e"/>
    <p:sldId xmlns:r="http://schemas.openxmlformats.org/officeDocument/2006/relationships" id="277" r:id="R1bf7bff33a3247c6"/>
    <p:sldId xmlns:r="http://schemas.openxmlformats.org/officeDocument/2006/relationships" id="278" r:id="R34f18fcb8ea64fb8"/>
    <p:sldId xmlns:r="http://schemas.openxmlformats.org/officeDocument/2006/relationships" id="279" r:id="Rcc413aa1e48442ed"/>
    <p:sldId xmlns:r="http://schemas.openxmlformats.org/officeDocument/2006/relationships" id="280" r:id="R2c2ae8b85c884f75"/>
    <p:sldId xmlns:r="http://schemas.openxmlformats.org/officeDocument/2006/relationships" id="281" r:id="R5142fa7a90b3444f"/>
    <p:sldId xmlns:r="http://schemas.openxmlformats.org/officeDocument/2006/relationships" id="282" r:id="Rfefb696519f24e40"/>
    <p:sldId xmlns:r="http://schemas.openxmlformats.org/officeDocument/2006/relationships" id="283" r:id="R5420999545f94751"/>
    <p:sldId xmlns:r="http://schemas.openxmlformats.org/officeDocument/2006/relationships" id="284" r:id="Rf900d4c5e9954427"/>
    <p:sldId xmlns:r="http://schemas.openxmlformats.org/officeDocument/2006/relationships" id="285" r:id="Rd00db9ef1b9a4624"/>
    <p:sldId xmlns:r="http://schemas.openxmlformats.org/officeDocument/2006/relationships" id="286" r:id="Ra66aeef3214845b4"/>
    <p:sldId xmlns:r="http://schemas.openxmlformats.org/officeDocument/2006/relationships" id="287" r:id="R3e504608bdd446a2"/>
    <p:sldId xmlns:r="http://schemas.openxmlformats.org/officeDocument/2006/relationships" id="288" r:id="Rb461673efc5f407a"/>
    <p:sldId xmlns:r="http://schemas.openxmlformats.org/officeDocument/2006/relationships" id="289" r:id="R990d1d47eacd48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f5962d46444271" /><Relationship Type="http://schemas.openxmlformats.org/officeDocument/2006/relationships/slideMaster" Target="/ppt/slideMasters/slideMaster1.xml" Id="Red6c4eceaf1848ea" /><Relationship Type="http://schemas.openxmlformats.org/officeDocument/2006/relationships/notesMaster" Target="/ppt/notesMasters/notesMaster1.xml" Id="Ra8fa45fda520472d" /><Relationship Type="http://schemas.openxmlformats.org/officeDocument/2006/relationships/presProps" Target="/ppt/presProps.xml" Id="R4fd74e6076ce4ed5" /><Relationship Type="http://schemas.openxmlformats.org/officeDocument/2006/relationships/tableStyles" Target="/ppt/tableStyles.xml" Id="Rbd651c673f7b49b6" /><Relationship Type="http://schemas.openxmlformats.org/officeDocument/2006/relationships/slide" Target="/ppt/slides/slide1.xml" Id="Rf3aa60a90a3e4dfe" /><Relationship Type="http://schemas.openxmlformats.org/officeDocument/2006/relationships/slide" Target="/ppt/slides/slide2.xml" Id="R6134c03d18dd4a56" /><Relationship Type="http://schemas.openxmlformats.org/officeDocument/2006/relationships/slide" Target="/ppt/slides/slide3.xml" Id="R721180dd9fd2482c" /><Relationship Type="http://schemas.openxmlformats.org/officeDocument/2006/relationships/slide" Target="/ppt/slides/slide4.xml" Id="Rf54c222437594139" /><Relationship Type="http://schemas.openxmlformats.org/officeDocument/2006/relationships/slide" Target="/ppt/slides/slide5.xml" Id="R95b8b20ab37b4839" /><Relationship Type="http://schemas.openxmlformats.org/officeDocument/2006/relationships/slide" Target="/ppt/slides/slide6.xml" Id="R5ef4f25583e64f95" /><Relationship Type="http://schemas.openxmlformats.org/officeDocument/2006/relationships/slide" Target="/ppt/slides/slide7.xml" Id="Rc37e164b07284cb2" /><Relationship Type="http://schemas.openxmlformats.org/officeDocument/2006/relationships/slide" Target="/ppt/slides/slide8.xml" Id="Rffbd3b442d5a435f" /><Relationship Type="http://schemas.openxmlformats.org/officeDocument/2006/relationships/slide" Target="/ppt/slides/slide9.xml" Id="R5041a4437caf431b" /><Relationship Type="http://schemas.openxmlformats.org/officeDocument/2006/relationships/slide" Target="/ppt/slides/slide10.xml" Id="R6e40a097b6264709" /><Relationship Type="http://schemas.openxmlformats.org/officeDocument/2006/relationships/slide" Target="/ppt/slides/slide11.xml" Id="R7571bf0f17824190" /><Relationship Type="http://schemas.openxmlformats.org/officeDocument/2006/relationships/slide" Target="/ppt/slides/slide12.xml" Id="R1595c0d178134df1" /><Relationship Type="http://schemas.openxmlformats.org/officeDocument/2006/relationships/slide" Target="/ppt/slides/slide13.xml" Id="R3269df6b36fa4e9e" /><Relationship Type="http://schemas.openxmlformats.org/officeDocument/2006/relationships/slide" Target="/ppt/slides/slide14.xml" Id="R7374c589d62544b0" /><Relationship Type="http://schemas.openxmlformats.org/officeDocument/2006/relationships/slide" Target="/ppt/slides/slide15.xml" Id="R73f4bf66c4f94af4" /><Relationship Type="http://schemas.openxmlformats.org/officeDocument/2006/relationships/slide" Target="/ppt/slides/slide16.xml" Id="R995d84db36864bc0" /><Relationship Type="http://schemas.openxmlformats.org/officeDocument/2006/relationships/slide" Target="/ppt/slides/slide17.xml" Id="R61ca6a394aa44112" /><Relationship Type="http://schemas.openxmlformats.org/officeDocument/2006/relationships/slide" Target="/ppt/slides/slide18.xml" Id="R7d552749dd524a4b" /><Relationship Type="http://schemas.openxmlformats.org/officeDocument/2006/relationships/slide" Target="/ppt/slides/slide19.xml" Id="Rccc7f802d5c7472e" /><Relationship Type="http://schemas.openxmlformats.org/officeDocument/2006/relationships/slide" Target="/ppt/slides/slide20.xml" Id="R8b0d028c6273415e" /><Relationship Type="http://schemas.openxmlformats.org/officeDocument/2006/relationships/slide" Target="/ppt/slides/slide21.xml" Id="R9bf6501e4491480e" /><Relationship Type="http://schemas.openxmlformats.org/officeDocument/2006/relationships/slide" Target="/ppt/slides/slide22.xml" Id="R1bf7bff33a3247c6" /><Relationship Type="http://schemas.openxmlformats.org/officeDocument/2006/relationships/slide" Target="/ppt/slides/slide23.xml" Id="R34f18fcb8ea64fb8" /><Relationship Type="http://schemas.openxmlformats.org/officeDocument/2006/relationships/slide" Target="/ppt/slides/slide24.xml" Id="Rcc413aa1e48442ed" /><Relationship Type="http://schemas.openxmlformats.org/officeDocument/2006/relationships/slide" Target="/ppt/slides/slide25.xml" Id="R2c2ae8b85c884f75" /><Relationship Type="http://schemas.openxmlformats.org/officeDocument/2006/relationships/slide" Target="/ppt/slides/slide26.xml" Id="R5142fa7a90b3444f" /><Relationship Type="http://schemas.openxmlformats.org/officeDocument/2006/relationships/slide" Target="/ppt/slides/slide27.xml" Id="Rfefb696519f24e40" /><Relationship Type="http://schemas.openxmlformats.org/officeDocument/2006/relationships/slide" Target="/ppt/slides/slide28.xml" Id="R5420999545f94751" /><Relationship Type="http://schemas.openxmlformats.org/officeDocument/2006/relationships/slide" Target="/ppt/slides/slide29.xml" Id="Rf900d4c5e9954427" /><Relationship Type="http://schemas.openxmlformats.org/officeDocument/2006/relationships/slide" Target="/ppt/slides/slide30.xml" Id="Rd00db9ef1b9a4624" /><Relationship Type="http://schemas.openxmlformats.org/officeDocument/2006/relationships/slide" Target="/ppt/slides/slide31.xml" Id="Ra66aeef3214845b4" /><Relationship Type="http://schemas.openxmlformats.org/officeDocument/2006/relationships/slide" Target="/ppt/slides/slide32.xml" Id="R3e504608bdd446a2" /><Relationship Type="http://schemas.openxmlformats.org/officeDocument/2006/relationships/slide" Target="/ppt/slides/slide33.xml" Id="Rb461673efc5f407a" /><Relationship Type="http://schemas.openxmlformats.org/officeDocument/2006/relationships/slide" Target="/ppt/slides/slide34.xml" Id="R990d1d47eacd48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f8240f821d4e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eminar White">
      <a:dk1>
        <a:srgbClr val="000000"/>
      </a:dk1>
      <a:lt1>
        <a:srgbClr val="FFFFFF"/>
      </a:lt1>
      <a:dk2>
        <a:srgbClr val="182230"/>
      </a:dk2>
      <a:lt2>
        <a:srgbClr val="D6DEE8"/>
      </a:lt2>
      <a:accent1>
        <a:srgbClr val="2463A5"/>
      </a:accent1>
      <a:accent2>
        <a:srgbClr val="178A86"/>
      </a:accent2>
      <a:accent3>
        <a:srgbClr val="B66A08"/>
      </a:accent3>
      <a:accent4>
        <a:srgbClr val="B43D3D"/>
      </a:accent4>
      <a:accent5>
        <a:srgbClr val="6E59A6"/>
      </a:accent5>
      <a:accent6>
        <a:srgbClr val="4C7A34"/>
      </a:accent6>
      <a:hlink>
        <a:srgbClr val="2463A5"/>
      </a:hlink>
      <a:folHlink>
        <a:srgbClr val="6E59A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eminar Whi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dcd06d74644c6b" /><Relationship Type="http://schemas.openxmlformats.org/officeDocument/2006/relationships/notesMaster" Target="/ppt/notesMasters/notesMaster1.xml" Id="Rb111cbb70daf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5d7bb590d745b0" /><Relationship Type="http://schemas.openxmlformats.org/officeDocument/2006/relationships/notesMaster" Target="/ppt/notesMasters/notesMaster1.xml" Id="R9e3bb6ca2aa943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df2a5486f9468e" /><Relationship Type="http://schemas.openxmlformats.org/officeDocument/2006/relationships/notesMaster" Target="/ppt/notesMasters/notesMaster1.xml" Id="R0409149a878e44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135e453a7d414d" /><Relationship Type="http://schemas.openxmlformats.org/officeDocument/2006/relationships/notesMaster" Target="/ppt/notesMasters/notesMaster1.xml" Id="R33b16b70f76046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2333609e9347f8" /><Relationship Type="http://schemas.openxmlformats.org/officeDocument/2006/relationships/notesMaster" Target="/ppt/notesMasters/notesMaster1.xml" Id="Rc56812c603734b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b2df85e05147d5" /><Relationship Type="http://schemas.openxmlformats.org/officeDocument/2006/relationships/notesMaster" Target="/ppt/notesMasters/notesMaster1.xml" Id="R0c5b7ddde4fb4d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706e731804820" /><Relationship Type="http://schemas.openxmlformats.org/officeDocument/2006/relationships/notesMaster" Target="/ppt/notesMasters/notesMaster1.xml" Id="R1d611627b0cc43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1e824986894196" /><Relationship Type="http://schemas.openxmlformats.org/officeDocument/2006/relationships/notesMaster" Target="/ppt/notesMasters/notesMaster1.xml" Id="R28d214904647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c2bbc5e8ed4082" /><Relationship Type="http://schemas.openxmlformats.org/officeDocument/2006/relationships/notesMaster" Target="/ppt/notesMasters/notesMaster1.xml" Id="R8e263cd2ad5b44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69de435d6f494f" /><Relationship Type="http://schemas.openxmlformats.org/officeDocument/2006/relationships/notesMaster" Target="/ppt/notesMasters/notesMaster1.xml" Id="R5d6ecb0c7fe449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a1f48d017d4d8d" /><Relationship Type="http://schemas.openxmlformats.org/officeDocument/2006/relationships/notesMaster" Target="/ppt/notesMasters/notesMaster1.xml" Id="R6df350c36ed540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76a018d6954fb4" /><Relationship Type="http://schemas.openxmlformats.org/officeDocument/2006/relationships/notesMaster" Target="/ppt/notesMasters/notesMaster1.xml" Id="Rc72339af128146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a766c1dab149b8" /><Relationship Type="http://schemas.openxmlformats.org/officeDocument/2006/relationships/notesMaster" Target="/ppt/notesMasters/notesMaster1.xml" Id="R5d373da02b4442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72692ed80b4d05" /><Relationship Type="http://schemas.openxmlformats.org/officeDocument/2006/relationships/notesMaster" Target="/ppt/notesMasters/notesMaster1.xml" Id="R0fddb6a3452244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18a1660cca44fe" /><Relationship Type="http://schemas.openxmlformats.org/officeDocument/2006/relationships/notesMaster" Target="/ppt/notesMasters/notesMaster1.xml" Id="R094f5696690f43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fcac2c4ebc428b" /><Relationship Type="http://schemas.openxmlformats.org/officeDocument/2006/relationships/notesMaster" Target="/ppt/notesMasters/notesMaster1.xml" Id="Ra484782474a249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6309cb7c744b48" /><Relationship Type="http://schemas.openxmlformats.org/officeDocument/2006/relationships/notesMaster" Target="/ppt/notesMasters/notesMaster1.xml" Id="R698730d168ff4b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0fece87630414e" /><Relationship Type="http://schemas.openxmlformats.org/officeDocument/2006/relationships/notesMaster" Target="/ppt/notesMasters/notesMaster1.xml" Id="R004e1ca9716540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936f01f8cf4279" /><Relationship Type="http://schemas.openxmlformats.org/officeDocument/2006/relationships/notesMaster" Target="/ppt/notesMasters/notesMaster1.xml" Id="Rac96e99ffb1e4b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bdbaed7e4447bf" /><Relationship Type="http://schemas.openxmlformats.org/officeDocument/2006/relationships/notesMaster" Target="/ppt/notesMasters/notesMaster1.xml" Id="Rcd33bce4bd7b41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d1f53ab3cd4a69" /><Relationship Type="http://schemas.openxmlformats.org/officeDocument/2006/relationships/notesMaster" Target="/ppt/notesMasters/notesMaster1.xml" Id="R2d66bd980ad849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6972d4d3434b5e" /><Relationship Type="http://schemas.openxmlformats.org/officeDocument/2006/relationships/notesMaster" Target="/ppt/notesMasters/notesMaster1.xml" Id="R22b60a49913843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b175f1fb924e1a" /><Relationship Type="http://schemas.openxmlformats.org/officeDocument/2006/relationships/notesMaster" Target="/ppt/notesMasters/notesMaster1.xml" Id="R947beee5bf7844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3c3292532e14cf8" /><Relationship Type="http://schemas.openxmlformats.org/officeDocument/2006/relationships/notesMaster" Target="/ppt/notesMasters/notesMaster1.xml" Id="Rfe47fd0281bc4a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460d5d38804dc0" /><Relationship Type="http://schemas.openxmlformats.org/officeDocument/2006/relationships/notesMaster" Target="/ppt/notesMasters/notesMaster1.xml" Id="R6b1c166332f143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dda5f098b44c2d" /><Relationship Type="http://schemas.openxmlformats.org/officeDocument/2006/relationships/notesMaster" Target="/ppt/notesMasters/notesMaster1.xml" Id="R11d33a6566154e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6ecba51753485b" /><Relationship Type="http://schemas.openxmlformats.org/officeDocument/2006/relationships/notesMaster" Target="/ppt/notesMasters/notesMaster1.xml" Id="R8994e187c11f48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6597e0857d476e" /><Relationship Type="http://schemas.openxmlformats.org/officeDocument/2006/relationships/notesMaster" Target="/ppt/notesMasters/notesMaster1.xml" Id="R5fb75c205f3e49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4a8edc98914a75" /><Relationship Type="http://schemas.openxmlformats.org/officeDocument/2006/relationships/notesMaster" Target="/ppt/notesMasters/notesMaster1.xml" Id="R136f63dbfac244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2dc9a892c4c4209" /><Relationship Type="http://schemas.openxmlformats.org/officeDocument/2006/relationships/notesMaster" Target="/ppt/notesMasters/notesMaster1.xml" Id="R03a80e71e15f49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3f5613b9e16493a" /><Relationship Type="http://schemas.openxmlformats.org/officeDocument/2006/relationships/notesMaster" Target="/ppt/notesMasters/notesMaster1.xml" Id="R5aaa845314ff40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f72dad228864a3e" /><Relationship Type="http://schemas.openxmlformats.org/officeDocument/2006/relationships/notesMaster" Target="/ppt/notesMasters/notesMaster1.xml" Id="R86dc0f8d736246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d2d19a646014793" /><Relationship Type="http://schemas.openxmlformats.org/officeDocument/2006/relationships/notesMaster" Target="/ppt/notesMasters/notesMaster1.xml" Id="Rf9e3d8b25d2d417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456b00f6344ff8" /><Relationship Type="http://schemas.openxmlformats.org/officeDocument/2006/relationships/notesMaster" Target="/ppt/notesMasters/notesMaster1.xml" Id="R8ffaccf1ee6145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Today we are not trying to memorize ten optimizer names. We are trying to understand one idea: if a function tells us which direction goes uphill fastest, can we use that information to go downhill?</a:t>
            </a:r>
          </a:p>
          <a:p xmlns:a="http://schemas.openxmlformats.org/drawingml/2006/main">
            <a:r>
              <a:t>Source: PROJECT_PLAN.md, sections 1 and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the problem before introducing vocabulary.</a:t>
            </a:r>
          </a:p>
          <a:p xmlns:a="http://schemas.openxmlformats.org/drawingml/2006/main">
            <a:r>
              <a:t>Source: PROJECT_PLAN.md, sections 1 and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training as a repeated parameter-search problem.</a:t>
            </a:r>
          </a:p>
          <a:p xmlns:a="http://schemas.openxmlformats.org/drawingml/2006/main">
            <a:r>
              <a:t>Do not imply that the loss surface is literally only two-dimensional; the 2D view is a teaching projection.</a:t>
            </a:r>
          </a:p>
          <a:p xmlns:a="http://schemas.openxmlformats.org/drawingml/2006/main">
            <a:r>
              <a:t>Source: PROJECT_PLAN.md, sections 1 and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Activate prior calculus knowledge with f(x) = x².</a:t>
            </a:r>
          </a:p>
          <a:p xmlns:a="http://schemas.openxmlformats.org/drawingml/2006/main">
            <a:r>
              <a:t>Source: PROJECT_PLAN.md, section 7.1.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distinction between a scalar derivative and a vector of partial derivatives explicit.</a:t>
            </a:r>
          </a:p>
          <a:p xmlns:a="http://schemas.openxmlformats.org/drawingml/2006/main">
            <a:r>
              <a:t>Source: PROJECT_PLAN.md, sections 7.2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here and ask students to compute the update before revealing the answer.</a:t>
            </a:r>
          </a:p>
          <a:p xmlns:a="http://schemas.openxmlformats.org/drawingml/2006/main">
            <a:r>
              <a:t>Source: PROJECT_PLAN.md, section 7.2; docs/QUESTIONS_FOR_CLASS.md.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arrows show the gradient direction at many points. The gradient points toward increasing f.</a:t>
            </a:r>
          </a:p>
          <a:p xmlns:a="http://schemas.openxmlformats.org/drawingml/2006/main">
            <a:r>
              <a:t>Source figure: figures/png/01_gradient_field_sphere.png.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surface to connect the equation and the geometry.</a:t>
            </a:r>
          </a:p>
          <a:p xmlns:a="http://schemas.openxmlformats.org/drawingml/2006/main">
            <a:r>
              <a:t>Source figure: figures/png/02_surface_sphere_3d.png.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 the direction argument with the directional derivative and Cauchy–Schwarz.</a:t>
            </a:r>
          </a:p>
          <a:p xmlns:a="http://schemas.openxmlformats.org/drawingml/2006/main">
            <a:r>
              <a:t>Source: PROJECT_PLAN.md, section 7.3.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the local mathematical justification, while keeping the caveat about step size.</a:t>
            </a:r>
          </a:p>
          <a:p xmlns:a="http://schemas.openxmlformats.org/drawingml/2006/main">
            <a:r>
              <a:t>Source: PROJECT_PLAN.md, section 7.3.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baseline algorithm explicit before naming variants.</a:t>
            </a:r>
          </a:p>
          <a:p xmlns:a="http://schemas.openxmlformats.org/drawingml/2006/main">
            <a:r>
              <a:t>Source: PROJECT_PLAN.md, sections 1 and 7.3.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visual should confirm the hand calculation, not replace it.</a:t>
            </a:r>
          </a:p>
          <a:p xmlns:a="http://schemas.openxmlformats.org/drawingml/2006/main">
            <a:r>
              <a:t>Source figure: figures/png/03_gd_steps_sphere.png.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prediction slide: ask what happens when η is too small, appropriate, or too large.</a:t>
            </a:r>
          </a:p>
          <a:p xmlns:a="http://schemas.openxmlformats.org/drawingml/2006/main">
            <a:r>
              <a:t>Source: PROJECT_PLAN.md, sections 7.4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explicitly that x² + 25y² is convex and has one global minimum.</a:t>
            </a:r>
          </a:p>
          <a:p xmlns:a="http://schemas.openxmlformats.org/drawingml/2006/main">
            <a:r>
              <a:t>Source: PROJECT_PLAN.md, section 7.4; figure: figures/png/04_learning_rate_ill_conditioned.png.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diagonal Hessian to derive the coordinate multipliers.</a:t>
            </a:r>
          </a:p>
          <a:p xmlns:a="http://schemas.openxmlformats.org/drawingml/2006/main">
            <a:r>
              <a:t>Source: PROJECT_PLAN.md, section 7.4.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regimes on identical axes. This is a mechanism demonstration, not a universal benchmark.</a:t>
            </a:r>
          </a:p>
          <a:p xmlns:a="http://schemas.openxmlformats.org/drawingml/2006/main">
            <a:r>
              <a:t>Source figure: figures/png/04_learning_rate_ill_conditioned.png.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example separate from the ill-conditioned quadratic.</a:t>
            </a:r>
          </a:p>
          <a:p xmlns:a="http://schemas.openxmlformats.org/drawingml/2006/main">
            <a:r>
              <a:t>Source: PROJECT_PLAN.md, section 7.5; figure: figures/png/06_nonconvex_local_minima.png.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saddle to break the shortcut: gradient equals zero means stationary, not necessarily minimum.</a:t>
            </a:r>
          </a:p>
          <a:p xmlns:a="http://schemas.openxmlformats.org/drawingml/2006/main">
            <a:r>
              <a:t>Source: PROJECT_PLAN.md, section 7.5; figure: figures/png/07_saddle_point.png.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a minute to calculate before showing the answer.</a:t>
            </a:r>
          </a:p>
          <a:p xmlns:a="http://schemas.openxmlformats.org/drawingml/2006/main">
            <a:r>
              <a:t>Source: docs/QUESTIONS_FOR_CLASS.md.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batch size describes how the gradient is estimated; optimizer state describes how the estimate is transformed.</a:t>
            </a:r>
          </a:p>
          <a:p xmlns:a="http://schemas.openxmlformats.org/drawingml/2006/main">
            <a:r>
              <a:t>Source: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momentum as a response to zigzagging and persistent directions.</a:t>
            </a:r>
          </a:p>
          <a:p xmlns:a="http://schemas.openxmlformats.org/drawingml/2006/main">
            <a:r>
              <a:t>Source: PROJECT_PLAN.md, section 8; figure: figures/png/05_optimizer_trajectories_ill_conditioned.png.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Nesterov as a natural extension of momentum, without deriving every implementation variant.</a:t>
            </a:r>
          </a:p>
          <a:p xmlns:a="http://schemas.openxmlformats.org/drawingml/2006/main">
            <a:r>
              <a:t>Source: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adaptive methods as a response to coordinate-wise scale differences.</a:t>
            </a:r>
          </a:p>
          <a:p xmlns:a="http://schemas.openxmlformats.org/drawingml/2006/main">
            <a:r>
              <a:t>Source: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moving average as the key conceptual change from AdaGrad.</a:t>
            </a:r>
          </a:p>
          <a:p xmlns:a="http://schemas.openxmlformats.org/drawingml/2006/main">
            <a:r>
              <a:t>Source: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Adam the most detail because it combines the two main ideas in the family.</a:t>
            </a:r>
          </a:p>
          <a:p xmlns:a="http://schemas.openxmlformats.org/drawingml/2006/main">
            <a:r>
              <a:t>Source: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AdamW is a meaningful distinction rather than a cosmetic rename.</a:t>
            </a:r>
          </a:p>
          <a:p xmlns:a="http://schemas.openxmlformats.org/drawingml/2006/main">
            <a:r>
              <a:t>Source: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family map as the transition from formulas to comparison.</a:t>
            </a:r>
          </a:p>
          <a:p xmlns:a="http://schemas.openxmlformats.org/drawingml/2006/main">
            <a:r>
              <a:t>Source figure: figures/png/08_optimizer_family_map.png; scope: PROJECT_PLAN.md, section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advanced methods available without letting them displace the gradient-first story.</a:t>
            </a:r>
          </a:p>
          <a:p xmlns:a="http://schemas.openxmlformats.org/drawingml/2006/main">
            <a:r>
              <a:t>Source: PROJECT_PLAN.md, sections 2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2D plots teach mechanisms. They do not prove universal optimizer superiority.</a:t>
            </a:r>
          </a:p>
          <a:p xmlns:a="http://schemas.openxmlformats.org/drawingml/2006/main">
            <a:r>
              <a:t>Source figure: figures/png/05_optimizer_trajectories_ill_conditioned.png; PROJECT_PLAN.md, sections 5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preserves the project plan's uncertainty: the current loop is not yet final evidence.</a:t>
            </a:r>
          </a:p>
          <a:p xmlns:a="http://schemas.openxmlformats.org/drawingml/2006/main">
            <a:r>
              <a:t>Source: docs/EXPERIMENT_PLAN.md and PROJECT_PLAN.md, section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a NumPy implementation so forward pass, gradients, and updates remain visible in code.</a:t>
            </a:r>
          </a:p>
          <a:p xmlns:a="http://schemas.openxmlformats.org/drawingml/2006/main">
            <a:r>
              <a:t>Source: PROJECT_PLAN.md, section 10; figure: figures/png/09_numpy_cnn_architecture.png.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drown the audience in convolution internals. Show the separation of responsibilities.</a:t>
            </a:r>
          </a:p>
          <a:p xmlns:a="http://schemas.openxmlformats.org/drawingml/2006/main">
            <a:r>
              <a:t>Source: docs/TALK_SCRIPT.md and PROJECT_PLAN.md, sections 2 and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consolidate the story, not to introduce new material.</a:t>
            </a:r>
          </a:p>
          <a:p xmlns:a="http://schemas.openxmlformats.org/drawingml/2006/main">
            <a:r>
              <a:t>Source: PROJECT_PLAN.md, sections 1, 3, 8, and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question and inviting students to name the role of the gradient, learning rate, and optimizer state.</a:t>
            </a:r>
          </a:p>
          <a:p xmlns:a="http://schemas.openxmlformats.org/drawingml/2006/main">
            <a:r>
              <a:t>Source: docs/QUESTIONS_FOR_CLASS.md.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8da0a796e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4af70d550483a" /><Relationship Type="http://schemas.openxmlformats.org/officeDocument/2006/relationships/slideLayout" Target="/ppt/slideLayouts/slideLayout1.xml" Id="Rdf155e11fa19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55e11fa19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eminar White">
      <a:dk1>
        <a:srgbClr val="000000"/>
      </a:dk1>
      <a:lt1>
        <a:srgbClr val="FFFFFF"/>
      </a:lt1>
      <a:dk2>
        <a:srgbClr val="182230"/>
      </a:dk2>
      <a:lt2>
        <a:srgbClr val="D6DEE8"/>
      </a:lt2>
      <a:accent1>
        <a:srgbClr val="2463A5"/>
      </a:accent1>
      <a:accent2>
        <a:srgbClr val="178A86"/>
      </a:accent2>
      <a:accent3>
        <a:srgbClr val="B66A08"/>
      </a:accent3>
      <a:accent4>
        <a:srgbClr val="B43D3D"/>
      </a:accent4>
      <a:accent5>
        <a:srgbClr val="6E59A6"/>
      </a:accent5>
      <a:accent6>
        <a:srgbClr val="4C7A34"/>
      </a:accent6>
      <a:hlink>
        <a:srgbClr val="2463A5"/>
      </a:hlink>
      <a:folHlink>
        <a:srgbClr val="6E59A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eminar Whi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97951942e449d" /><Relationship Type="http://schemas.openxmlformats.org/officeDocument/2006/relationships/image" Target="/ppt/media/image.png" Id="R1b51848c6f53462c" /><Relationship Type="http://schemas.openxmlformats.org/officeDocument/2006/relationships/notesSlide" Target="/ppt/notesSlides/notesSlide1.xml" Id="R5a9fd3a4d3d747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3c5c8e2404dcb" /><Relationship Type="http://schemas.openxmlformats.org/officeDocument/2006/relationships/notesSlide" Target="/ppt/notesSlides/notesSlide2.xml" Id="R1b8415be3feb4d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2dbd655024f62" /><Relationship Type="http://schemas.openxmlformats.org/officeDocument/2006/relationships/notesSlide" Target="/ppt/notesSlides/notesSlide3.xml" Id="R1f4b06ffb64b42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f9ecc1f8c4310" /><Relationship Type="http://schemas.openxmlformats.org/officeDocument/2006/relationships/notesSlide" Target="/ppt/notesSlides/notesSlide4.xml" Id="R51a0f69370db40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75261d21b4fc1" /><Relationship Type="http://schemas.openxmlformats.org/officeDocument/2006/relationships/notesSlide" Target="/ppt/notesSlides/notesSlide5.xml" Id="R135b33fed66b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e35c876f54b33" /><Relationship Type="http://schemas.openxmlformats.org/officeDocument/2006/relationships/notesSlide" Target="/ppt/notesSlides/notesSlide6.xml" Id="Rddbd3d3e9945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05c2ca9b4117" /><Relationship Type="http://schemas.openxmlformats.org/officeDocument/2006/relationships/image" Target="/ppt/media/image2.png" Id="R6bb68258e66542b4" /><Relationship Type="http://schemas.openxmlformats.org/officeDocument/2006/relationships/notesSlide" Target="/ppt/notesSlides/notesSlide7.xml" Id="Rb4274efeeadd4c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0393afcb34bf8" /><Relationship Type="http://schemas.openxmlformats.org/officeDocument/2006/relationships/image" Target="/ppt/media/image3.png" Id="R583a90c7741444c6" /><Relationship Type="http://schemas.openxmlformats.org/officeDocument/2006/relationships/notesSlide" Target="/ppt/notesSlides/notesSlide8.xml" Id="R9c111f321ab6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2ca9a2c8649cf" /><Relationship Type="http://schemas.openxmlformats.org/officeDocument/2006/relationships/notesSlide" Target="/ppt/notesSlides/notesSlide9.xml" Id="R4c7ee6e4764249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d3c0f5f114316" /><Relationship Type="http://schemas.openxmlformats.org/officeDocument/2006/relationships/notesSlide" Target="/ppt/notesSlides/notesSlide10.xml" Id="Rfa526d522b9243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319dfc943443b" /><Relationship Type="http://schemas.openxmlformats.org/officeDocument/2006/relationships/notesSlide" Target="/ppt/notesSlides/notesSlide11.xml" Id="R4c3dc6257a444a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c01e24d0f48dc" /><Relationship Type="http://schemas.openxmlformats.org/officeDocument/2006/relationships/image" Target="/ppt/media/image4.png" Id="R5886c0482aca408f" /><Relationship Type="http://schemas.openxmlformats.org/officeDocument/2006/relationships/notesSlide" Target="/ppt/notesSlides/notesSlide12.xml" Id="Rcf985a59069345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5ea5fa7764bde" /><Relationship Type="http://schemas.openxmlformats.org/officeDocument/2006/relationships/notesSlide" Target="/ppt/notesSlides/notesSlide13.xml" Id="Rf4b57ef075624c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87ed09cb841ba" /><Relationship Type="http://schemas.openxmlformats.org/officeDocument/2006/relationships/image" Target="/ppt/media/image5.png" Id="R8a6bb72ecd4e43f8" /><Relationship Type="http://schemas.openxmlformats.org/officeDocument/2006/relationships/notesSlide" Target="/ppt/notesSlides/notesSlide14.xml" Id="R360d4d41e11844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0621f80484566" /><Relationship Type="http://schemas.openxmlformats.org/officeDocument/2006/relationships/notesSlide" Target="/ppt/notesSlides/notesSlide15.xml" Id="Rcc0ca76e3ee342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76ec0e594ada" /><Relationship Type="http://schemas.openxmlformats.org/officeDocument/2006/relationships/image" Target="/ppt/media/image6.png" Id="Re285280ec14e45c1" /><Relationship Type="http://schemas.openxmlformats.org/officeDocument/2006/relationships/notesSlide" Target="/ppt/notesSlides/notesSlide16.xml" Id="Rfcdf057502d349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9b2ecc07d4620" /><Relationship Type="http://schemas.openxmlformats.org/officeDocument/2006/relationships/image" Target="/ppt/media/image7.png" Id="R7b5f3a50807a42f9" /><Relationship Type="http://schemas.openxmlformats.org/officeDocument/2006/relationships/notesSlide" Target="/ppt/notesSlides/notesSlide17.xml" Id="Rc0744da2be4d4f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2a97780ae47d0" /><Relationship Type="http://schemas.openxmlformats.org/officeDocument/2006/relationships/image" Target="/ppt/media/image8.png" Id="R36da42382b004071" /><Relationship Type="http://schemas.openxmlformats.org/officeDocument/2006/relationships/notesSlide" Target="/ppt/notesSlides/notesSlide18.xml" Id="Rb4838a3a127648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69a047a5848d2" /><Relationship Type="http://schemas.openxmlformats.org/officeDocument/2006/relationships/notesSlide" Target="/ppt/notesSlides/notesSlide19.xml" Id="R69001eaf10984c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2e453f788410c" /><Relationship Type="http://schemas.openxmlformats.org/officeDocument/2006/relationships/notesSlide" Target="/ppt/notesSlides/notesSlide20.xml" Id="R9ea50a02076545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27466fcec451c" /><Relationship Type="http://schemas.openxmlformats.org/officeDocument/2006/relationships/notesSlide" Target="/ppt/notesSlides/notesSlide21.xml" Id="Re487af66b6e04b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a4b7770a94c16" /><Relationship Type="http://schemas.openxmlformats.org/officeDocument/2006/relationships/notesSlide" Target="/ppt/notesSlides/notesSlide22.xml" Id="R0517106f8a324c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3d8e4765a4ae4" /><Relationship Type="http://schemas.openxmlformats.org/officeDocument/2006/relationships/notesSlide" Target="/ppt/notesSlides/notesSlide23.xml" Id="Rb181fcd41c28428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1b8e7ed3451f" /><Relationship Type="http://schemas.openxmlformats.org/officeDocument/2006/relationships/notesSlide" Target="/ppt/notesSlides/notesSlide24.xml" Id="R4b2ce4224ed54d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cbe0d13e04a3b" /><Relationship Type="http://schemas.openxmlformats.org/officeDocument/2006/relationships/notesSlide" Target="/ppt/notesSlides/notesSlide25.xml" Id="R90e93a728d244f0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7087aab5f4cca" /><Relationship Type="http://schemas.openxmlformats.org/officeDocument/2006/relationships/notesSlide" Target="/ppt/notesSlides/notesSlide26.xml" Id="R149fbc1422e449a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bf58c09174135" /><Relationship Type="http://schemas.openxmlformats.org/officeDocument/2006/relationships/image" Target="/ppt/media/image9.png" Id="R4831365c68b44a12" /><Relationship Type="http://schemas.openxmlformats.org/officeDocument/2006/relationships/notesSlide" Target="/ppt/notesSlides/notesSlide27.xml" Id="Re808a8af85884eb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0aff956694da1" /><Relationship Type="http://schemas.openxmlformats.org/officeDocument/2006/relationships/notesSlide" Target="/ppt/notesSlides/notesSlide28.xml" Id="Rcefeb09b2195430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f3274b3214ee8" /><Relationship Type="http://schemas.openxmlformats.org/officeDocument/2006/relationships/image" Target="/ppt/media/image10.png" Id="R2ecc0cbe279d45b3" /><Relationship Type="http://schemas.openxmlformats.org/officeDocument/2006/relationships/notesSlide" Target="/ppt/notesSlides/notesSlide29.xml" Id="R1caaa879be17409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e6e6b871c48fb" /><Relationship Type="http://schemas.openxmlformats.org/officeDocument/2006/relationships/notesSlide" Target="/ppt/notesSlides/notesSlide30.xml" Id="R0a5aa815f79d41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5764e41fd44b6" /><Relationship Type="http://schemas.openxmlformats.org/officeDocument/2006/relationships/image" Target="/ppt/media/image11.png" Id="R714f4db41f47419e" /><Relationship Type="http://schemas.openxmlformats.org/officeDocument/2006/relationships/notesSlide" Target="/ppt/notesSlides/notesSlide31.xml" Id="R6bb60304443a4ef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3af8574bc497f" /><Relationship Type="http://schemas.openxmlformats.org/officeDocument/2006/relationships/notesSlide" Target="/ppt/notesSlides/notesSlide32.xml" Id="R9f7f3e36c4a242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43286cf1f44b8" /><Relationship Type="http://schemas.openxmlformats.org/officeDocument/2006/relationships/notesSlide" Target="/ppt/notesSlides/notesSlide33.xml" Id="Rfbc11ef1231e4b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ffbefe1e0477e" /><Relationship Type="http://schemas.openxmlformats.org/officeDocument/2006/relationships/notesSlide" Target="/ppt/notesSlides/notesSlide34.xml" Id="Rd13a03cd30884e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2523B-D7DB-4533-BFD4-3C4A241B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01AE1-63AB-411E-86DE-5C14FBA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UIT CS115 / MATHEMATICS FOR COMPUTER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6DB3-6A71-4EF8-8BD5-ADEB43B1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Gradient Descent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and Optimizer Variants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10CB5-270C-4045-A433-6CE5D2C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math-first seminar about local information, curvature, and parameter updates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69968-D72B-4D27-B3E5-4907695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53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θₜ₊₁ = θₜ − η ∇f(θₜ)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1848c6f53462c"/>
          <a:stretch xmlns:a="http://schemas.openxmlformats.org/drawingml/2006/main"/>
        </p:blipFill>
        <p:spPr>
          <a:xfrm xmlns:a="http://schemas.openxmlformats.org/drawingml/2006/main">
            <a:off x="9258300" y="1581150"/>
            <a:ext cx="1600200" cy="1600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32413-AFE2-4529-A6B7-987E144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Open the web companion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38DB7-2F72-4E14-AE1D-D15AA895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1zuki.github.io/gradient-descent/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3CB90-0576-44FC-9E03-DD57655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120-minute seminar • main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473A9-8545-45DE-913F-BDCAADD0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2057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79B0C-2084-4C35-8651-7CF9FBA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F8BE3-F69F-4EA4-94F1-8021B362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central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E16E1-DA42-4EF1-B432-0D5394C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9CC01-08FE-4761-835D-309341F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83C34-0D23-4B70-B863-A311E22E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3FCF4-243B-4533-BBAD-A04E970E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334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Given a function, a starting point, and only local information, how can we move toward a lower value reliably?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3C6D5-36FF-4A61-BFEF-1C4A5BF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72771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52471-1BEC-4327-8AAD-AB6007AE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693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THE TEACHING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1015C-79BF-4642-80BE-B188A0E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57600"/>
            <a:ext cx="693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Begin where the whole landscape is visible. Then transfer the same ideas to a neural network with many parameters.</a:t>
            </a:r>
          </a:p>
        </p:txBody>
      </p:sp>
    </p:spTree>
    <p:extLst>
      <p:ext uri="{BB962C8B-B14F-4D97-AF65-F5344CB8AC3E}">
        <p14:creationId xmlns:p14="http://schemas.microsoft.com/office/powerpoint/2010/main" val="1665573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EB852-35DE-4F67-98FF-4C477A0F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FE079-7515-4858-BE3D-F5799A9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Why optimization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529D1-D9A1-4CBA-87EF-08A38F76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7E8A6-5181-4890-8206-9F583662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D88CB-59E5-4050-BC23-B2822F39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D6D57-09EE-48ED-ACB7-8788608D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model turns parameters into a loss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80C3D-3A9B-433D-A249-D16F6BA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5143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parameters θ  →  model  →  loss f(θ)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C2E80-55E0-4856-9FAC-4FFFC56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5219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loss tells us how well the current parameters fit the objective.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gives local direction information.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optimizer decides how to turn that information into an update.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CAF89-290B-4AC8-B866-DDAE92EB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4000500" cy="1600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9CAE2-1CB7-4CE8-9BFE-19B01B25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19300"/>
            <a:ext cx="365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KEY DISTINCTION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91535-A26A-4AFB-8D17-915B37F1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3657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Backpropagation computes gradients. The optimizer decides how to use them.</a:t>
            </a:r>
          </a:p>
        </p:txBody>
      </p:sp>
    </p:spTree>
    <p:extLst>
      <p:ext uri="{BB962C8B-B14F-4D97-AF65-F5344CB8AC3E}">
        <p14:creationId xmlns:p14="http://schemas.microsoft.com/office/powerpoint/2010/main" val="1864140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443D7-8359-4F10-B777-E3C2EB07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25CCB-A02C-45B5-AEF4-5276E74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derivative as local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7D5FA-3CD7-47B7-964E-03E8112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959EC-D132-41FF-A8C6-2415B14E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2F68E-EF32-4818-81F2-5AD3169C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B23AA-8DD4-4C38-82EA-FE79C91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4953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f(x) = x²     f′(x) = 2x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859A-8CFB-415D-A1C5-D8D1DDC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At x = 3, the derivative is positive: increasing x locally increases 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5BA3F-527A-4A8B-8A45-7E35110D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At x = −3, the derivative is negative: increasing x locally decreases 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30A8D-9FF5-41C0-854C-B71661E1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4000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58E5E-3C76-434C-A8C8-AE79D7D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365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BRIDGE TO TWO DIMENSIONS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43896-2635-4437-97D3-5F7F68A2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3657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In several variables, local change needs one partial derivative per coordinate.</a:t>
            </a:r>
          </a:p>
        </p:txBody>
      </p:sp>
    </p:spTree>
    <p:extLst>
      <p:ext uri="{BB962C8B-B14F-4D97-AF65-F5344CB8AC3E}">
        <p14:creationId xmlns:p14="http://schemas.microsoft.com/office/powerpoint/2010/main" val="682175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76B1B-3293-4B2C-BA51-F93242B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50C95-C608-46DF-B2DB-BE2B77A3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Partial derivatives assemble into a gradient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B355-9DEE-48E7-B9FB-930232A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F9B95-7678-453C-A336-FDDC352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BB254-07A3-43BB-9ACA-53AA4B17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16DFA-A491-4EDC-9CBB-F7744F34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4191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f(x, y) = x² + y²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B617A-A25D-48CA-9AE7-8D021D35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191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∂f/∂x = 2x</a:t>
            </a:r>
          </a:p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∂f/∂y = 2y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9CCBE-F526-44F3-9307-064B7EDF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191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∇f(x, y) = (2x, 2y)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E94CE-6633-4A34-9816-0DF6A57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62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is a vector in parameter space. It assigns a direction and magnitude to each 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9778D-6F64-425A-B1AF-564C8A2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6291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216B1-5442-47CD-B3CE-D1D5F437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NOTATION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C3204-5414-4784-AEDA-E7BEAC77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gradient is not another scalar derivative. It collects coordinate-wise local changes.</a:t>
            </a:r>
          </a:p>
        </p:txBody>
      </p:sp>
    </p:spTree>
    <p:extLst>
      <p:ext uri="{BB962C8B-B14F-4D97-AF65-F5344CB8AC3E}">
        <p14:creationId xmlns:p14="http://schemas.microsoft.com/office/powerpoint/2010/main" val="2036750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40B88-A56C-4D80-96CA-00A2E7D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B415A-3E8A-41BA-AAAA-69CDB4FB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hand calculation before the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D996B-E778-4F7B-92B6-48B2EC9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FBEC5-BF66-4CF9-8CFA-C7916B1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7FA38-49C2-4594-A567-BD28FBD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4D2D9-FFB8-4250-A3A1-CA0741D3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Start at θ₀ = (1, 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20283-6221-48A3-B99F-0F2851F7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476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∇f(1, 2) = (2, 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F6D93-ED69-4978-BA72-D3138F2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286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6A08"/>
                </a:solidFill>
                <a:latin typeface="Arial"/>
                <a:ea typeface="Arial"/>
                <a:cs typeface="Arial"/>
              </a:rPr>
              <a:t>η = 0.1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6C60E-ED3B-4608-8E3C-87CE0248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58293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θ₁ = (1, 2) − 0.1(2, 4) = (0.8, 1.6)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0AEB3-15D7-4264-AF57-68A6C44C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1051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065F4-0815-4AB1-ADDB-564182B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LOSS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A42E1-BD0E-4E18-B333-1AFCB16E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276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f(1, 2) = 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f(0.8, 1.6) = 3.2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update moved downhill.</a:t>
            </a:r>
          </a:p>
        </p:txBody>
      </p:sp>
    </p:spTree>
    <p:extLst>
      <p:ext uri="{BB962C8B-B14F-4D97-AF65-F5344CB8AC3E}">
        <p14:creationId xmlns:p14="http://schemas.microsoft.com/office/powerpoint/2010/main" val="474602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28BD4-B590-4557-AE59-2BF237EF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C9D51-07A0-476D-A2A1-D2CFD699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as a vector field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93DB8-F2AA-4D9D-B477-458E4ED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0F818-CE89-4659-8213-697B7309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5C174-F11D-4BAC-8578-E793027D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68258e66542b4"/>
          <a:stretch xmlns:a="http://schemas.openxmlformats.org/drawingml/2006/main"/>
        </p:blipFill>
        <p:spPr>
          <a:xfrm xmlns:a="http://schemas.openxmlformats.org/drawingml/2006/main">
            <a:off x="6705600" y="1482745"/>
            <a:ext cx="4191000" cy="42544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3D303-9569-40BB-8CFC-51289A6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Every point has its own gradient vector.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Farther from the minimum, the vector is larger.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Gradient descent uses the opposite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38897-5695-45D7-A973-4D1F5E9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48196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80DC-EF73-40C3-89D6-390D0AEB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QUESTION FOR THE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86513-FE99-4D4F-88BA-0C120E1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Which direction would decrease the function fastest at the red point?</a:t>
            </a:r>
          </a:p>
        </p:txBody>
      </p:sp>
    </p:spTree>
    <p:extLst>
      <p:ext uri="{BB962C8B-B14F-4D97-AF65-F5344CB8AC3E}">
        <p14:creationId xmlns:p14="http://schemas.microsoft.com/office/powerpoint/2010/main" val="1434091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E77F3-4F45-4CE1-A4BE-9DF8648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6CF35-5C85-4F68-A18F-315E134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same function as a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AA0E4-33E5-4F5C-BCA2-CA1D7F55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78E10-7362-4795-A0FB-A1FCF00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1073B-52BE-474D-975F-82A24375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a90c7741444c6"/>
          <a:stretch xmlns:a="http://schemas.openxmlformats.org/drawingml/2006/main"/>
        </p:blipFill>
        <p:spPr>
          <a:xfrm xmlns:a="http://schemas.openxmlformats.org/drawingml/2006/main">
            <a:off x="6705600" y="1493428"/>
            <a:ext cx="4191000" cy="42330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E0A4B-9263-4F92-90CE-FD661E75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z = f(x, y) = x² + y²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24C34-7AB8-43A6-BF83-CFCAD4E8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minimum is at (0, 0).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Contours are level sets: equal loss along each curve.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A trajectory moves through the parameter plane, not along the 3D surface itself.</a:t>
            </a:r>
          </a:p>
        </p:txBody>
      </p:sp>
    </p:spTree>
    <p:extLst>
      <p:ext uri="{BB962C8B-B14F-4D97-AF65-F5344CB8AC3E}">
        <p14:creationId xmlns:p14="http://schemas.microsoft.com/office/powerpoint/2010/main" val="100851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8F64B-507E-424B-9309-0DD6686C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DFBB8-F3B7-43B3-9B95-0CBEC4C8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Why the negative gradient is downhill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DD59A-3C39-4D3B-B26F-EA15AF3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E2AE-88AD-4E01-89C3-944832B3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104FD-8F3E-458A-8E97-D43F2BE6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25987-D70C-4E71-953B-9F907DC8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3905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Dᵤ f = ∇f · 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49B1C-1982-4C1A-B396-3ED766D9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048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|∇f · u| ≤ ||∇f|| ||u||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160C9-CDA3-4E81-A964-0C23D89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5048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43D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3D3D"/>
                </a:solidFill>
                <a:latin typeface="Arial"/>
                <a:ea typeface="Arial"/>
                <a:cs typeface="Arial"/>
              </a:rPr>
              <a:t>most positive:  u ∥ ∇f</a:t>
            </a:r>
          </a:p>
          <a:p xmlns:a="http://schemas.openxmlformats.org/drawingml/2006/main">
            <a:pPr algn="ctr">
              <a:defRPr sz="1950" b="0">
                <a:solidFill>
                  <a:srgbClr val="B43D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3D3D"/>
                </a:solidFill>
                <a:latin typeface="Arial"/>
                <a:ea typeface="Arial"/>
                <a:cs typeface="Arial"/>
              </a:rPr>
              <a:t>most negative:  u ∥ −∇f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1CAE6-C784-4961-9D79-4F3F4FBA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37147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ACDE2-2D50-492A-B9E9-3F08B22B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431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70400-7498-4C0B-B181-E464827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3371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points toward steepest local increase. Its negative points toward steepest local decrease.</a:t>
            </a:r>
          </a:p>
        </p:txBody>
      </p:sp>
    </p:spTree>
    <p:extLst>
      <p:ext uri="{BB962C8B-B14F-4D97-AF65-F5344CB8AC3E}">
        <p14:creationId xmlns:p14="http://schemas.microsoft.com/office/powerpoint/2010/main" val="907772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CAE0A-4CCB-4D1C-8473-AB3480A3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A535-F81B-4F92-AD94-15ACC2A5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local decrease from the Taylor approximation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0114E-A555-4410-BB6B-8B754500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62A1F-A6B2-46A3-81FA-9C5048D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8CAB3-8061-43C3-83B6-2326BDAA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79779-B589-42AC-8FFF-A57946A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619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f(θ + δ) ≈ f(θ) + ∇f(θ)ᵀδ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84335-98EA-41C8-B215-948A1A6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714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δ = −η∇f(θ)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D3610-2D43-4DA6-B09C-6DD8BD6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65722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f(θ − η∇f(θ)) ≈ f(θ) − η||∇f(θ)||²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03262-CC90-4431-B698-057F03F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28575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BEF8A-8E98-487F-A50E-9AF00DAF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5A235-6AB9-4BEA-8F66-CCD82D10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514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approximation predicts local decrease for a sufficiently small positive η. An arbitrarily large step can overshoot.</a:t>
            </a:r>
          </a:p>
        </p:txBody>
      </p:sp>
    </p:spTree>
    <p:extLst>
      <p:ext uri="{BB962C8B-B14F-4D97-AF65-F5344CB8AC3E}">
        <p14:creationId xmlns:p14="http://schemas.microsoft.com/office/powerpoint/2010/main" val="1347848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EE824-C1CB-4855-83D5-F2701D27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AB90D-39C0-4EFF-95D6-731C1F66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Gradient descent is a repeated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9DF72-292D-4638-B3DC-8036A0B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CA7A7-020F-453A-A68F-59349DCF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B3427-CBDB-4E85-9321-E7EA9041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29E8D-A6EA-44C5-8AD7-42B08793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8915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θₜ₊₁ = θₜ − η ∇f(θₜ)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AD471-B237-4AB3-8AE4-869A4913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14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θₜ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15D04-D77E-435B-B867-0432F49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current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584DB-DA84-4531-9C2F-AD8AC0C7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43808-7333-4BF2-94C9-6B3700C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C37BE-540A-4E30-8C4F-975588DD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∇f(θₜ)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480F3-8E27-4D91-A649-3F7D3CEC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local direction</a:t>
            </a:r>
          </a:p>
        </p:txBody>
      </p:sp>
    </p:spTree>
    <p:extLst>
      <p:ext uri="{BB962C8B-B14F-4D97-AF65-F5344CB8AC3E}">
        <p14:creationId xmlns:p14="http://schemas.microsoft.com/office/powerpoint/2010/main" val="20205156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F5EA-AF17-403E-BF6C-D90173F9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7EA28-427A-4E5F-8B54-8C393291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first trajectory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B8F02-905F-4D4D-BC61-E414129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55801-CD9C-4882-8E27-6CEBBDB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Gradient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33D71-754B-4C7E-A8CA-7DB2FCE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6c0482aca408f"/>
          <a:stretch xmlns:a="http://schemas.openxmlformats.org/drawingml/2006/main"/>
        </p:blipFill>
        <p:spPr>
          <a:xfrm xmlns:a="http://schemas.openxmlformats.org/drawingml/2006/main">
            <a:off x="6743700" y="1524757"/>
            <a:ext cx="4095750" cy="41894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9794D-76E9-4E07-80F9-7B5167A1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One update becomes a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F01C5-3F6A-489C-B798-C88FAC92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914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path follows local gradient information.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step length depends on η and the gradient magnitude.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same logic scales to many parameters.</a:t>
            </a:r>
          </a:p>
        </p:txBody>
      </p:sp>
    </p:spTree>
    <p:extLst>
      <p:ext uri="{BB962C8B-B14F-4D97-AF65-F5344CB8AC3E}">
        <p14:creationId xmlns:p14="http://schemas.microsoft.com/office/powerpoint/2010/main" val="875510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8A9B1-8C1C-4EFE-A7A9-73B7C0A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3D1A7-DFD7-448B-9E25-F904D5AD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learning rate controls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0EA9-9366-4B34-A674-41AC9A6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BD78-7E10-4D20-89EE-A889033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1C65B-350C-4FD0-98E2-316125C7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75594-86CC-465F-8E9C-D74E0B1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178A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EDBD3-C269-4CCC-8EB4-FD14589E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η too small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2611E-D45E-4589-8088-D963CDFD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stable, but slow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BC02C-6C4F-4543-9431-A603878A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many small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35889-879E-4E05-87BB-82BF0D3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2463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BF941-9D53-4586-8125-128BAEE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η appropriate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73BBD-35A0-4F61-A307-61C7663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57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steady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274DE-D7BF-403E-8856-ACCC0D8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balanced updates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D7405-700A-4F26-96E0-FFC08A50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B43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0B63B-E8A7-4A72-820F-A9D69E00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B43D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43D3D"/>
                </a:solidFill>
                <a:latin typeface="Arial"/>
                <a:ea typeface="Arial"/>
                <a:cs typeface="Arial"/>
              </a:rPr>
              <a:t>η too large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33677-F412-4095-B4F0-0C3E09DC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overshoot or diverge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021BE-8B58-432C-A305-06172C08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sign changes grow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3DB49-788F-49BA-A86D-94E4D00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286000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FEA35-ACAA-43C9-A669-69E92454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A2317-BFE9-46FF-BBCB-90B7090D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43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Why can a larger learning rate make training worse even when the gradient is correct?</a:t>
            </a:r>
          </a:p>
        </p:txBody>
      </p:sp>
    </p:spTree>
    <p:extLst>
      <p:ext uri="{BB962C8B-B14F-4D97-AF65-F5344CB8AC3E}">
        <p14:creationId xmlns:p14="http://schemas.microsoft.com/office/powerpoint/2010/main" val="19501756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3BB4A-9BC9-49DD-875E-8E7B2A2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57F45-AB26-4EC8-A71D-DBA71DE0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Ill-conditioned curvature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CD2BA-3507-4C2E-A354-1E2BFCB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6C893-CB83-4105-96B8-AA91C78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8A8AC-3B88-468C-9970-4CCFEECD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CB1F1-F360-42FB-8244-B867A33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1719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f(x, y) = x² + 25y²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220F5-AB39-4CBE-9C4C-092741B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Curvature is much stronger in y than in 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605B-BF40-47A1-8BBD-76875F4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contours are narrow ellipses.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steep direction constrains the learning rate.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shallow direction can still move slowly.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bb72ecd4e43f8"/>
          <a:stretch xmlns:a="http://schemas.openxmlformats.org/drawingml/2006/main"/>
        </p:blipFill>
        <p:spPr>
          <a:xfrm xmlns:a="http://schemas.openxmlformats.org/drawingml/2006/main">
            <a:off x="6515100" y="1860047"/>
            <a:ext cx="4533900" cy="33093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45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BDB7E-6907-4AC7-A5D3-A1552A88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0274D-CD1A-4C57-82A8-FE0F649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condition number explains 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3CA99-E401-4591-9E75-7D452B74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A0CB7-5526-4B1B-94F7-AEE5724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B225A-46D1-4AEC-8112-56308DE2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532E8-6AB8-4AAA-8762-8799901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762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∇f(x, y) = (2x, 50y)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70C3F-D0F1-4E7E-9003-07BCA75A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762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H = [[2, 0], [0, 50]]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49B69-867E-47A6-B743-AA56780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762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6A08"/>
                </a:solidFill>
                <a:latin typeface="Arial"/>
                <a:ea typeface="Arial"/>
                <a:cs typeface="Arial"/>
              </a:rPr>
              <a:t>κ(H) = 50 / 2 =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9801F-DB61-4DDF-908E-1649D978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39433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xₜ₊₁ = (1 − 2η)xₜ</a:t>
            </a:r>
          </a:p>
          <a:p xmlns:a="http://schemas.openxmlformats.org/drawingml/2006/main">
            <a:pPr algn="ctr"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yₜ₊₁ = (1 − 50η)yₜ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ADB40-559E-4E2C-A35C-D8E4F2AD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39433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3335">
            <a:solidFill>
              <a:srgbClr val="B43D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1E7C1-C4D8-4FF7-815A-5032A235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3600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43D3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3D3D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3A69F-C9DE-4782-97E4-CADBCF5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360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Both coordinate multipliers must stay inside [−1, 1]. The stricter condition is 0 &lt; η &lt; 0.04.</a:t>
            </a:r>
          </a:p>
        </p:txBody>
      </p:sp>
    </p:spTree>
    <p:extLst>
      <p:ext uri="{BB962C8B-B14F-4D97-AF65-F5344CB8AC3E}">
        <p14:creationId xmlns:p14="http://schemas.microsoft.com/office/powerpoint/2010/main" val="6316665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C6E1C-C085-4CA2-8F59-A0D252B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E09C5-142B-4203-8C1B-54B4528F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Learning-rate behavior on one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43DE4-30C9-4BD1-B977-E9936278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BD4F7-2C9F-412B-93C4-6340CCC0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8954D-3764-44E7-BBA4-C60EC595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5280ec14e45c1"/>
          <a:stretch xmlns:a="http://schemas.openxmlformats.org/drawingml/2006/main"/>
        </p:blipFill>
        <p:spPr>
          <a:xfrm xmlns:a="http://schemas.openxmlformats.org/drawingml/2006/main">
            <a:off x="2911925" y="1314450"/>
            <a:ext cx="6368150" cy="4648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27DA-15FC-4A95-B542-9D20C3F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One surface, four learning-rate regimes</a:t>
            </a:r>
          </a:p>
        </p:txBody>
      </p:sp>
    </p:spTree>
    <p:extLst>
      <p:ext uri="{BB962C8B-B14F-4D97-AF65-F5344CB8AC3E}">
        <p14:creationId xmlns:p14="http://schemas.microsoft.com/office/powerpoint/2010/main" val="5543923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D0FF7-58E8-480E-B4ED-64B318C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17C15-8187-4C9A-9CBD-A10A292F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Local minima and global minima are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96223-987F-4EAE-9E9C-6099511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2A8BD-69A9-4844-BA52-D63869A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417A0-A669-42E1-B144-288D384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f3a50807a42f9"/>
          <a:stretch xmlns:a="http://schemas.openxmlformats.org/drawingml/2006/main"/>
        </p:blipFill>
        <p:spPr>
          <a:xfrm xmlns:a="http://schemas.openxmlformats.org/drawingml/2006/main">
            <a:off x="6953250" y="2133490"/>
            <a:ext cx="3886200" cy="30101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2BEF6-0628-47C9-B569-BA1B7352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334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f(x, y) = (x² − 1)² + 0.2x + y²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0C155-5287-40ED-9826-FC414244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Different starts can fall into different basins.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A local minimum can be higher than another minimum.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alone does not reveal the whole global landscape.</a:t>
            </a:r>
          </a:p>
        </p:txBody>
      </p:sp>
    </p:spTree>
    <p:extLst>
      <p:ext uri="{BB962C8B-B14F-4D97-AF65-F5344CB8AC3E}">
        <p14:creationId xmlns:p14="http://schemas.microsoft.com/office/powerpoint/2010/main" val="8164751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C56D2-93C5-4E42-BC8F-AD28C0BD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2A7EF-8B47-491E-8543-90DF3714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 zero gradient does not guarantee a minimum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D1E4A-2AFB-4EB0-AC7F-A492812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8F31A-CC06-4999-8AD7-B916E52D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C51B2-484D-4942-80B3-A1A498BE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a42382b004071"/>
          <a:stretch xmlns:a="http://schemas.openxmlformats.org/drawingml/2006/main"/>
        </p:blipFill>
        <p:spPr>
          <a:xfrm xmlns:a="http://schemas.openxmlformats.org/drawingml/2006/main">
            <a:off x="6972300" y="1859749"/>
            <a:ext cx="3867150" cy="35576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CEDEE-B834-4797-9E33-FBD18BB4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3243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B43D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43D3D"/>
                </a:solidFill>
                <a:latin typeface="Arial"/>
                <a:ea typeface="Arial"/>
                <a:cs typeface="Arial"/>
              </a:rPr>
              <a:t>f(x, y) = x² − y²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E2626-057D-4644-81E1-54B72F9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3243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∇f(x, y) = (2x, −2y)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82FEA-D3CB-4499-BEDC-5354FB4A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7625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3335">
            <a:solidFill>
              <a:srgbClr val="B43D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B1FDE-B44D-4D89-B54A-1B6F3BDE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41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43D3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43D3D"/>
                </a:solidFill>
                <a:latin typeface="Arial"/>
                <a:ea typeface="Arial"/>
                <a:cs typeface="Arial"/>
              </a:rPr>
              <a:t>AT (0, 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B9915-1A6B-4D18-A5BF-98C1BA2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441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∇f = 0, but the point is neither a local minimum nor a local maximum.</a:t>
            </a:r>
          </a:p>
        </p:txBody>
      </p:sp>
    </p:spTree>
    <p:extLst>
      <p:ext uri="{BB962C8B-B14F-4D97-AF65-F5344CB8AC3E}">
        <p14:creationId xmlns:p14="http://schemas.microsoft.com/office/powerpoint/2010/main" val="12351151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6E562-FC8D-4D44-ABB9-021DFFE1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DE86E-0CC7-40AD-B6B4-991A595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Prediction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105BA-E79C-48EB-8D95-F3CC23C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D6B01-B744-4D54-8C2B-C5A51CA3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Curvature and failure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25130-47BA-4702-9B98-644FB0FA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EB6AD-9C21-4E5F-93D0-ECD4CD6C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Compute the next point before the reveal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195B2-09F5-4FBB-B2BC-8BB8B15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333375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θ = (1, 2)</a:t>
            </a:r>
          </a:p>
          <a:p xmlns:a="http://schemas.openxmlformats.org/drawingml/2006/main">
            <a:pPr algn="ctr"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∇f = (2, 4)</a:t>
            </a:r>
          </a:p>
          <a:p xmlns:a="http://schemas.openxmlformats.org/drawingml/2006/main">
            <a:pPr algn="ctr">
              <a:defRPr sz="2100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η = 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E21A5-F15C-4558-97ED-6FC2EC8D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29527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66A08"/>
                </a:solidFill>
                <a:latin typeface="Arial"/>
                <a:ea typeface="Arial"/>
                <a:cs typeface="Arial"/>
              </a:rPr>
              <a:t>θ₁ =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03BEF-925C-43D6-8369-211AD2E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286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3834D-3794-4175-99C7-78A4F58C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051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B02EF-EA0A-4D5D-954C-117FEC8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θ₁ = (0.8, 1.6)</a:t>
            </a:r>
          </a:p>
        </p:txBody>
      </p:sp>
    </p:spTree>
    <p:extLst>
      <p:ext uri="{BB962C8B-B14F-4D97-AF65-F5344CB8AC3E}">
        <p14:creationId xmlns:p14="http://schemas.microsoft.com/office/powerpoint/2010/main" val="11449736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2FE34-C2C1-4352-9529-22A7AF1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25CDB-212B-4626-9551-EC83DB9B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Gradient estimation and parameter updates are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D632F-EE89-47E0-B220-FD511C69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4721D-C4D7-465D-B1AB-9B7F14A4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9062-27FF-4B9A-9FF6-F0CA79C8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C0C18-DA53-477B-B3C4-32EE9AD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495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full batch:  gₜ = ∇L(θₜ)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03CFF-2075-4BF7-8DAC-CF8A700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495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mini-batch:  ĝₜ ≈ ∇L(θₜ)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292A4-C7A4-4A8E-AA55-ABEF87D4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Both estimates feed an update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488F0-80A1-4583-A1CF-B28B8FF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39624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70EBA-01A2-4C93-8E42-CCB31E3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288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KEEP THE CONCEPTS DISTINCT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94D3B-4B2E-4700-9191-925FF7B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Batch size affects the estimate. Momentum, adaptive scaling, and weight decay affect the update.</a:t>
            </a:r>
          </a:p>
        </p:txBody>
      </p:sp>
    </p:spTree>
    <p:extLst>
      <p:ext uri="{BB962C8B-B14F-4D97-AF65-F5344CB8AC3E}">
        <p14:creationId xmlns:p14="http://schemas.microsoft.com/office/powerpoint/2010/main" val="16657231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30791-FDFA-4E2B-9F1B-4BBE84C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6BD1B-16F0-4AAB-9015-4E3AA22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Momentum remembers a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D0FE0-6593-4F22-877F-E4FE5227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1941C-D23F-4458-9553-F954AED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8166B-A8FE-4486-AC63-7F8399E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925F-C1E7-405D-AEB1-87540F9F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6672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vₜ = βvₜ₋₁ + gₜ</a:t>
            </a:r>
          </a:p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θₜ₊₁ = θₜ − ηvₜ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80D10-DF06-475D-8023-15AC75D7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Accumulates a velocity-like state.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Smooths noisy updates.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Can move faster along consistent directions.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52E28-AF15-49BC-A2CE-178C9EF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3448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8ABAD-9551-448B-ABCB-5BCC7643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PROBLEM ADDRESSED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A3A57-8C99-4AF3-946A-5294872D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3105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Vanilla gradient descent can oscillate across a narrow ravine while progressing slowly along it.</a:t>
            </a:r>
          </a:p>
        </p:txBody>
      </p:sp>
    </p:spTree>
    <p:extLst>
      <p:ext uri="{BB962C8B-B14F-4D97-AF65-F5344CB8AC3E}">
        <p14:creationId xmlns:p14="http://schemas.microsoft.com/office/powerpoint/2010/main" val="9473206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2BF79-5AE4-4813-8278-F1D43CC0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8D9D2-C9B1-4427-A549-68D9CC7D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Nesterov evaluates a look-ahead gradient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0126A-13E5-40EE-9D9C-757E221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5A443-EE83-4A00-B69D-3DD7387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F2BFD-7208-4323-BD0D-AE1A19D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79AF3-DCDE-4D46-A361-D7D32B4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334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look ahead:  θₜ − ηβvₜ₋₁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796EB-84BF-4154-87FB-F000FB0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5334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gₜ = ∇f(θₜ − ηβvₜ₋₁)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C2FEE-B6D4-42DB-A7CD-46F0B9CF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8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is evaluated where momentum is about to take 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A69EE-4EBE-4A19-8B12-3FA5F58B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31432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6A6E4-9ED9-4B54-B2F2-1231F68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TEACHING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F0350-8090-4CBD-8BAF-F06CC1F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00350"/>
            <a:ext cx="2800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Optimizer variants differ in what information they remember and where they evaluate the gradient.</a:t>
            </a:r>
          </a:p>
        </p:txBody>
      </p:sp>
    </p:spTree>
    <p:extLst>
      <p:ext uri="{BB962C8B-B14F-4D97-AF65-F5344CB8AC3E}">
        <p14:creationId xmlns:p14="http://schemas.microsoft.com/office/powerpoint/2010/main" val="10288447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E063C-45B7-4DBB-8591-366C5CB3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10533-8CED-4B90-BD84-8F71B7D7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AdaGrad scales each coordinate by its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9FA7C-4825-4A56-83DE-4261CE9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7FB60-00B0-4A43-B127-D3149E6B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F6CA0-0DA8-47EC-8C94-1F1E1E3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9EC02-C6EA-4EFB-8789-20E0BB3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76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Gₜ = Gₜ₋₁ + gₜ ⊙ gₜ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27F06-452C-4B10-9385-1AAB32FA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810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θₜ₊₁ = θₜ − η gₜ / (√Gₜ + ε)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BAC6-62BC-433C-9E00-8D777B71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8967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Coordinates with large historical gradients receive smaller effective steps.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accumulator only grows, so steps can shrink indefinitely.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0FDC2-3B8C-4432-BD30-38B64EA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62200"/>
            <a:ext cx="2857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CA8BC-8BA4-4419-B502-306E315C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PROBLEM ADDRESSED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4D39C-02D5-4DC8-A593-3F0951B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Different coordinates can have very different gradient scales.</a:t>
            </a:r>
          </a:p>
        </p:txBody>
      </p:sp>
    </p:spTree>
    <p:extLst>
      <p:ext uri="{BB962C8B-B14F-4D97-AF65-F5344CB8AC3E}">
        <p14:creationId xmlns:p14="http://schemas.microsoft.com/office/powerpoint/2010/main" val="12781579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60AED-C178-4655-A11A-3C4645C4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706F2-0F5C-4C66-A91A-3E64FF1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RMSProp replaces the infinite accumulator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05B32-7150-484D-841A-94FA96E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E71C4-AD68-4450-91FD-2951474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003C4-5869-4AD9-824C-900B4751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EBFBA-4B9D-4714-9479-1009B6EA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sₜ = ρsₜ₋₁ + (1 − ρ)gₜ²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76BE9-8827-474D-AA86-E71DD61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524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θₜ₊₁ = θₜ − η gₜ / (√sₜ + ε)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F3DB-7561-4850-B496-932B889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Recent gradient magnitudes matter more than the entire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8BC0C-8153-486F-A97A-F6AD2DF7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314325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6D811-7959-4D18-A83B-28CDA721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3840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CONTRAST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1C184-C45A-4B20-B782-EDB77823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AdaGrad keeps a cumulative sum. RMSProp keeps an exponentially weighted average.</a:t>
            </a:r>
          </a:p>
        </p:txBody>
      </p:sp>
    </p:spTree>
    <p:extLst>
      <p:ext uri="{BB962C8B-B14F-4D97-AF65-F5344CB8AC3E}">
        <p14:creationId xmlns:p14="http://schemas.microsoft.com/office/powerpoint/2010/main" val="1259135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2DC91-60A4-44FC-83BB-B846D335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13A30-C776-47E8-BABB-6272F4B9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Adam combines a direction estimate with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DE922-3A6D-4431-8092-7524C6A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E3726-A73E-4C19-BD78-B8312517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AA326-5933-40D9-988D-B0B75149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1C76E-3FB6-4277-A5FA-1B67D4E3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334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mₜ = β₁mₜ₋₁ + (1 − β₁)gₜ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ED794-7DCE-41F9-B73B-6F8DE2B8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334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vₜ = β₂vₜ₋₁ + (1 − β₂)gₜ²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966AD-BD43-4158-9BC1-5D2DAAA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6096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6A08"/>
                </a:solidFill>
                <a:latin typeface="Arial"/>
                <a:ea typeface="Arial"/>
                <a:cs typeface="Arial"/>
              </a:rPr>
              <a:t>m̂ₜ = mₜ/(1−β₁ᵗ),   v̂ₜ = vₜ/(1−β₂ᵗ)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2F2D0-1C1A-416E-9120-A763815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619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230"/>
                </a:solidFill>
                <a:latin typeface="Arial"/>
                <a:ea typeface="Arial"/>
                <a:cs typeface="Arial"/>
              </a:rPr>
              <a:t>θₜ₊₁ = θₜ − η m̂ₜ/(√v̂ₜ + ε)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0C388-0811-4D41-970E-C29668B0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19350"/>
            <a:ext cx="28956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5B734-29B0-4185-9FB0-8DA0470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INTUITION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A13DD-5F72-4E71-9FD0-4ECF8E4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0350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First moment: smoothed direction. Second moment: smoothed scale.</a:t>
            </a:r>
          </a:p>
        </p:txBody>
      </p:sp>
    </p:spTree>
    <p:extLst>
      <p:ext uri="{BB962C8B-B14F-4D97-AF65-F5344CB8AC3E}">
        <p14:creationId xmlns:p14="http://schemas.microsoft.com/office/powerpoint/2010/main" val="14289590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BBDFC-7986-4B03-B183-D16F788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97CF7-2C9B-4634-9C1E-F9C4EC7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AdamW separates weight decay from the adaptive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C0DE-596B-48A1-A1BA-F88614A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4346-8FD8-4465-9F8D-408E8E87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5679D-A73C-40A5-9EDA-430B010A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6BB6A-E460-40F4-9953-5AC7CFC4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5905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adaptive update:  θ ← θ − η · update(g, state)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2977-FA96-452A-AC6A-900F1DD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76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decay:  θ ← (1 − ηλ)θ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02ACC-25BA-4708-9313-6F5C3EF6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Weight decay acts directly on the parameters instead of being folded into the gradient before adaptive scaling.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7DE2F-56DE-49FF-9F35-19300CA5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19350"/>
            <a:ext cx="287655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96B51-B893-49F5-9704-9B5CBDB9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527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TEACHING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334BB-F1A9-4E45-A422-AC03FDC1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optimizer state and the regularization mechanism have different jobs.</a:t>
            </a:r>
          </a:p>
        </p:txBody>
      </p:sp>
    </p:spTree>
    <p:extLst>
      <p:ext uri="{BB962C8B-B14F-4D97-AF65-F5344CB8AC3E}">
        <p14:creationId xmlns:p14="http://schemas.microsoft.com/office/powerpoint/2010/main" val="13368812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94B47-A382-401B-8E49-03E9FD7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EEAF7-189C-46CA-BE19-0BC8ACE2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Optimizer variants answer different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E33A1-6871-4329-8A2D-26A4446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72B8E-63EC-47E3-B63F-B868DE9B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48C35-7132-4BD8-B9DA-649713B9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1365c68b44a12"/>
          <a:stretch xmlns:a="http://schemas.openxmlformats.org/drawingml/2006/main"/>
        </p:blipFill>
        <p:spPr>
          <a:xfrm xmlns:a="http://schemas.openxmlformats.org/drawingml/2006/main">
            <a:off x="1992353" y="1390650"/>
            <a:ext cx="8207294" cy="464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3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D96F2-7B95-4703-A8AA-04485E7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4B228-96F6-4186-B433-3C606E4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Advanced views belong in proportion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EC16F-3234-48BA-B49D-BE59AAF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27B76-EFDA-4D94-8C08-C7E8CDFC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Optimizer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CFFF0-5B15-4256-80AC-8D63B58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A273F-9F17-4B3B-B6CE-5D48438B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955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3A5"/>
                </a:solidFill>
                <a:latin typeface="Arial"/>
                <a:ea typeface="Arial"/>
                <a:cs typeface="Arial"/>
              </a:rPr>
              <a:t>Lion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CA554-CC1C-48CC-B071-AC01C8CA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1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sign-based momentum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E6F1C-62D5-4E98-9B92-5ACBB18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0955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8A86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F2380-DE06-43FA-8EA2-051F9725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1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optimizes a neighborhood around the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95A85-6664-4961-8087-A16C920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2381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6A08"/>
                </a:solidFill>
                <a:latin typeface="Arial"/>
                <a:ea typeface="Arial"/>
                <a:cs typeface="Arial"/>
              </a:rPr>
              <a:t>L-BFGS / Muon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FFA64-D4E3-4750-9174-1471639C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appendix-level 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EC972-7354-4FF7-B97B-F4EA8CD3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85725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B32AC-BF0B-47E5-AF1F-78D3C9FB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91000"/>
            <a:ext cx="822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SCOPE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B456C-2656-4ED4-A397-732FD1F1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3865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Main story: GD, mini-batch gradients, momentum, Nesterov, AdaGrad, RMSProp, Adam, and AdamW.</a:t>
            </a:r>
          </a:p>
        </p:txBody>
      </p:sp>
    </p:spTree>
    <p:extLst>
      <p:ext uri="{BB962C8B-B14F-4D97-AF65-F5344CB8AC3E}">
        <p14:creationId xmlns:p14="http://schemas.microsoft.com/office/powerpoint/2010/main" val="3232311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A2BE6-1E53-48CE-A025-66DC9820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CONTROLLED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E6A48-AF6F-4457-86F3-1480E7D8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Compare trajectories under the same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A8C5-C69C-40C9-A23A-602CC18D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FA731-DF29-40FA-8C4A-FF82A61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Controlled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49C06-E266-457E-8DAF-1FFD001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c0cbe279d45b3"/>
          <a:stretch xmlns:a="http://schemas.openxmlformats.org/drawingml/2006/main"/>
        </p:blipFill>
        <p:spPr>
          <a:xfrm xmlns:a="http://schemas.openxmlformats.org/drawingml/2006/main">
            <a:off x="2662804" y="1695450"/>
            <a:ext cx="6866391" cy="3390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FD318-9458-44DA-9CB3-FAEC7D1D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91150"/>
            <a:ext cx="7239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3335">
            <a:solidFill>
              <a:srgbClr val="178A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B0471-B8D4-4BED-8219-37E21799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24500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FAIR VISUAL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2E6A0-E5DE-45A9-A2CA-1851CC7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72150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Same start point, objective, axes, parameter budget, and stopping rule.</a:t>
            </a:r>
          </a:p>
        </p:txBody>
      </p:sp>
    </p:spTree>
    <p:extLst>
      <p:ext uri="{BB962C8B-B14F-4D97-AF65-F5344CB8AC3E}">
        <p14:creationId xmlns:p14="http://schemas.microsoft.com/office/powerpoint/2010/main" val="11030913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07130-9A87-45A9-B177-F7E28F64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CONTROLLED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B805-9E34-434A-9815-FB04749A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What a defensible CNN comparison requires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285DA-A7BC-4CCB-B56B-5513E80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827AF-C448-4C8B-AE0E-CEA670C4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Controlled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207C6-EE92-4157-9874-0BAD9A5A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42022-DF9E-414B-8E68-1A10145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571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Add a validation split before serious comparisons.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Save structured training and validation metrics.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Compare multiple random seeds.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Report accuracy, loss, runtime, and variability together.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2230"/>
                </a:solidFill>
                <a:latin typeface="Arial"/>
                <a:ea typeface="Arial"/>
                <a:cs typeface="Arial"/>
              </a:rPr>
              <a:t>Do not call one optimizer universally best.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FF822-6B93-4C19-8810-F5099B0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32385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3335">
            <a:solidFill>
              <a:srgbClr val="B66A0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9E0AB-DBDE-46BC-8D1F-26516709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6A08"/>
                </a:solidFill>
                <a:latin typeface="Arial"/>
                <a:ea typeface="Arial"/>
                <a:cs typeface="Arial"/>
              </a:rPr>
              <a:t>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5E5EE-E4CF-4CEE-9675-EE30A6D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NumPy CNN and optimizer interface are implemented. The final comparison protocol still needs the validation and metrics work described in the plan.</a:t>
            </a:r>
          </a:p>
        </p:txBody>
      </p:sp>
    </p:spTree>
    <p:extLst>
      <p:ext uri="{BB962C8B-B14F-4D97-AF65-F5344CB8AC3E}">
        <p14:creationId xmlns:p14="http://schemas.microsoft.com/office/powerpoint/2010/main" val="11002624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951AE-85AA-435A-B6C9-93050909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ED54E-9732-4004-8B8C-74117E41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NumPy CNN makes the pieces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A05E1-FFB5-43BD-9386-B77056F0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EDAEB-AEDE-488B-BE69-495CCCFE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62F6D-0CEB-49AB-BC7C-452E49D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f4db41f47419e"/>
          <a:stretch xmlns:a="http://schemas.openxmlformats.org/drawingml/2006/main"/>
        </p:blipFill>
        <p:spPr>
          <a:xfrm xmlns:a="http://schemas.openxmlformats.org/drawingml/2006/main">
            <a:off x="2186861" y="1581150"/>
            <a:ext cx="7818278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26E96-587D-48BD-886E-1E89B90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Input → convolution → pooling → dense layers → logits</a:t>
            </a:r>
          </a:p>
        </p:txBody>
      </p:sp>
    </p:spTree>
    <p:extLst>
      <p:ext uri="{BB962C8B-B14F-4D97-AF65-F5344CB8AC3E}">
        <p14:creationId xmlns:p14="http://schemas.microsoft.com/office/powerpoint/2010/main" val="8618381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EDA15-AA8B-4F5E-B3A0-3CE7579C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88674-D08A-4E0D-A012-216041E8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Backpropagation computes the gradient; the optimizer uses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2108E-3393-42F1-859C-27DC7C0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30E13-C8B4-4E8B-97E0-C0E994A2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8E48F-62F6-49F3-A2A0-A24B8C27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74141-9833-4BAC-AC31-ECFCBED0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3829050" cy="19240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3A5"/>
            </a:solidFill>
            <a:prstDash val="solid"/>
          </a:ln>
        </p:spPr>
        <p:txBody>
          <a:bodyPr xmlns:a="http://schemas.openxmlformats.org/drawingml/2006/main" lIns="171450" tIns="152400" rIns="1714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3A5"/>
                </a:solidFill>
                <a:latin typeface="Arial"/>
                <a:ea typeface="Arial"/>
                <a:cs typeface="Arial"/>
              </a:rPr>
              <a:t>FORWARD + BACKWARD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3A5"/>
                </a:solidFill>
                <a:latin typeface="Arial"/>
                <a:ea typeface="Arial"/>
                <a:cs typeface="Arial"/>
              </a:rPr>
              <a:t>Compute predictions, loss, and parameter gradients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D200F-387F-42B0-8C3A-01EBC4C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3829050" cy="19240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178A86"/>
            </a:solidFill>
            <a:prstDash val="solid"/>
          </a:ln>
        </p:spPr>
        <p:txBody>
          <a:bodyPr xmlns:a="http://schemas.openxmlformats.org/drawingml/2006/main" lIns="171450" tIns="152400" rIns="17145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8A86"/>
                </a:solidFill>
                <a:latin typeface="Arial"/>
                <a:ea typeface="Arial"/>
                <a:cs typeface="Arial"/>
              </a:rPr>
              <a:t>OPTIMIZER 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8A86"/>
                </a:solidFill>
                <a:latin typeface="Arial"/>
                <a:ea typeface="Arial"/>
                <a:cs typeface="Arial"/>
              </a:rPr>
              <a:t>Use gradients, state, learning rate, and regularization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7024D-977D-4505-BA63-B872C07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24175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6A0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74210-6F82-49DD-9C55-56348D41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10100"/>
            <a:ext cx="4152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6A0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6A08"/>
                </a:solidFill>
                <a:latin typeface="Arial"/>
                <a:ea typeface="Arial"/>
                <a:cs typeface="Arial"/>
              </a:rPr>
              <a:t>∇θL  →  update θ</a:t>
            </a:r>
          </a:p>
        </p:txBody>
      </p:sp>
    </p:spTree>
    <p:extLst>
      <p:ext uri="{BB962C8B-B14F-4D97-AF65-F5344CB8AC3E}">
        <p14:creationId xmlns:p14="http://schemas.microsoft.com/office/powerpoint/2010/main" val="9062053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CDFCC-36F4-4018-B161-0AC5D96D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23ADF-4E2B-49B5-8D1E-3C5975D5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What every student should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E56B1-442F-4762-88FC-8AD3BB2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51BD3-F5A1-41B0-BE02-01FCD5E8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3FE87-9F23-419E-8DE3-1DCA3DB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87C4F-6CE3-4432-917D-4EE56C8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96964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000"/>
              </a:spcAft>
              <a:buNone/>
              <a:defRPr sz="18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gradient points toward steepest local increase; gradient descent moves against it.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000"/>
              </a:spcAft>
              <a:buNone/>
              <a:defRPr sz="18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learning rate controls how far each local decision moves.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000"/>
              </a:spcAft>
              <a:buNone/>
              <a:defRPr sz="18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230"/>
                </a:solidFill>
                <a:latin typeface="Arial"/>
                <a:ea typeface="Arial"/>
                <a:cs typeface="Arial"/>
              </a:rPr>
              <a:t>Curvature explains slow progress, oscillation, and divergence.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000"/>
              </a:spcAft>
              <a:buNone/>
              <a:defRPr sz="18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230"/>
                </a:solidFill>
                <a:latin typeface="Arial"/>
                <a:ea typeface="Arial"/>
                <a:cs typeface="Arial"/>
              </a:rPr>
              <a:t>Optimizer variants change how gradients are estimated, remembered, scaled, regularized, or evaluated.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000"/>
              </a:spcAft>
              <a:buNone/>
              <a:defRPr sz="18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2230"/>
                </a:solidFill>
                <a:latin typeface="Arial"/>
                <a:ea typeface="Arial"/>
                <a:cs typeface="Arial"/>
              </a:rPr>
              <a:t>A 2D mechanism demo is not a universal ranking. CNN claims need controlled experiments and multiple seeds.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57C18-C4D2-469C-882F-80FBD9E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88011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3335">
            <a:solidFill>
              <a:srgbClr val="2463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59C4D-B13E-4071-B361-D26E5BB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845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ONE-SENTENCE 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1CBD5-8556-4541-9FC8-774B384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00700"/>
            <a:ext cx="845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2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Gradient descent uses local steepest-ascent information to move downhill; optimizer variants change the update's memory, scale, geometry, or regularization.</a:t>
            </a:r>
          </a:p>
        </p:txBody>
      </p:sp>
    </p:spTree>
    <p:extLst>
      <p:ext uri="{BB962C8B-B14F-4D97-AF65-F5344CB8AC3E}">
        <p14:creationId xmlns:p14="http://schemas.microsoft.com/office/powerpoint/2010/main" val="932142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8C785-D33A-4E6D-AB88-7E484CD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E9B41-9F9F-4243-9562-25721D2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 i="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82230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FB547-55F2-4F1F-9F8F-5B0B6FD2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1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2463A5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2463A5"/>
                </a:solidFill>
                <a:latin typeface="Arial"/>
                <a:ea typeface="Arial"/>
                <a:cs typeface="Arial"/>
              </a:rPr>
              <a:t>Which part of the update rule still feels least intuitive?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0FB05-6765-4626-B587-E665358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Suggested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1CA8E-77BB-4BC9-AB0A-03486F56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230"/>
                </a:solidFill>
                <a:latin typeface="Arial"/>
                <a:ea typeface="Arial"/>
                <a:cs typeface="Arial"/>
              </a:rPr>
              <a:t>Why can a larger learning rate make training worse?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230"/>
                </a:solidFill>
                <a:latin typeface="Arial"/>
                <a:ea typeface="Arial"/>
                <a:cs typeface="Arial"/>
              </a:rPr>
              <a:t>What does momentum remember?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230"/>
                </a:solidFill>
                <a:latin typeface="Arial"/>
                <a:ea typeface="Arial"/>
                <a:cs typeface="Arial"/>
              </a:rPr>
              <a:t>Why might a 2D result not transfer directly to a CNN?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F142F-5EE5-40FA-AC9F-B2774AC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178A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8A8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65764492"/>
      </p:ext>
    </p:extLst>
  </p:cSld>
</p:sld>
</file>

<file path=ppt/theme/theme1.xml><?xml version="1.0" encoding="utf-8"?>
<a:theme xmlns:a="http://schemas.openxmlformats.org/drawingml/2006/main" name="ChatGPT">
  <a:themeElements>
    <a:clrScheme name="Seminar White">
      <a:dk1>
        <a:srgbClr val="000000"/>
      </a:dk1>
      <a:lt1>
        <a:srgbClr val="FFFFFF"/>
      </a:lt1>
      <a:dk2>
        <a:srgbClr val="182230"/>
      </a:dk2>
      <a:lt2>
        <a:srgbClr val="D6DEE8"/>
      </a:lt2>
      <a:accent1>
        <a:srgbClr val="2463A5"/>
      </a:accent1>
      <a:accent2>
        <a:srgbClr val="178A86"/>
      </a:accent2>
      <a:accent3>
        <a:srgbClr val="B66A08"/>
      </a:accent3>
      <a:accent4>
        <a:srgbClr val="B43D3D"/>
      </a:accent4>
      <a:accent5>
        <a:srgbClr val="6E59A6"/>
      </a:accent5>
      <a:accent6>
        <a:srgbClr val="4C7A34"/>
      </a:accent6>
      <a:hlink>
        <a:srgbClr val="2463A5"/>
      </a:hlink>
      <a:folHlink>
        <a:srgbClr val="6E59A6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eminar Whi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2026-09-26T18:11:59.5460000Z</dcterms:created>
  <dcterms:modified xsi:type="dcterms:W3CDTF">2026-09-26T18:11:59.5460000Z</dcterms:modified>
</coreProperties>
</file>