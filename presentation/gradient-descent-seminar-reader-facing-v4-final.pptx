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e071567a8b430c" /><Relationship Type="http://schemas.openxmlformats.org/officeDocument/2006/relationships/extended-properties" Target="/docProps/app.xml" Id="R7c1044812fb04ac2" /><Relationship Type="http://schemas.openxmlformats.org/officeDocument/2006/relationships/officeDocument" Target="/ppt/presentation.xml" Id="Rf273cb4351c14f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7eb3648beb4632"/>
  </p:sldMasterIdLst>
  <p:notesMasterIdLst>
    <p:notesMasterId xmlns:r="http://schemas.openxmlformats.org/officeDocument/2006/relationships" r:id="R567f54a6901a4557"/>
  </p:notesMasterIdLst>
  <p:sldIdLst>
    <p:sldId xmlns:r="http://schemas.openxmlformats.org/officeDocument/2006/relationships" id="256" r:id="Rdda5994b126a4511"/>
    <p:sldId xmlns:r="http://schemas.openxmlformats.org/officeDocument/2006/relationships" id="257" r:id="R6a5ef356d8f3436a"/>
    <p:sldId xmlns:r="http://schemas.openxmlformats.org/officeDocument/2006/relationships" id="258" r:id="R0243f6b7a2784b0b"/>
    <p:sldId xmlns:r="http://schemas.openxmlformats.org/officeDocument/2006/relationships" id="259" r:id="Rd0a3a85ceb014fb2"/>
    <p:sldId xmlns:r="http://schemas.openxmlformats.org/officeDocument/2006/relationships" id="260" r:id="R8108e99615c747e8"/>
    <p:sldId xmlns:r="http://schemas.openxmlformats.org/officeDocument/2006/relationships" id="261" r:id="R23cdad6deec44f11"/>
    <p:sldId xmlns:r="http://schemas.openxmlformats.org/officeDocument/2006/relationships" id="262" r:id="R8b15a5bbdbcd469c"/>
    <p:sldId xmlns:r="http://schemas.openxmlformats.org/officeDocument/2006/relationships" id="263" r:id="Ra0d7fa5252cd48dd"/>
    <p:sldId xmlns:r="http://schemas.openxmlformats.org/officeDocument/2006/relationships" id="264" r:id="R732d8dcd712e4f1d"/>
    <p:sldId xmlns:r="http://schemas.openxmlformats.org/officeDocument/2006/relationships" id="265" r:id="R11cd13ff6a5e4faa"/>
    <p:sldId xmlns:r="http://schemas.openxmlformats.org/officeDocument/2006/relationships" id="266" r:id="Rd4cb68a849de4a8d"/>
    <p:sldId xmlns:r="http://schemas.openxmlformats.org/officeDocument/2006/relationships" id="267" r:id="Re34325d91a2e4fdb"/>
    <p:sldId xmlns:r="http://schemas.openxmlformats.org/officeDocument/2006/relationships" id="268" r:id="Rf33631e143cf422a"/>
    <p:sldId xmlns:r="http://schemas.openxmlformats.org/officeDocument/2006/relationships" id="269" r:id="R2b298bd5b342442b"/>
    <p:sldId xmlns:r="http://schemas.openxmlformats.org/officeDocument/2006/relationships" id="270" r:id="Rd4e575adccd04522"/>
    <p:sldId xmlns:r="http://schemas.openxmlformats.org/officeDocument/2006/relationships" id="271" r:id="R378404ecca0e4c0b"/>
    <p:sldId xmlns:r="http://schemas.openxmlformats.org/officeDocument/2006/relationships" id="272" r:id="R03716d5399f94aca"/>
    <p:sldId xmlns:r="http://schemas.openxmlformats.org/officeDocument/2006/relationships" id="273" r:id="R495592da3ebd4cdb"/>
    <p:sldId xmlns:r="http://schemas.openxmlformats.org/officeDocument/2006/relationships" id="274" r:id="Rfccc4b4e88604396"/>
    <p:sldId xmlns:r="http://schemas.openxmlformats.org/officeDocument/2006/relationships" id="275" r:id="R93736d9daea64e9d"/>
    <p:sldId xmlns:r="http://schemas.openxmlformats.org/officeDocument/2006/relationships" id="276" r:id="R12bcdb3999ad48b7"/>
    <p:sldId xmlns:r="http://schemas.openxmlformats.org/officeDocument/2006/relationships" id="277" r:id="R52091fd07cb844da"/>
    <p:sldId xmlns:r="http://schemas.openxmlformats.org/officeDocument/2006/relationships" id="278" r:id="R6f7e42cd55b64de4"/>
    <p:sldId xmlns:r="http://schemas.openxmlformats.org/officeDocument/2006/relationships" id="279" r:id="R60dea753ac9b4745"/>
    <p:sldId xmlns:r="http://schemas.openxmlformats.org/officeDocument/2006/relationships" id="280" r:id="R5d7aacf96492401e"/>
    <p:sldId xmlns:r="http://schemas.openxmlformats.org/officeDocument/2006/relationships" id="281" r:id="R8c75881424ed4596"/>
    <p:sldId xmlns:r="http://schemas.openxmlformats.org/officeDocument/2006/relationships" id="282" r:id="Rc2b0d96a65af4256"/>
    <p:sldId xmlns:r="http://schemas.openxmlformats.org/officeDocument/2006/relationships" id="283" r:id="R59998278135f43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3222a51a244ae1" /><Relationship Type="http://schemas.openxmlformats.org/officeDocument/2006/relationships/slideMaster" Target="/ppt/slideMasters/slideMaster1.xml" Id="R2a7eb3648beb4632" /><Relationship Type="http://schemas.openxmlformats.org/officeDocument/2006/relationships/notesMaster" Target="/ppt/notesMasters/notesMaster1.xml" Id="R567f54a6901a4557" /><Relationship Type="http://schemas.openxmlformats.org/officeDocument/2006/relationships/presProps" Target="/ppt/presProps.xml" Id="Rff646b001c8a4968" /><Relationship Type="http://schemas.openxmlformats.org/officeDocument/2006/relationships/tableStyles" Target="/ppt/tableStyles.xml" Id="R8985699eaf9a473b" /><Relationship Type="http://schemas.openxmlformats.org/officeDocument/2006/relationships/slide" Target="/ppt/slides/slide1.xml" Id="Rdda5994b126a4511" /><Relationship Type="http://schemas.openxmlformats.org/officeDocument/2006/relationships/slide" Target="/ppt/slides/slide2.xml" Id="R6a5ef356d8f3436a" /><Relationship Type="http://schemas.openxmlformats.org/officeDocument/2006/relationships/slide" Target="/ppt/slides/slide3.xml" Id="R0243f6b7a2784b0b" /><Relationship Type="http://schemas.openxmlformats.org/officeDocument/2006/relationships/slide" Target="/ppt/slides/slide4.xml" Id="Rd0a3a85ceb014fb2" /><Relationship Type="http://schemas.openxmlformats.org/officeDocument/2006/relationships/slide" Target="/ppt/slides/slide5.xml" Id="R8108e99615c747e8" /><Relationship Type="http://schemas.openxmlformats.org/officeDocument/2006/relationships/slide" Target="/ppt/slides/slide6.xml" Id="R23cdad6deec44f11" /><Relationship Type="http://schemas.openxmlformats.org/officeDocument/2006/relationships/slide" Target="/ppt/slides/slide7.xml" Id="R8b15a5bbdbcd469c" /><Relationship Type="http://schemas.openxmlformats.org/officeDocument/2006/relationships/slide" Target="/ppt/slides/slide8.xml" Id="Ra0d7fa5252cd48dd" /><Relationship Type="http://schemas.openxmlformats.org/officeDocument/2006/relationships/slide" Target="/ppt/slides/slide9.xml" Id="R732d8dcd712e4f1d" /><Relationship Type="http://schemas.openxmlformats.org/officeDocument/2006/relationships/slide" Target="/ppt/slides/slide10.xml" Id="R11cd13ff6a5e4faa" /><Relationship Type="http://schemas.openxmlformats.org/officeDocument/2006/relationships/slide" Target="/ppt/slides/slide11.xml" Id="Rd4cb68a849de4a8d" /><Relationship Type="http://schemas.openxmlformats.org/officeDocument/2006/relationships/slide" Target="/ppt/slides/slide12.xml" Id="Re34325d91a2e4fdb" /><Relationship Type="http://schemas.openxmlformats.org/officeDocument/2006/relationships/slide" Target="/ppt/slides/slide13.xml" Id="Rf33631e143cf422a" /><Relationship Type="http://schemas.openxmlformats.org/officeDocument/2006/relationships/slide" Target="/ppt/slides/slide14.xml" Id="R2b298bd5b342442b" /><Relationship Type="http://schemas.openxmlformats.org/officeDocument/2006/relationships/slide" Target="/ppt/slides/slide15.xml" Id="Rd4e575adccd04522" /><Relationship Type="http://schemas.openxmlformats.org/officeDocument/2006/relationships/slide" Target="/ppt/slides/slide16.xml" Id="R378404ecca0e4c0b" /><Relationship Type="http://schemas.openxmlformats.org/officeDocument/2006/relationships/slide" Target="/ppt/slides/slide17.xml" Id="R03716d5399f94aca" /><Relationship Type="http://schemas.openxmlformats.org/officeDocument/2006/relationships/slide" Target="/ppt/slides/slide18.xml" Id="R495592da3ebd4cdb" /><Relationship Type="http://schemas.openxmlformats.org/officeDocument/2006/relationships/slide" Target="/ppt/slides/slide19.xml" Id="Rfccc4b4e88604396" /><Relationship Type="http://schemas.openxmlformats.org/officeDocument/2006/relationships/slide" Target="/ppt/slides/slide20.xml" Id="R93736d9daea64e9d" /><Relationship Type="http://schemas.openxmlformats.org/officeDocument/2006/relationships/slide" Target="/ppt/slides/slide21.xml" Id="R12bcdb3999ad48b7" /><Relationship Type="http://schemas.openxmlformats.org/officeDocument/2006/relationships/slide" Target="/ppt/slides/slide22.xml" Id="R52091fd07cb844da" /><Relationship Type="http://schemas.openxmlformats.org/officeDocument/2006/relationships/slide" Target="/ppt/slides/slide23.xml" Id="R6f7e42cd55b64de4" /><Relationship Type="http://schemas.openxmlformats.org/officeDocument/2006/relationships/slide" Target="/ppt/slides/slide24.xml" Id="R60dea753ac9b4745" /><Relationship Type="http://schemas.openxmlformats.org/officeDocument/2006/relationships/slide" Target="/ppt/slides/slide25.xml" Id="R5d7aacf96492401e" /><Relationship Type="http://schemas.openxmlformats.org/officeDocument/2006/relationships/slide" Target="/ppt/slides/slide26.xml" Id="R8c75881424ed4596" /><Relationship Type="http://schemas.openxmlformats.org/officeDocument/2006/relationships/slide" Target="/ppt/slides/slide27.xml" Id="Rc2b0d96a65af4256" /><Relationship Type="http://schemas.openxmlformats.org/officeDocument/2006/relationships/slide" Target="/ppt/slides/slide28.xml" Id="R59998278135f43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67eb5e4fe14c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eader Facing Seminar">
      <a:dk1>
        <a:srgbClr val="000000"/>
      </a:dk1>
      <a:lt1>
        <a:srgbClr val="FFFFFF"/>
      </a:lt1>
      <a:dk2>
        <a:srgbClr val="17243A"/>
      </a:dk2>
      <a:lt2>
        <a:srgbClr val="DCE3ED"/>
      </a:lt2>
      <a:accent1>
        <a:srgbClr val="3158C9"/>
      </a:accent1>
      <a:accent2>
        <a:srgbClr val="13877F"/>
      </a:accent2>
      <a:accent3>
        <a:srgbClr val="A9610B"/>
      </a:accent3>
      <a:accent4>
        <a:srgbClr val="B53D4A"/>
      </a:accent4>
      <a:accent5>
        <a:srgbClr val="6652A3"/>
      </a:accent5>
      <a:accent6>
        <a:srgbClr val="4C7A34"/>
      </a:accent6>
      <a:hlink>
        <a:srgbClr val="3158C9"/>
      </a:hlink>
      <a:folHlink>
        <a:srgbClr val="6652A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Reader Facing Semina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9741dd8355482a" /><Relationship Type="http://schemas.openxmlformats.org/officeDocument/2006/relationships/notesMaster" Target="/ppt/notesMasters/notesMaster1.xml" Id="R3d94a242abd248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80c6b7195541d3" /><Relationship Type="http://schemas.openxmlformats.org/officeDocument/2006/relationships/notesMaster" Target="/ppt/notesMasters/notesMaster1.xml" Id="R808a8de0262143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d0a54baa9944e4" /><Relationship Type="http://schemas.openxmlformats.org/officeDocument/2006/relationships/notesMaster" Target="/ppt/notesMasters/notesMaster1.xml" Id="R9664bc4bf63340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0cd5466c5c42af" /><Relationship Type="http://schemas.openxmlformats.org/officeDocument/2006/relationships/notesMaster" Target="/ppt/notesMasters/notesMaster1.xml" Id="Reea6298868bf4b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24c1cdaebd4224" /><Relationship Type="http://schemas.openxmlformats.org/officeDocument/2006/relationships/notesMaster" Target="/ppt/notesMasters/notesMaster1.xml" Id="Ra080e8ecd61849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f6f419a23e421b" /><Relationship Type="http://schemas.openxmlformats.org/officeDocument/2006/relationships/notesMaster" Target="/ppt/notesMasters/notesMaster1.xml" Id="R180eb6eae8ab40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4a72c6c23b49e1" /><Relationship Type="http://schemas.openxmlformats.org/officeDocument/2006/relationships/notesMaster" Target="/ppt/notesMasters/notesMaster1.xml" Id="R77e33fb5561f4f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9da1ad811c46cc" /><Relationship Type="http://schemas.openxmlformats.org/officeDocument/2006/relationships/notesMaster" Target="/ppt/notesMasters/notesMaster1.xml" Id="R163355bae8ca42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abe8808bbc4832" /><Relationship Type="http://schemas.openxmlformats.org/officeDocument/2006/relationships/notesMaster" Target="/ppt/notesMasters/notesMaster1.xml" Id="R94ddd01437d34f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ace9b1c0cb4ffc" /><Relationship Type="http://schemas.openxmlformats.org/officeDocument/2006/relationships/notesMaster" Target="/ppt/notesMasters/notesMaster1.xml" Id="R5b4d150b1e2a43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aae0a09db344a0" /><Relationship Type="http://schemas.openxmlformats.org/officeDocument/2006/relationships/notesMaster" Target="/ppt/notesMasters/notesMaster1.xml" Id="R44702ecd025242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9cab35e19240a9" /><Relationship Type="http://schemas.openxmlformats.org/officeDocument/2006/relationships/notesMaster" Target="/ppt/notesMasters/notesMaster1.xml" Id="R06dde279d27649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f6e58d383f402d" /><Relationship Type="http://schemas.openxmlformats.org/officeDocument/2006/relationships/notesMaster" Target="/ppt/notesMasters/notesMaster1.xml" Id="R7f843e4b6a7745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29b109f4b44124" /><Relationship Type="http://schemas.openxmlformats.org/officeDocument/2006/relationships/notesMaster" Target="/ppt/notesMasters/notesMaster1.xml" Id="Rd32e5c2dde754d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a9d477fb264328" /><Relationship Type="http://schemas.openxmlformats.org/officeDocument/2006/relationships/notesMaster" Target="/ppt/notesMasters/notesMaster1.xml" Id="R8b876d086c5445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98eddd8af64ed5" /><Relationship Type="http://schemas.openxmlformats.org/officeDocument/2006/relationships/notesMaster" Target="/ppt/notesMasters/notesMaster1.xml" Id="Rb3274d2f62fe4d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a1a8af3ee844ae" /><Relationship Type="http://schemas.openxmlformats.org/officeDocument/2006/relationships/notesMaster" Target="/ppt/notesMasters/notesMaster1.xml" Id="R8f4a41e96d384f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14dea4b6d24e04" /><Relationship Type="http://schemas.openxmlformats.org/officeDocument/2006/relationships/notesMaster" Target="/ppt/notesMasters/notesMaster1.xml" Id="R47bb9aa73b6a44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520282312b64817" /><Relationship Type="http://schemas.openxmlformats.org/officeDocument/2006/relationships/notesMaster" Target="/ppt/notesMasters/notesMaster1.xml" Id="R478ded09cb6a405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ef13766d744713" /><Relationship Type="http://schemas.openxmlformats.org/officeDocument/2006/relationships/notesMaster" Target="/ppt/notesMasters/notesMaster1.xml" Id="R0c76cd173d4347b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bb6bcd8d6b64bbc" /><Relationship Type="http://schemas.openxmlformats.org/officeDocument/2006/relationships/notesMaster" Target="/ppt/notesMasters/notesMaster1.xml" Id="R1fe98d30a9cd4ff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3462878450a4539" /><Relationship Type="http://schemas.openxmlformats.org/officeDocument/2006/relationships/notesMaster" Target="/ppt/notesMasters/notesMaster1.xml" Id="Rc84a064a7b784ed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9c0520b3b0f42bd" /><Relationship Type="http://schemas.openxmlformats.org/officeDocument/2006/relationships/notesMaster" Target="/ppt/notesMasters/notesMaster1.xml" Id="Rdde2340bad40498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0cb0b53b74545ba" /><Relationship Type="http://schemas.openxmlformats.org/officeDocument/2006/relationships/notesMaster" Target="/ppt/notesMasters/notesMaster1.xml" Id="Rea8a5673523f4b3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d1afdffaa934309" /><Relationship Type="http://schemas.openxmlformats.org/officeDocument/2006/relationships/notesMaster" Target="/ppt/notesMasters/notesMaster1.xml" Id="R42212bbbdf0d48f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d0563cecf904dc1" /><Relationship Type="http://schemas.openxmlformats.org/officeDocument/2006/relationships/notesMaster" Target="/ppt/notesMasters/notesMaster1.xml" Id="R04af234f2e164e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2f556b1a8604400" /><Relationship Type="http://schemas.openxmlformats.org/officeDocument/2006/relationships/notesMaster" Target="/ppt/notesMasters/notesMaster1.xml" Id="R9d5478a7d3b3433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a6374d936b14629" /><Relationship Type="http://schemas.openxmlformats.org/officeDocument/2006/relationships/notesMaster" Target="/ppt/notesMasters/notesMaster1.xml" Id="Rca7448a78b46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prompt: The deck follows one question: how does local slope become a parameter update?</a:t>
            </a:r>
          </a:p>
          <a:p xmlns:a="http://schemas.openxmlformats.org/drawingml/2006/main">
            <a:r>
              <a:t>Source: PROJECT_PLAN.md and docs/TALK_SCRIPT.md.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a familiar problem: fit a line to observations before introducing abstract parameters.</a:t>
            </a:r>
          </a:p>
          <a:p xmlns:a="http://schemas.openxmlformats.org/drawingml/2006/main">
            <a:r>
              <a:t>Ask: what can change in the line? The slope w and intercept b.</a:t>
            </a:r>
          </a:p>
          <a:p xmlns:a="http://schemas.openxmlformats.org/drawingml/2006/main">
            <a:r>
              <a:t>Source: PROJECT_PLAN.md, sections 1 and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line-fitting example to the notation used later.</a:t>
            </a:r>
          </a:p>
          <a:p xmlns:a="http://schemas.openxmlformats.org/drawingml/2006/main">
            <a:r>
              <a:t>Explain that θ is pronounced “theta” and stores all adjustable parameters.</a:t>
            </a:r>
          </a:p>
          <a:p xmlns:a="http://schemas.openxmlformats.org/drawingml/2006/main">
            <a:r>
              <a:t>Source: docs/MATH_NOTES.md and PROJECT_PLAN.md.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meaning of holding a coordinate fixed, rather than treating partial derivatives as a notation jump.</a:t>
            </a:r>
          </a:p>
          <a:p xmlns:a="http://schemas.openxmlformats.org/drawingml/2006/main">
            <a:r>
              <a:t>Ask students to differentiate x² + 4 with respect to x before revealing 2x.</a:t>
            </a:r>
          </a:p>
          <a:p xmlns:a="http://schemas.openxmlformats.org/drawingml/2006/main">
            <a:r>
              <a:t>Source: docs/MATH_NOTES.md.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at (1,2) and ask for the uphill and downhill directions before showing the values.</a:t>
            </a:r>
          </a:p>
          <a:p xmlns:a="http://schemas.openxmlformats.org/drawingml/2006/main">
            <a:r>
              <a:t>Clarify that the arrows are vectors in the x-y parameter plane. They are not physical objects sliding on the 3D surface.</a:t>
            </a:r>
          </a:p>
          <a:p xmlns:a="http://schemas.openxmlformats.org/drawingml/2006/main">
            <a:r>
              <a:t>For this quadratic only, the gradient magnitude grows with distance from the minimum.</a:t>
            </a:r>
          </a:p>
          <a:p xmlns:a="http://schemas.openxmlformats.org/drawingml/2006/main">
            <a:r>
              <a:t>Source figure: figures/svg/01_gradient_field_sphere.svg.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missing assumption explicitly: the direction vector has unit length.</a:t>
            </a:r>
          </a:p>
          <a:p xmlns:a="http://schemas.openxmlformats.org/drawingml/2006/main">
            <a:r>
              <a:t>Derive the extremum using the dot-product identity and Cauchy–Schwarz.</a:t>
            </a:r>
          </a:p>
          <a:p xmlns:a="http://schemas.openxmlformats.org/drawingml/2006/main">
            <a:r>
              <a:t>Qualify the Taylor statement: nonzero gradient, positive and sufficiently small η.</a:t>
            </a:r>
          </a:p>
          <a:p xmlns:a="http://schemas.openxmlformats.org/drawingml/2006/main">
            <a:r>
              <a:t>Source: docs/MATH_NOTES.md, directional derivative and Taylor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PROJECT_PLAN.md, sections 1 and 7.3; animated source: figures/gif/gradient_descent.gif.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Pause: Before revealing the final line, compute the update from θ₀ = (1, 2), ∇f = (2, 4), and η = 0.1.</a:t>
            </a:r>
          </a:p>
          <a:p xmlns:a="http://schemas.openxmlformats.org/drawingml/2006/main">
            <a:r>
              <a:t>Source: docs/MATH_NOTES.md and docs/QUESTIONS_FOR_CLASS.md.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Prediction prompt: Which trajectory should be stable, and what changes when η becomes too large?</a:t>
            </a:r>
          </a:p>
          <a:p xmlns:a="http://schemas.openxmlformats.org/drawingml/2006/main">
            <a:r>
              <a:t>Source figure: figures/svg/04_learning_rate_ill_conditioned.svg.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Prediction checkpoint: Ask students to choose the next point before revealing it.</a:t>
            </a:r>
          </a:p>
          <a:p xmlns:a="http://schemas.openxmlformats.org/drawingml/2006/main">
            <a:r>
              <a:t>Starting at (2,1) with η = 0.03, ∇f = (4,50), so θ₁ = (1.88,−0.5).</a:t>
            </a:r>
          </a:p>
          <a:p xmlns:a="http://schemas.openxmlformats.org/drawingml/2006/main">
            <a:r>
              <a:t>Then derive |1−50η| &lt; 1 and intersect it with the x-coordinate condition.</a:t>
            </a:r>
          </a:p>
          <a:p xmlns:a="http://schemas.openxmlformats.org/drawingml/2006/main">
            <a:r>
              <a:t>Source: docs/MATH_NOTES.md, ill-conditioned quadratic section; exercise adapted from the seminar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figure: figures/svg/06_nonconvex_local_minima.svg; docs/MATH_NOTES.md.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two paths through the origin before naming the point a saddle.</a:t>
            </a:r>
          </a:p>
          <a:p xmlns:a="http://schemas.openxmlformats.org/drawingml/2006/main">
            <a:r>
              <a:t>Along y=0, f(x,0)=x² increases away from 0. Along x=0, f(0,y)=−y² decreases away from 0.</a:t>
            </a:r>
          </a:p>
          <a:p xmlns:a="http://schemas.openxmlformats.org/drawingml/2006/main">
            <a:r>
              <a:t>Source figure: figures/svg/07_saddle_point.svg; docs/MATH_NOTES.md.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every symbol before using it in a new update rule.</a:t>
            </a:r>
          </a:p>
          <a:p xmlns:a="http://schemas.openxmlformats.org/drawingml/2006/main">
            <a:r>
              <a:t>Explain that vector squaring and division are element-wise in these formulas.</a:t>
            </a:r>
          </a:p>
          <a:p xmlns:a="http://schemas.openxmlformats.org/drawingml/2006/main">
            <a:r>
              <a:t>Source: PROJECT_PLAN.md, section 8; docs/OPTIMIZER_CHEATSHEET.md.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the two updates aloud before showing the animation.</a:t>
            </a:r>
          </a:p>
          <a:p xmlns:a="http://schemas.openxmlformats.org/drawingml/2006/main">
            <a:r>
              <a:t>Use β=0.5, η=0.1, v₀=(0,0), g₁=(2,4), and g₂=(2,−4). The x-component accumulates while the y-component cancels.</a:t>
            </a:r>
          </a:p>
          <a:p xmlns:a="http://schemas.openxmlformats.org/drawingml/2006/main">
            <a:r>
              <a:t>Source: docs/OPTIMIZER_CHEATSHEET.md; animated source: figures/gif/momentum.gif.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state update before interpreting the look-ahead position.</a:t>
            </a:r>
          </a:p>
          <a:p xmlns:a="http://schemas.openxmlformats.org/drawingml/2006/main">
            <a:r>
              <a:t>Source: docs/OPTIMIZER_CHEATSHEET.md; animated source: figures/gif/nesterov.gif.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docs/OPTIMIZER_CHEATSHEET.md; animated source: figures/gif/adagrad.gif.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docs/OPTIMIZER_CHEATSHEET.md; animated source: figures/gif/rmsprop.gif.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Adam to the previous slides: m remembers direction, v remembers squared magnitude.</a:t>
            </a:r>
          </a:p>
          <a:p xmlns:a="http://schemas.openxmlformats.org/drawingml/2006/main">
            <a:r>
              <a:t>Derive the first-step bias correction: m₁=(1−β₁)g₁, so m̂₁=m₁/(1−β₁)=g₁.</a:t>
            </a:r>
          </a:p>
          <a:p xmlns:a="http://schemas.openxmlformats.org/drawingml/2006/main">
            <a:r>
              <a:t>Source: docs/OPTIMIZER_CHEATSHEET.md; Kingma and Ba, arXiv:1412.6980; animated source: figures/gif/adam.gif.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decay term acts on the original parameters, not on the already-updated parameters.</a:t>
            </a:r>
          </a:p>
          <a:p xmlns:a="http://schemas.openxmlformats.org/drawingml/2006/main">
            <a:r>
              <a:t>Use the combined rule shown on the slide. This is the conventional decoupled form.</a:t>
            </a:r>
          </a:p>
          <a:p xmlns:a="http://schemas.openxmlformats.org/drawingml/2006/main">
            <a:r>
              <a:t>Source: docs/OPTIMIZER_CHEATSHEET.md; Loshchilov and Hutter, arXiv:1711.05101; animated source: figures/gif/adamw.gif.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this as a single family tree. Separate sampling, stateful update rules, regularization, and alternative methods.</a:t>
            </a:r>
          </a:p>
          <a:p xmlns:a="http://schemas.openxmlformats.org/drawingml/2006/main">
            <a:r>
              <a:t>SAM wraps an update with a sharpness-aware perturbation. L-BFGS uses curvature approximations. Lion uses sign-based momentum.</a:t>
            </a:r>
          </a:p>
          <a:p xmlns:a="http://schemas.openxmlformats.org/drawingml/2006/main">
            <a:r>
              <a:t>Source: docs/OPTIMIZER_CHEATSHEET.md and docs/SOURCES.md.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animations in pairs: gradient descent vs momentum, AdaGrad vs RMSProp, then Adam vs AdamW.</a:t>
            </a:r>
          </a:p>
          <a:p xmlns:a="http://schemas.openxmlformats.org/drawingml/2006/main">
            <a:r>
              <a:t>Treat the combined plot as a summary, not a ranking. State objective, starting point, steps, learning rates, and decay coefficient.</a:t>
            </a:r>
          </a:p>
          <a:p xmlns:a="http://schemas.openxmlformats.org/drawingml/2006/main">
            <a:r>
              <a:t>The deterministic curves are gradient descent unless stochastic gradient noise is explicitly introduced.</a:t>
            </a:r>
          </a:p>
          <a:p xmlns:a="http://schemas.openxmlformats.org/drawingml/2006/main">
            <a:r>
              <a:t>Source figure: figures/svg/05_optimizer_trajectories_ill_conditioned.svg; PROJECT_PLAN.md, sections 5 and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architecture diagram to the loop: forward pass, loss, backpropagation, and optimizer update.</a:t>
            </a:r>
          </a:p>
          <a:p xmlns:a="http://schemas.openxmlformats.org/drawingml/2006/main">
            <a:r>
              <a:t>Source figure: figures/svg/09_numpy_cnn_architecture.svg; docs/CNN_NOTES_FROM_UPLOADED_CODE.md.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boundary between gradient computation and parameter update.</a:t>
            </a:r>
          </a:p>
          <a:p xmlns:a="http://schemas.openxmlformats.org/drawingml/2006/main">
            <a:r>
              <a:t>Source: docs/TALK_SCRIPT.md and animated source: figures/gif/cnn_forward_backward.gif.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prompt: If an optimizer wins on one seed or one learning rate, what evidence is still missing?</a:t>
            </a:r>
          </a:p>
          <a:p xmlns:a="http://schemas.openxmlformats.org/drawingml/2006/main">
            <a:r>
              <a:t>Source: docs/EXPERIMENT_PLAN.md and PROJECT_PLAN.md, sections 9 and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one concrete derivative connecting the CNN's output to its parameter gradients.</a:t>
            </a:r>
          </a:p>
          <a:p xmlns:a="http://schemas.openxmlformats.org/drawingml/2006/main">
            <a:r>
              <a:t>For the true class y, the logit derivative is p_k − 1{k=y}. The final dense layer receives this vector through the chain rule.</a:t>
            </a:r>
          </a:p>
          <a:p xmlns:a="http://schemas.openxmlformats.org/drawingml/2006/main">
            <a:r>
              <a:t>This slide explains the mechanism. It does not claim validated MNIST benchmark results.</a:t>
            </a:r>
          </a:p>
          <a:p xmlns:a="http://schemas.openxmlformats.org/drawingml/2006/main">
            <a:r>
              <a:t>Source: docs/CNN_NOTES_FROM_UPLOADED_CODE.md and standard softmax cross-entropy derivative.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arrows in order and emphasize the return to updated parameters.</a:t>
            </a:r>
          </a:p>
          <a:p xmlns:a="http://schemas.openxmlformats.org/drawingml/2006/main">
            <a:r>
              <a:t>The cycle is the central mechanism: compute a loss, differentiate it, update parameters, and repeat.</a:t>
            </a:r>
          </a:p>
          <a:p xmlns:a="http://schemas.openxmlformats.org/drawingml/2006/main">
            <a:r>
              <a:t>Source: PROJECT_PLAN.md, sections 2 and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checkpoint: ask students to explain where the gradient comes from and what the optimizer changes.</a:t>
            </a:r>
          </a:p>
          <a:p xmlns:a="http://schemas.openxmlformats.org/drawingml/2006/main">
            <a:r>
              <a:t>Source: PROJECT_PLAN.md, sections 1, 3, 8, and 10; discussion prompts: docs/QUESTIONS_FOR_CLASS.md.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sources support the optimizer terminology, primary methods, and MNIST dataset reference.</a:t>
            </a:r>
          </a:p>
          <a:p xmlns:a="http://schemas.openxmlformats.org/drawingml/2006/main">
            <a:r>
              <a:t>Source: docs/SOURCES.md.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3b885449c47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f2dda221664f6c" /><Relationship Type="http://schemas.openxmlformats.org/officeDocument/2006/relationships/slideLayout" Target="/ppt/slideLayouts/slideLayout1.xml" Id="R8d3960fc71134d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3960fc71134d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eader Facing Seminar">
      <a:dk1>
        <a:srgbClr val="000000"/>
      </a:dk1>
      <a:lt1>
        <a:srgbClr val="FFFFFF"/>
      </a:lt1>
      <a:dk2>
        <a:srgbClr val="17243A"/>
      </a:dk2>
      <a:lt2>
        <a:srgbClr val="DCE3ED"/>
      </a:lt2>
      <a:accent1>
        <a:srgbClr val="3158C9"/>
      </a:accent1>
      <a:accent2>
        <a:srgbClr val="13877F"/>
      </a:accent2>
      <a:accent3>
        <a:srgbClr val="A9610B"/>
      </a:accent3>
      <a:accent4>
        <a:srgbClr val="B53D4A"/>
      </a:accent4>
      <a:accent5>
        <a:srgbClr val="6652A3"/>
      </a:accent5>
      <a:accent6>
        <a:srgbClr val="4C7A34"/>
      </a:accent6>
      <a:hlink>
        <a:srgbClr val="3158C9"/>
      </a:hlink>
      <a:folHlink>
        <a:srgbClr val="6652A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Reader Facing Semina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babace35044aa" /><Relationship Type="http://schemas.openxmlformats.org/officeDocument/2006/relationships/image" Target="/ppt/media/image.png" Id="R7a98b7f876804d5f" /><Relationship Type="http://schemas.openxmlformats.org/officeDocument/2006/relationships/notesSlide" Target="/ppt/notesSlides/notesSlide1.xml" Id="R2343813deb4443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b33d438b747e7" /><Relationship Type="http://schemas.openxmlformats.org/officeDocument/2006/relationships/notesSlide" Target="/ppt/notesSlides/notesSlide2.xml" Id="R94c55af947404b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1cb24dff348e7" /><Relationship Type="http://schemas.openxmlformats.org/officeDocument/2006/relationships/notesSlide" Target="/ppt/notesSlides/notesSlide3.xml" Id="R060a07e48c3e40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5cb78b90e4a14" /><Relationship Type="http://schemas.openxmlformats.org/officeDocument/2006/relationships/notesSlide" Target="/ppt/notesSlides/notesSlide4.xml" Id="R28f8361ef82f4e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1f0223e1c4053" /><Relationship Type="http://schemas.openxmlformats.org/officeDocument/2006/relationships/image" Target="/ppt/media/image2.png" Id="R1f0c4bf973a84ca7" /><Relationship Type="http://schemas.openxmlformats.org/officeDocument/2006/relationships/image" Target="/ppt/media/image.svg" Id="Re123109a832e4470" /><Relationship Type="http://schemas.openxmlformats.org/officeDocument/2006/relationships/notesSlide" Target="/ppt/notesSlides/notesSlide5.xml" Id="R3c621356944347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ae65a71264df8" /><Relationship Type="http://schemas.openxmlformats.org/officeDocument/2006/relationships/image" Target="/ppt/media/image3.png" Id="R6d2dd3fa867d4bda" /><Relationship Type="http://schemas.openxmlformats.org/officeDocument/2006/relationships/image" Target="/ppt/media/image2.svg" Id="R4e43bc0e15dd4025" /><Relationship Type="http://schemas.openxmlformats.org/officeDocument/2006/relationships/notesSlide" Target="/ppt/notesSlides/notesSlide6.xml" Id="Rb15fb90b15c54b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9b66962d845e9" /><Relationship Type="http://schemas.openxmlformats.org/officeDocument/2006/relationships/image" Target="/ppt/media/image.gif" Id="Red5bf5f75d614437" /><Relationship Type="http://schemas.openxmlformats.org/officeDocument/2006/relationships/notesSlide" Target="/ppt/notesSlides/notesSlide7.xml" Id="R4b722863ee6b45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2b40c98154e72" /><Relationship Type="http://schemas.openxmlformats.org/officeDocument/2006/relationships/notesSlide" Target="/ppt/notesSlides/notesSlide8.xml" Id="Rb32f34c0d7464b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30670bf1c437f" /><Relationship Type="http://schemas.openxmlformats.org/officeDocument/2006/relationships/image" Target="/ppt/media/image4.png" Id="R021b0d8437864688" /><Relationship Type="http://schemas.openxmlformats.org/officeDocument/2006/relationships/image" Target="/ppt/media/image3.svg" Id="R5edf944422554894" /><Relationship Type="http://schemas.openxmlformats.org/officeDocument/2006/relationships/notesSlide" Target="/ppt/notesSlides/notesSlide9.xml" Id="Rb88bf0e968164a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02ecc28544125" /><Relationship Type="http://schemas.openxmlformats.org/officeDocument/2006/relationships/notesSlide" Target="/ppt/notesSlides/notesSlide10.xml" Id="R1f02b4ddc9f445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c1b3ac65b46c2" /><Relationship Type="http://schemas.openxmlformats.org/officeDocument/2006/relationships/image" Target="/ppt/media/image5.png" Id="R26a97589737a42b5" /><Relationship Type="http://schemas.openxmlformats.org/officeDocument/2006/relationships/image" Target="/ppt/media/image4.svg" Id="R276e462ceede4d1a" /><Relationship Type="http://schemas.openxmlformats.org/officeDocument/2006/relationships/notesSlide" Target="/ppt/notesSlides/notesSlide11.xml" Id="R8b231d8902a74d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2d3defbf84d3b" /><Relationship Type="http://schemas.openxmlformats.org/officeDocument/2006/relationships/image" Target="/ppt/media/image6.png" Id="Rd1b982a91c49473b" /><Relationship Type="http://schemas.openxmlformats.org/officeDocument/2006/relationships/image" Target="/ppt/media/image5.svg" Id="Rd2265c8ec5574dbb" /><Relationship Type="http://schemas.openxmlformats.org/officeDocument/2006/relationships/notesSlide" Target="/ppt/notesSlides/notesSlide12.xml" Id="R70cbb29c1ce24e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f1e4131c5425c" /><Relationship Type="http://schemas.openxmlformats.org/officeDocument/2006/relationships/notesSlide" Target="/ppt/notesSlides/notesSlide13.xml" Id="R7b113670348b4d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f75e710b14a59" /><Relationship Type="http://schemas.openxmlformats.org/officeDocument/2006/relationships/image" Target="/ppt/media/image2.gif" Id="R3d6d98e43d44431d" /><Relationship Type="http://schemas.openxmlformats.org/officeDocument/2006/relationships/notesSlide" Target="/ppt/notesSlides/notesSlide14.xml" Id="R978a0733446f4f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dbc818d3b4ebd" /><Relationship Type="http://schemas.openxmlformats.org/officeDocument/2006/relationships/image" Target="/ppt/media/image3.gif" Id="R38a943f1d370489e" /><Relationship Type="http://schemas.openxmlformats.org/officeDocument/2006/relationships/notesSlide" Target="/ppt/notesSlides/notesSlide15.xml" Id="R3c0dea21fe0f4b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317d5c8cf48b8" /><Relationship Type="http://schemas.openxmlformats.org/officeDocument/2006/relationships/image" Target="/ppt/media/image4.gif" Id="R9d43355ec9754319" /><Relationship Type="http://schemas.openxmlformats.org/officeDocument/2006/relationships/notesSlide" Target="/ppt/notesSlides/notesSlide16.xml" Id="R1180a9f93d7b4a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90165ba0f4618" /><Relationship Type="http://schemas.openxmlformats.org/officeDocument/2006/relationships/image" Target="/ppt/media/image5.gif" Id="R4828f15c63bc4b61" /><Relationship Type="http://schemas.openxmlformats.org/officeDocument/2006/relationships/notesSlide" Target="/ppt/notesSlides/notesSlide17.xml" Id="R6ab119863b2041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551a9c42e4955" /><Relationship Type="http://schemas.openxmlformats.org/officeDocument/2006/relationships/image" Target="/ppt/media/image6.gif" Id="Rd1bb82262340495c" /><Relationship Type="http://schemas.openxmlformats.org/officeDocument/2006/relationships/notesSlide" Target="/ppt/notesSlides/notesSlide18.xml" Id="R4c8aa62196a842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837c92148433b" /><Relationship Type="http://schemas.openxmlformats.org/officeDocument/2006/relationships/image" Target="/ppt/media/image7.gif" Id="R12d4fabbc9c24014" /><Relationship Type="http://schemas.openxmlformats.org/officeDocument/2006/relationships/notesSlide" Target="/ppt/notesSlides/notesSlide19.xml" Id="Redc0816965774f8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6282f982c4db1" /><Relationship Type="http://schemas.openxmlformats.org/officeDocument/2006/relationships/notesSlide" Target="/ppt/notesSlides/notesSlide20.xml" Id="R5369c9efd9ef4c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59f062610402c" /><Relationship Type="http://schemas.openxmlformats.org/officeDocument/2006/relationships/image" Target="/ppt/media/image7.png" Id="R37ac56006a8b4c3b" /><Relationship Type="http://schemas.openxmlformats.org/officeDocument/2006/relationships/image" Target="/ppt/media/image6.svg" Id="R87512476f77d43ed" /><Relationship Type="http://schemas.openxmlformats.org/officeDocument/2006/relationships/notesSlide" Target="/ppt/notesSlides/notesSlide21.xml" Id="R33db1963a34d4cb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3642539ad4efc" /><Relationship Type="http://schemas.openxmlformats.org/officeDocument/2006/relationships/image" Target="/ppt/media/image8.png" Id="R194d46d0f75b4790" /><Relationship Type="http://schemas.openxmlformats.org/officeDocument/2006/relationships/image" Target="/ppt/media/image7.svg" Id="R65f9259d89b64458" /><Relationship Type="http://schemas.openxmlformats.org/officeDocument/2006/relationships/notesSlide" Target="/ppt/notesSlides/notesSlide22.xml" Id="R2d5158ca233e4d2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f911b8ad3466e" /><Relationship Type="http://schemas.openxmlformats.org/officeDocument/2006/relationships/image" Target="/ppt/media/image8.gif" Id="R186027238be9418a" /><Relationship Type="http://schemas.openxmlformats.org/officeDocument/2006/relationships/notesSlide" Target="/ppt/notesSlides/notesSlide23.xml" Id="R2957867062cf44c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4d3a5d7f3490d" /><Relationship Type="http://schemas.openxmlformats.org/officeDocument/2006/relationships/notesSlide" Target="/ppt/notesSlides/notesSlide24.xml" Id="Rfb6fdf92f2d3412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a8aec387044d6" /><Relationship Type="http://schemas.openxmlformats.org/officeDocument/2006/relationships/notesSlide" Target="/ppt/notesSlides/notesSlide25.xml" Id="Rf9be062366494f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57d2b85474b9a" /><Relationship Type="http://schemas.openxmlformats.org/officeDocument/2006/relationships/notesSlide" Target="/ppt/notesSlides/notesSlide26.xml" Id="Rf2ba2511a07a473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fbaad4b5c4ca4" /><Relationship Type="http://schemas.openxmlformats.org/officeDocument/2006/relationships/notesSlide" Target="/ppt/notesSlides/notesSlide27.xml" Id="R4e4b24f1cc1a4e6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f1d54273144d1" /><Relationship Type="http://schemas.openxmlformats.org/officeDocument/2006/relationships/notesSlide" Target="/ppt/notesSlides/notesSlide28.xml" Id="Rea0e27258c9d4e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66E1A-324E-4AF9-B2D5-EACCAAA6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7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9C6F7-B295-4AEE-B2ED-663C45AB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9EB5F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EB5F8"/>
                </a:solidFill>
                <a:latin typeface="Arial"/>
                <a:ea typeface="Arial"/>
                <a:cs typeface="Arial"/>
              </a:rPr>
              <a:t>GRADIENT DESCENT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B89DA-B2EE-44C2-AC74-B999D0A7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Gradient Descent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640F7-B426-428F-836F-8694A1C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00" b="1" i="0">
                <a:solidFill>
                  <a:srgbClr val="AFC0F5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AFC0F5"/>
                </a:solidFill>
                <a:latin typeface="Arial"/>
                <a:ea typeface="Arial"/>
                <a:cs typeface="Arial"/>
              </a:rPr>
              <a:t>and optimizer variants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8D059-10EE-40A6-B1D1-4ABEAEA2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 b="0" i="0">
                <a:solidFill>
                  <a:srgbClr val="D1D9E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D1D9E8"/>
                </a:solidFill>
                <a:latin typeface="Arial"/>
                <a:ea typeface="Arial"/>
                <a:cs typeface="Arial"/>
              </a:rPr>
              <a:t>How local slope becomes a parameter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64DA4-3888-4D66-AEE0-EE31C230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5EA86-FE70-423D-A45D-2870FA9C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B7CBFF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B7CBFF"/>
                </a:solidFill>
                <a:latin typeface="Arial"/>
                <a:ea typeface="Arial"/>
                <a:cs typeface="Arial"/>
              </a:rPr>
              <a:t>θₜ₊₁ = θₜ − η ∇f(θₜ)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8b7f876804d5f"/>
          <a:stretch xmlns:a="http://schemas.openxmlformats.org/drawingml/2006/main"/>
        </p:blipFill>
        <p:spPr>
          <a:xfrm xmlns:a="http://schemas.openxmlformats.org/drawingml/2006/main">
            <a:off x="8877300" y="1524000"/>
            <a:ext cx="2247900" cy="2247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9BEEC-5924-4970-9E95-9E12845F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005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 i="0">
                <a:solidFill>
                  <a:srgbClr val="9EB5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EB5F8"/>
                </a:solidFill>
                <a:latin typeface="Arial"/>
                <a:ea typeface="Arial"/>
                <a:cs typeface="Arial"/>
              </a:rPr>
              <a:t>WEB COMPANION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9CB57-DAE8-4BB5-81F4-F6B1431E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https://1zuki.github.io/gradient-descent/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CB9CE-CB6F-4F91-A399-9F203916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530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 i="0">
                <a:solidFill>
                  <a:srgbClr val="9EB5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EB5F8"/>
                </a:solidFill>
                <a:latin typeface="Arial"/>
                <a:ea typeface="Arial"/>
                <a:cs typeface="Arial"/>
              </a:rPr>
              <a:t>SOURCE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A5AE3-C31B-43AC-86D2-728278EB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57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github.com/1zuki/numpy-cnn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DFB57-4AC1-4D94-ABF1-3891280D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AAB6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6C9"/>
                </a:solidFill>
                <a:latin typeface="Arial"/>
                <a:ea typeface="Arial"/>
                <a:cs typeface="Arial"/>
              </a:rPr>
              <a:t>A visual lecture in local optimization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6CAB5-2255-4B55-BD78-E485F321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75" b="1" i="0">
                <a:solidFill>
                  <a:srgbClr val="AFC0F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FC0F5"/>
                </a:solidFill>
                <a:latin typeface="Arial"/>
                <a:ea typeface="Arial"/>
                <a:cs typeface="Arial"/>
              </a:rPr>
              <a:t>01 / 28</a:t>
            </a:r>
          </a:p>
        </p:txBody>
      </p:sp>
    </p:spTree>
    <p:extLst>
      <p:ext uri="{BB962C8B-B14F-4D97-AF65-F5344CB8AC3E}">
        <p14:creationId xmlns:p14="http://schemas.microsoft.com/office/powerpoint/2010/main" val="1499190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7DC86-82F9-4C5D-AC53-0C47330A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DB204-7D60-4B2E-80A8-0F16C003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model can be a 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F076C-17B5-45BA-85D0-C9890F13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7FA6F-8EF2-4525-A7A0-DC882F04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5B6C3-2663-4227-9D0F-585A5FA9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83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F9786-044B-4F6C-BE52-9A2CC7F7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02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0507C-3E30-4AA7-B17A-42303698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B59B4-3C81-46AD-9A86-11A02823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6210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3158C9"/>
                </a:solidFill>
                <a:latin typeface="Arial"/>
                <a:ea typeface="Arial"/>
                <a:cs typeface="Arial"/>
              </a:rPr>
              <a:t>ŷ = wx +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83FB7-D83E-4AA1-9599-25638877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E661D-C077-4BBE-8B44-9735B826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3877F"/>
                </a:solidFill>
                <a:latin typeface="Arial"/>
                <a:ea typeface="Arial"/>
                <a:cs typeface="Arial"/>
              </a:rPr>
              <a:t>L(w,b) = 1/n Σᵢ (wxᵢ + b − yᵢ)²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BB6CF-46F2-4917-9B0D-6392C50C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5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Three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9F8C2-9149-4E08-89B2-CC89F168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0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325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(x, y) = (1, 2), (2, 3), (3, 5)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EB611-4C99-497F-A272-9057CF4B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0" cy="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E8580-D978-4ABA-A3D5-4738CBA2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526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WHY MINIMIZE?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CCAE4-14A2-4456-B4A8-2B635DE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0300"/>
            <a:ext cx="3333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Different values of w and b produce different predictions. The squared error gives us one number to make smaller.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5DEC0-3723-4A14-9F9F-4EAC7548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The loss turns “fit the data” into an optimization problem.</a:t>
            </a:r>
          </a:p>
        </p:txBody>
      </p:sp>
    </p:spTree>
    <p:extLst>
      <p:ext uri="{BB962C8B-B14F-4D97-AF65-F5344CB8AC3E}">
        <p14:creationId xmlns:p14="http://schemas.microsoft.com/office/powerpoint/2010/main" val="1468765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B3FD5-0CD3-421E-A913-627598B0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EBEB7-28AD-4DA7-A598-F15AF5A9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7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Two parameters make a two-dimensional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0EE4D-9DFE-4D73-9E23-B9C2757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34675-E927-4512-B809-8D0FD856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CEA02-6DB9-4013-AF62-D22D4121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1756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5979F-3F9F-4DE6-B8EB-DB674DC2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03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88975-4753-40D3-8D9D-CCB9F795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755C4-865A-4610-B456-C38B676A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383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3158C9"/>
                </a:solidFill>
                <a:latin typeface="Arial"/>
                <a:ea typeface="Arial"/>
                <a:cs typeface="Arial"/>
              </a:rPr>
              <a:t>θ = (w, b)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C2E11-DECC-4B3C-AD6F-73E72462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5F334-D846-4EFF-9075-FD7D7B79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13877F"/>
                </a:solidFill>
                <a:latin typeface="Arial"/>
                <a:ea typeface="Arial"/>
                <a:cs typeface="Arial"/>
              </a:rPr>
              <a:t>f(θ) = L(w,b)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0A8C9-8C63-451D-8A19-60E2E5D4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80496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0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One point in parameter space is one candidate line.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0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Changing w tilts the line.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0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Changing b shifts the line vertically.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3472E-4E9D-40A8-919B-3DC427B7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72B90-8DDE-428B-89D7-0ED7E5D6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384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THE ABSTRACT PICTURE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EF68C-9FCC-45C0-BDD1-DD0A6584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86050"/>
            <a:ext cx="3333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Training searches through parameter space for a point with a lower loss.</a:t>
            </a:r>
          </a:p>
        </p:txBody>
      </p:sp>
    </p:spTree>
    <p:extLst>
      <p:ext uri="{BB962C8B-B14F-4D97-AF65-F5344CB8AC3E}">
        <p14:creationId xmlns:p14="http://schemas.microsoft.com/office/powerpoint/2010/main" val="293866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F0AA4-397E-4F4B-8120-ABDFACE6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F71E7-B30E-4656-B984-1ED99D81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8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partial derivative holds the other coordinate fixed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E9540-FC26-4F47-A2E2-DBEEC674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A53D6-2715-44DB-AE30-A7A0D4B5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2BED2-F24F-4AE8-81DD-7F553FCC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567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DD94C-10DF-4D43-850C-648C3083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04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F7065-9923-4653-9E99-73794DEF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0F769-9DED-48EC-A23E-1268A00D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6210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3158C9"/>
                </a:solidFill>
                <a:latin typeface="Arial"/>
                <a:ea typeface="Arial"/>
                <a:cs typeface="Arial"/>
              </a:rPr>
              <a:t>f(x,y) = x² + y²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24240-FF64-4089-A4AC-BC69A93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02B6F-3E2F-4313-A3BA-3817FF90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3877F"/>
                </a:solidFill>
                <a:latin typeface="Arial"/>
                <a:ea typeface="Arial"/>
                <a:cs typeface="Arial"/>
              </a:rPr>
              <a:t>hold y = 2:  f(x,2) = x² + 4</a:t>
            </a:r>
          </a:p>
          <a:p xmlns:a="http://schemas.openxmlformats.org/drawingml/2006/main">
            <a:pPr algn="l">
              <a:defRPr sz="2325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3877F"/>
                </a:solidFill>
                <a:latin typeface="Arial"/>
                <a:ea typeface="Arial"/>
                <a:cs typeface="Arial"/>
              </a:rPr>
              <a:t>∂f/∂x = 2x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B6DF7-29EF-41DA-B0B5-DEA4F28C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961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E34C6-5D97-4A7C-BBDE-D70EAD37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A9610B"/>
                </a:solidFill>
                <a:latin typeface="Arial"/>
                <a:ea typeface="Arial"/>
                <a:cs typeface="Arial"/>
              </a:rPr>
              <a:t>hold x = 1:  f(1,y) = 1 + y²</a:t>
            </a:r>
          </a:p>
          <a:p xmlns:a="http://schemas.openxmlformats.org/drawingml/2006/main">
            <a:pPr algn="l">
              <a:defRPr sz="2325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A9610B"/>
                </a:solidFill>
                <a:latin typeface="Arial"/>
                <a:ea typeface="Arial"/>
                <a:cs typeface="Arial"/>
              </a:rPr>
              <a:t>∂f/∂y = 2y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1966C-1D5E-4682-961C-C08DAEEE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FD1B6-B69C-4AFE-A908-AC25A124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BA69D-5AD1-4072-9B75-E995B31C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38450"/>
            <a:ext cx="3333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Each partial derivative asks how the loss changes when one parameter moves and the others stay fixed.</a:t>
            </a:r>
          </a:p>
        </p:txBody>
      </p:sp>
    </p:spTree>
    <p:extLst>
      <p:ext uri="{BB962C8B-B14F-4D97-AF65-F5344CB8AC3E}">
        <p14:creationId xmlns:p14="http://schemas.microsoft.com/office/powerpoint/2010/main" val="722027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900FE-A96E-4790-AB9F-57029FB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GEOMETRY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E3A5F-208D-47CB-BF7A-27FB10B8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gradient lives in parameter 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A880E-00A4-4B0D-8018-E10F7BF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3CF08-940F-4EEF-BEAC-1744A1C7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4FAA7-0B2F-4BA4-A815-3490984C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9594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9F2B8-30BE-419B-BA8A-7DAB455D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05 / 28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c4bf973a84ca7">
            <a:extLst>
              <a:ext uri="{96DAC541-7B7A-43D3-8B79-37D633B846F1}">
                <asvg:svgBlip xmlns:asvg="http://schemas.microsoft.com/office/drawing/2016/SVG/main" r:embed="Re123109a832e44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0" y="1333500"/>
            <a:ext cx="462915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85CD0-6D32-49D7-8483-27BB80EF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D75E2-7F14-4312-933E-6501BCB2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14500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3158C9"/>
                </a:solidFill>
                <a:latin typeface="Arial"/>
                <a:ea typeface="Arial"/>
                <a:cs typeface="Arial"/>
              </a:rPr>
              <a:t>at (1,2):  ∇f = (2,4)</a:t>
            </a:r>
          </a:p>
          <a:p xmlns:a="http://schemas.openxmlformats.org/drawingml/2006/main">
            <a:pPr algn="l">
              <a:defRPr sz="2325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3158C9"/>
                </a:solidFill>
                <a:latin typeface="Arial"/>
                <a:ea typeface="Arial"/>
                <a:cs typeface="Arial"/>
              </a:rPr>
              <a:t>downhill:  −∇f = (−2,−4)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9DC0A-2161-4618-BFB5-281BC2E7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88441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000"/>
              </a:spcAft>
              <a:buNone/>
              <a:defRPr sz="20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gradient points toward local increase.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000"/>
              </a:spcAft>
              <a:buNone/>
              <a:defRPr sz="20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negative gradient points toward local decrease.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000"/>
              </a:spcAft>
              <a:buNone/>
              <a:defRPr sz="20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43A"/>
                </a:solidFill>
                <a:latin typeface="Arial"/>
                <a:ea typeface="Arial"/>
                <a:cs typeface="Arial"/>
              </a:rPr>
              <a:t>It is perpendicular to the contour through the current point.</a:t>
            </a:r>
          </a:p>
        </p:txBody>
      </p:sp>
    </p:spTree>
    <p:extLst>
      <p:ext uri="{BB962C8B-B14F-4D97-AF65-F5344CB8AC3E}">
        <p14:creationId xmlns:p14="http://schemas.microsoft.com/office/powerpoint/2010/main" val="14449801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58EA4-0410-4C71-941C-BC2E11B3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3B090-4808-4249-8107-DA1D41B1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7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Why the negative gradient decreases the function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0B6E4-9121-4CFE-91EB-3883126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9B6A8-1860-40F8-BA94-869B3016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F0097-2C1D-49EE-94CC-31F51B52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3513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9C68E-422D-46A0-8A8F-CB1E6F2E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06 / 28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dd3fa867d4bda">
            <a:extLst>
              <a:ext uri="{96DAC541-7B7A-43D3-8B79-37D633B846F1}">
                <asvg:svgBlip xmlns:asvg="http://schemas.microsoft.com/office/drawing/2016/SVG/main" r:embed="R4e43bc0e15dd40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0" y="142875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12BB5-99DA-49E4-A7AA-9D225278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EC8A0-DCF6-4B5C-B1C6-DB4A96FD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62100"/>
            <a:ext cx="5619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3158C9"/>
                </a:solidFill>
                <a:latin typeface="Arial"/>
                <a:ea typeface="Arial"/>
                <a:cs typeface="Arial"/>
              </a:rPr>
              <a:t>||u|| = 1</a:t>
            </a:r>
          </a:p>
          <a:p xmlns:a="http://schemas.openxmlformats.org/drawingml/2006/main">
            <a:pPr algn="l">
              <a:defRPr sz="2325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3158C9"/>
                </a:solidFill>
                <a:latin typeface="Arial"/>
                <a:ea typeface="Arial"/>
                <a:cs typeface="Arial"/>
              </a:rPr>
              <a:t>Dᵤf = ∇f · u = ||∇f|| cos 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2B3F7-B6DF-4DD5-9919-2925FB9F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53D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ECC56-58A6-4666-A7ED-3A2BDB73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14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B53D4A"/>
                </a:solidFill>
                <a:latin typeface="Arial"/>
                <a:ea typeface="Arial"/>
                <a:cs typeface="Arial"/>
              </a:rPr>
              <a:t>largest increase: φ = 0</a:t>
            </a:r>
          </a:p>
          <a:p xmlns:a="http://schemas.openxmlformats.org/drawingml/2006/main">
            <a:pPr algn="l">
              <a:defRPr sz="2250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B53D4A"/>
                </a:solidFill>
                <a:latin typeface="Arial"/>
                <a:ea typeface="Arial"/>
                <a:cs typeface="Arial"/>
              </a:rPr>
              <a:t>largest decrease: φ = 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CF52A-C6A9-4EFE-8335-556DDC22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F3FF4-320B-4C95-B89C-757DBB30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581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f(θ + δ) ≈ f(θ) + ∇f(θ)ᵀδ</a:t>
            </a:r>
          </a:p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δ = −η∇f(θ)  ⇒  local decrease</a:t>
            </a:r>
          </a:p>
        </p:txBody>
      </p:sp>
    </p:spTree>
    <p:extLst>
      <p:ext uri="{BB962C8B-B14F-4D97-AF65-F5344CB8AC3E}">
        <p14:creationId xmlns:p14="http://schemas.microsoft.com/office/powerpoint/2010/main" val="1240261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55519-8F41-410B-93AD-77A5A35B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DD680-A619-46BE-8556-5D945EBA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Gradient descent repeats one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D4053-6E26-43F9-87CD-47D18E66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4DAFE-F282-42D1-8E5E-888E3B8E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16B99-6990-4266-97DE-6AEF1844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A9410-CD6F-4CBB-BDA1-07C5B1AD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07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9337E-0BE4-4B14-9D68-78864748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466CA-6F69-43D4-BCFF-EC377FF4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3158C9"/>
                </a:solidFill>
                <a:latin typeface="Arial"/>
                <a:ea typeface="Arial"/>
                <a:cs typeface="Arial"/>
              </a:rPr>
              <a:t>θₜ₊₁ = θₜ − η∇f(θₜ)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CDE6C-C829-4F09-AAC7-E8C4D76E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32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gradient supplies a direction. The step length is η||∇f(θₜ)||.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F6158-A694-4FC1-81FB-89C3076C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9B48B-F650-45AE-AF22-E8DE0593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ANIMATED TRAJECTORY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2F24B-5417-4BE5-BB25-B650EB26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orange arrow points uphill. The blue step follows its negative.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bf5f75d614437"/>
          <a:stretch xmlns:a="http://schemas.openxmlformats.org/drawingml/2006/main"/>
        </p:blipFill>
        <p:spPr>
          <a:xfrm xmlns:a="http://schemas.openxmlformats.org/drawingml/2006/main">
            <a:off x="6667500" y="2074664"/>
            <a:ext cx="4476750" cy="25181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616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C36BB-5C1D-463D-9B6C-DFE4EE8B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09B74-9AC1-432F-9344-82DE19E6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One numerical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D7354-B9EB-4D5C-8D52-AAD2E46B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48A36-350C-4DD7-8430-FE403517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2F597-4D8B-4345-B337-77D41C14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1350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00CF5-B8AE-4E5D-99FF-F4206343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08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D48A5-285C-4AA5-9312-5DECBEE2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5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5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Start at θ₀ = (1, 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69078-5186-4264-BF89-A598FF2F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0D2CF-DDB0-4597-8F69-F4F6C3D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3158C9"/>
                </a:solidFill>
                <a:latin typeface="Arial"/>
                <a:ea typeface="Arial"/>
                <a:cs typeface="Arial"/>
              </a:rPr>
              <a:t>∇f(1, 2) = (2, 4)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92606-ACCB-474C-8392-617D19C7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961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E6573-F774-4948-BAEA-2C5CE7D9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A9610B"/>
                </a:solidFill>
                <a:latin typeface="Arial"/>
                <a:ea typeface="Arial"/>
                <a:cs typeface="Arial"/>
              </a:rPr>
              <a:t>η = 0.1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4A7C3-47DD-4D0A-B2C3-B7720A6C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C2B56-5F83-46B5-BBAF-B1CBC342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523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3877F"/>
                </a:solidFill>
                <a:latin typeface="Arial"/>
                <a:ea typeface="Arial"/>
                <a:cs typeface="Arial"/>
              </a:rPr>
              <a:t>θ₁ = (1, 2) − 0.1(2, 4)</a:t>
            </a:r>
          </a:p>
          <a:p xmlns:a="http://schemas.openxmlformats.org/drawingml/2006/main">
            <a:pPr algn="l">
              <a:defRPr sz="240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3877F"/>
                </a:solidFill>
                <a:latin typeface="Arial"/>
                <a:ea typeface="Arial"/>
                <a:cs typeface="Arial"/>
              </a:rPr>
              <a:t>   = (0.8, 1.6)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6FCA1-CD85-4772-AE10-A882D85F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474B8-747F-47A5-A8FD-5E0548A9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765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6E940-9D8A-4E31-A398-99FC2B9D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f(1, 2) = 5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f(0.8, 1.6) = 3.2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67B3E-FA57-4511-ABBA-7E2EE59E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6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4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The update moved downhill.</a:t>
            </a:r>
          </a:p>
        </p:txBody>
      </p:sp>
    </p:spTree>
    <p:extLst>
      <p:ext uri="{BB962C8B-B14F-4D97-AF65-F5344CB8AC3E}">
        <p14:creationId xmlns:p14="http://schemas.microsoft.com/office/powerpoint/2010/main" val="3342692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01BEC-6795-407D-9AF2-B1B2832F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1D34D-3B2A-43CF-BE2E-E5665CEC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learning rate controls stability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AE907-CA80-401A-B4FF-80B315B3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1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3A3FD-0ECA-43E0-8C95-4D51BD89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0BFEC-3532-4799-A1BD-7389C70A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5269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61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FFD72-D2D5-462B-B1FF-5BF7BECD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09 / 28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b0d8437864688">
            <a:extLst>
              <a:ext uri="{96DAC541-7B7A-43D3-8B79-37D633B846F1}">
                <asvg:svgBlip xmlns:asvg="http://schemas.microsoft.com/office/drawing/2016/SVG/main" r:embed="R5edf9444225548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91250" y="1390650"/>
            <a:ext cx="4953000" cy="4572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9B55B-7190-4A16-AB03-0C4FBB9C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74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5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Same gradient information. Different step sizes.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95E74-CDEE-4512-8352-0CE01890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7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43A"/>
                </a:solidFill>
                <a:latin typeface="Arial"/>
                <a:ea typeface="Arial"/>
                <a:cs typeface="Arial"/>
              </a:rPr>
              <a:t>Small η: stable but slow.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7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43A"/>
                </a:solidFill>
                <a:latin typeface="Arial"/>
                <a:ea typeface="Arial"/>
                <a:cs typeface="Arial"/>
              </a:rPr>
              <a:t>Moderate η: steady progress.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7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43A"/>
                </a:solidFill>
                <a:latin typeface="Arial"/>
                <a:ea typeface="Arial"/>
                <a:cs typeface="Arial"/>
              </a:rPr>
              <a:t>Large η: overshoot or divergence.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24C16-319F-4E43-A289-B04079C9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61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EB2C0-0888-4DDE-A144-236F51F8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FBBC7-79E6-45E4-A54B-41F7164E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correct gradient can still produce a bad update when the step is too large.</a:t>
            </a:r>
          </a:p>
        </p:txBody>
      </p:sp>
    </p:spTree>
    <p:extLst>
      <p:ext uri="{BB962C8B-B14F-4D97-AF65-F5344CB8AC3E}">
        <p14:creationId xmlns:p14="http://schemas.microsoft.com/office/powerpoint/2010/main" val="13607229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5BF61-673C-4827-B2EE-4EF8663D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4BA6F-A9F9-41C3-AE03-2EFE0D15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Curvature predicts the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20386-E324-4AA6-9E33-07038245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1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E8EB7-851B-45A6-B5DA-E705647A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4B2D4-BE45-496F-B983-B25048AE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9188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61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EBC9B-69B1-4B73-B0D3-8B89C867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10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728FA-34AD-4E60-9E06-A7434420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32EB0-B9E0-451C-87E4-D2CEC2E3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6210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3158C9"/>
                </a:solidFill>
                <a:latin typeface="Arial"/>
                <a:ea typeface="Arial"/>
                <a:cs typeface="Arial"/>
              </a:rPr>
              <a:t>f(x, y) = x² + 25y²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EB1DE-C32C-4AF9-91EF-0526B38E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07525-1C32-4436-A848-AA523A56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66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start: (2,1)</a:t>
            </a:r>
          </a:p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∇f = (4,50),   η = 0.03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DA9F9-EA43-4A1F-9EAF-564C2B74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A3CFA-ED16-4F15-8C14-6F6347A2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7243A"/>
                </a:solidFill>
                <a:latin typeface="Arial"/>
                <a:ea typeface="Arial"/>
                <a:cs typeface="Arial"/>
              </a:rPr>
              <a:t>θ₁ = (2,1) − 0.03(4,50)</a:t>
            </a:r>
          </a:p>
          <a:p xmlns:a="http://schemas.openxmlformats.org/drawingml/2006/main">
            <a:pPr algn="l">
              <a:defRPr sz="225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7243A"/>
                </a:solidFill>
                <a:latin typeface="Arial"/>
                <a:ea typeface="Arial"/>
                <a:cs typeface="Arial"/>
              </a:rPr>
              <a:t>   = (1.88, −0.5)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FBF5D-B669-42E1-A040-EB67F8AD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05050"/>
            <a:ext cx="0" cy="205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3D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26EA0-C3A8-47CE-9BF1-801A3EAF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431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3D4A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46F63-7F41-413B-A6DD-55CB829F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90800"/>
            <a:ext cx="3810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|1 − 50η| &lt; 1  ⇒  0 &lt; η &lt; 0.04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x-coordinate also imposes |1 − 2η| &lt; 1. The intersection is controlled by the sharper curvature.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D2AD9-FB8E-4A72-A991-9866605D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95850"/>
            <a:ext cx="0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61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3BB08-CCBF-44E2-9707-ED42F4C3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33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ONE MINIMUM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5A169-A495-4802-8AFA-861DAD50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8160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This surface is convex. Zigzags come from unequal curvature, not local-minimum traps.</a:t>
            </a:r>
          </a:p>
        </p:txBody>
      </p:sp>
    </p:spTree>
    <p:extLst>
      <p:ext uri="{BB962C8B-B14F-4D97-AF65-F5344CB8AC3E}">
        <p14:creationId xmlns:p14="http://schemas.microsoft.com/office/powerpoint/2010/main" val="11804377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73AC2-9975-47CF-B171-5CF6DC71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BA916-85D1-4088-B9A0-BE5A47C5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7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Nonconvex landscapes have multiple basins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E5269-F9FB-4F0E-B1BC-462F85BF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1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4DF57-68F7-4EBB-87B9-C14F02DB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6B9A3-E229-48F4-82D3-ECDA2C01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3107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61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27684-4142-4D26-8175-644B32D3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11 / 28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97589737a42b5">
            <a:extLst>
              <a:ext uri="{96DAC541-7B7A-43D3-8B79-37D633B846F1}">
                <asvg:svgBlip xmlns:asvg="http://schemas.microsoft.com/office/drawing/2016/SVG/main" r:embed="R276e462ceede4d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91300" y="1352550"/>
            <a:ext cx="447675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4FDDB-04BF-467E-AAC0-681A3E6E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EB1C7-BD8D-48D5-A98E-910D8CF2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3158C9"/>
                </a:solidFill>
                <a:latin typeface="Arial"/>
                <a:ea typeface="Arial"/>
                <a:cs typeface="Arial"/>
              </a:rPr>
              <a:t>f(x, y) = (x² − 1)² + 0.2x + y²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94A19-9D3B-4C6C-88EC-1D1F2FD3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89354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0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43A"/>
                </a:solidFill>
                <a:latin typeface="Arial"/>
                <a:ea typeface="Arial"/>
                <a:cs typeface="Arial"/>
              </a:rPr>
              <a:t>Different starting points can enter different basins.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0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43A"/>
                </a:solidFill>
                <a:latin typeface="Arial"/>
                <a:ea typeface="Arial"/>
                <a:cs typeface="Arial"/>
              </a:rPr>
              <a:t>A local minimum can have a higher value than another minimum.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0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gradient describes local change, not the full global landscape.</a:t>
            </a:r>
          </a:p>
        </p:txBody>
      </p:sp>
    </p:spTree>
    <p:extLst>
      <p:ext uri="{BB962C8B-B14F-4D97-AF65-F5344CB8AC3E}">
        <p14:creationId xmlns:p14="http://schemas.microsoft.com/office/powerpoint/2010/main" val="11946884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78629-6E05-4D4A-A646-C83CD587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AF619-DC74-4120-A815-7357945A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7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zero gradient does not guarantee a minimum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B4B39-CF3D-47B3-8F44-0CA99E3E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1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52CD3-22F5-48C2-B790-50AF1DC0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B50CE-A32B-4113-8CEE-E93F9E5E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026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61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CDEBC-75F2-4D11-8D94-2A3643C5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12 / 28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982a91c49473b">
            <a:extLst>
              <a:ext uri="{96DAC541-7B7A-43D3-8B79-37D633B846F1}">
                <asvg:svgBlip xmlns:asvg="http://schemas.microsoft.com/office/drawing/2016/SVG/main" r:embed="Rd2265c8ec5574d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91300" y="1352550"/>
            <a:ext cx="447675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98392-C46C-4096-B7DC-720EA9C8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53D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AC4D2-4187-4804-B588-DAA328CA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335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B53D4A"/>
                </a:solidFill>
                <a:latin typeface="Arial"/>
                <a:ea typeface="Arial"/>
                <a:cs typeface="Arial"/>
              </a:rPr>
              <a:t>f(x, y) = x² − y²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A4855-7F36-46FD-A9A5-7927507E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C99DF-6B60-4493-B79B-E403FD4D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3158C9"/>
                </a:solidFill>
                <a:latin typeface="Arial"/>
                <a:ea typeface="Arial"/>
                <a:cs typeface="Arial"/>
              </a:rPr>
              <a:t>f(x,0)=x²  increases</a:t>
            </a:r>
          </a:p>
          <a:p xmlns:a="http://schemas.openxmlformats.org/drawingml/2006/main">
            <a:pPr algn="l">
              <a:defRPr sz="2325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3158C9"/>
                </a:solidFill>
                <a:latin typeface="Arial"/>
                <a:ea typeface="Arial"/>
                <a:cs typeface="Arial"/>
              </a:rPr>
              <a:t>f(0,y)=−y²  decreases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B1BA1-D7EF-47B3-895B-FCBBEDB3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3D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779A1-3D46-461B-95DB-2E03804D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3D4A"/>
                </a:solidFill>
                <a:latin typeface="Arial"/>
                <a:ea typeface="Arial"/>
                <a:cs typeface="Arial"/>
              </a:rPr>
              <a:t>AT (0, 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7E549-3445-4FAC-84EE-442ADC7F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∇f = 0, but nearby points have both larger and smaller values. That is a saddle point.</a:t>
            </a:r>
          </a:p>
        </p:txBody>
      </p:sp>
    </p:spTree>
    <p:extLst>
      <p:ext uri="{BB962C8B-B14F-4D97-AF65-F5344CB8AC3E}">
        <p14:creationId xmlns:p14="http://schemas.microsoft.com/office/powerpoint/2010/main" val="11846944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B99CF-6BD8-4505-BBB8-4DD490F9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EFBDD-97EE-4F8D-9CB8-F428EDB9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gradient can be estimated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16032-B4B7-46F1-B12D-4D3E6072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387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B5CC7-6F7B-4714-AF4F-B0E1613C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BD982-4631-4924-856A-D847491B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0945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A7DF0-5597-4BAD-B2B1-7C161B17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13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77DC9-58AC-4A2A-B16C-0A51BFE6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306B9-CE0A-49AE-9BE5-B857BACE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81150"/>
            <a:ext cx="5524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3158C9"/>
                </a:solidFill>
                <a:latin typeface="Arial"/>
                <a:ea typeface="Arial"/>
                <a:cs typeface="Arial"/>
              </a:rPr>
              <a:t>gₜ = gradient estimate at step t</a:t>
            </a:r>
          </a:p>
          <a:p xmlns:a="http://schemas.openxmlformats.org/drawingml/2006/main">
            <a:pPr algn="l">
              <a:defRPr sz="22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3158C9"/>
                </a:solidFill>
                <a:latin typeface="Arial"/>
                <a:ea typeface="Arial"/>
                <a:cs typeface="Arial"/>
              </a:rPr>
              <a:t>ĝₜ ≈ ∇L(θₜ)  for a mini-batch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0F5A3-F27D-4E2C-BDE4-4184A7AE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6D26E-BA94-49E0-9241-11FCB7A7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581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vₜ = state / accumulated direction</a:t>
            </a:r>
          </a:p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β = memory coefficient,   ε = small stabilizer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D7FF9-B460-469D-9C4B-4FA4CC3B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0" cy="1504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61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6A02C-20A1-4E85-B4E6-72D9CF33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098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FULL BATCH VS MINI-BATCH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E9BC0-D5E0-41A0-9B90-C2084F29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9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full batch uses every example. A mini-batch uses an estimate that is cheaper and noisier.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D9CD7-6FAC-42CD-B1D3-785A51E7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g², √v, and g/(√v+ε) operate coordinate by coordinate.</a:t>
            </a:r>
          </a:p>
        </p:txBody>
      </p:sp>
    </p:spTree>
    <p:extLst>
      <p:ext uri="{BB962C8B-B14F-4D97-AF65-F5344CB8AC3E}">
        <p14:creationId xmlns:p14="http://schemas.microsoft.com/office/powerpoint/2010/main" val="17436802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9AE8F-2EAB-4AA0-B520-BDA52BD4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6CC96-AC68-4BBA-9162-6D44F2D6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7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Momentum accumulates consistent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426F3-079D-4676-8705-FA454C62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387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F1FCF-FACF-4FBD-B0C1-BD6F976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E2939-B143-413E-8D9E-5F644686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FC74D-0DC3-4E4B-B3FC-B8DAF094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14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93211-06CA-4B78-933F-A4C1827A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EC58E-9E2A-4380-AC97-1459A55F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81150"/>
            <a:ext cx="466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3158C9"/>
                </a:solidFill>
                <a:latin typeface="Arial"/>
                <a:ea typeface="Arial"/>
                <a:cs typeface="Arial"/>
              </a:rPr>
              <a:t>vₜ = βvₜ₋₁ + gₜ</a:t>
            </a:r>
          </a:p>
          <a:p xmlns:a="http://schemas.openxmlformats.org/drawingml/2006/main">
            <a:pPr algn="l">
              <a:defRPr sz="2325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3158C9"/>
                </a:solidFill>
                <a:latin typeface="Arial"/>
                <a:ea typeface="Arial"/>
                <a:cs typeface="Arial"/>
              </a:rPr>
              <a:t>θₜ₊₁ = θₜ − ηvₜ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50224-A0DF-447E-B293-6F31C7A5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160A2-DD49-4ADB-A854-80249CCE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v₁ = (2,4)</a:t>
            </a:r>
          </a:p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θ₁ = θ₀ − 0.1(2,4)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35278-D865-4724-95A6-0A39972C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961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BEEB2-93DF-4D8E-BEB2-B8AA40AB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523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A9610B"/>
                </a:solidFill>
                <a:latin typeface="Arial"/>
                <a:ea typeface="Arial"/>
                <a:cs typeface="Arial"/>
              </a:rPr>
              <a:t>v₂ = 0.5(2,4) + (2,−4)</a:t>
            </a:r>
          </a:p>
          <a:p xmlns:a="http://schemas.openxmlformats.org/drawingml/2006/main">
            <a:pPr algn="l">
              <a:defRPr sz="225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A9610B"/>
                </a:solidFill>
                <a:latin typeface="Arial"/>
                <a:ea typeface="Arial"/>
                <a:cs typeface="Arial"/>
              </a:rPr>
              <a:t>   = (3,−2)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d98e43d44431d"/>
          <a:stretch xmlns:a="http://schemas.openxmlformats.org/drawingml/2006/main"/>
        </p:blipFill>
        <p:spPr>
          <a:xfrm xmlns:a="http://schemas.openxmlformats.org/drawingml/2006/main">
            <a:off x="6572250" y="2047875"/>
            <a:ext cx="4572000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455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7B760-1854-4D7D-9E9C-F70D9582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A58D4-8FA0-4F97-9D69-8BB7B99A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7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Nesterov evaluates a look-ahead gradient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C5562-1128-4029-AC32-EFE3AB6A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387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E75AE-ECA0-4120-B6BA-AA7CA368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628A1-3F9A-46BC-BAE0-01A41D9B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8782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37EA7-BA8F-448A-A81A-683299AC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15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72D3C-E946-4C10-9FE0-AB45983C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669FC-AE9A-41AA-9E65-12ECB6A7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2400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look-ahead: θ̃ₜ = θₜ − ηβvₜ₋₁</a:t>
            </a:r>
          </a:p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gₜ = ∇f(θ̃ₜ)</a:t>
            </a:r>
          </a:p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vₜ = βvₜ₋₁ + gₜ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DEAAE-C49D-49D3-AC95-A8908AD3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4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63B34-2DA5-4EBE-B619-8FC65C1C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7243A"/>
                </a:solidFill>
                <a:latin typeface="Arial"/>
                <a:ea typeface="Arial"/>
                <a:cs typeface="Arial"/>
              </a:rPr>
              <a:t>θₜ₊₁ = θₜ − ηvₜ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7315E-8B7A-45E8-AC8D-E705CD7E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2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7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gradient is evaluated near the position momentum is about to reach.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2EE11-3882-4D14-9233-80F312F4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A0AF7-D8BE-4C9C-887C-37FB41EE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9590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LOOK AHEAD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8EB3F-CE21-4636-A546-FAD4F334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696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Preview first, measure the slope there, then update the actual parameters.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943f1d370489e"/>
          <a:stretch xmlns:a="http://schemas.openxmlformats.org/drawingml/2006/main"/>
        </p:blipFill>
        <p:spPr>
          <a:xfrm xmlns:a="http://schemas.openxmlformats.org/drawingml/2006/main">
            <a:off x="6667500" y="2074664"/>
            <a:ext cx="4476750" cy="25181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133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871D9-4C11-44B1-9E75-6B81CF01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DC6D4-98AE-4503-B08D-2235943D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7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AdaGrad scales coordinates by their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535C5-C628-4A4B-AB89-A2F6ECEA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387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1BA75-A1EB-4D5F-A8F3-17DD0C6E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84944-300D-4645-954A-A50EE802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2701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6D684-5CA0-4B23-A843-E2AE1031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16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7172E-1D1F-4EF5-B343-72BBF73F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F9F9F-C516-4704-B88A-C2FA9F56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5715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3158C9"/>
                </a:solidFill>
                <a:latin typeface="Arial"/>
                <a:ea typeface="Arial"/>
                <a:cs typeface="Arial"/>
              </a:rPr>
              <a:t>Gₜ = Gₜ₋₁ + gₜ²</a:t>
            </a:r>
          </a:p>
          <a:p xmlns:a="http://schemas.openxmlformats.org/drawingml/2006/main">
            <a:pPr algn="l">
              <a:defRPr sz="25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3158C9"/>
                </a:solidFill>
                <a:latin typeface="Arial"/>
                <a:ea typeface="Arial"/>
                <a:cs typeface="Arial"/>
              </a:rPr>
              <a:t>θₜ₊₁ = θₜ − η gₜ/(√Gₜ + ε)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BAEF2-2129-458C-9571-A92A9B9F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32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Coordinates with large accumulated gradients receive smaller effective steps.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C3787-1497-4642-ADBC-5B4231A3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AD48B-0F95-430C-8CAB-AA9813DF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561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TRADEOFF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6DFF5-5962-48F0-934F-1F13F77A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accumulator only grows, so the effective step can shrink indefinitely.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3355ec9754319"/>
          <a:stretch xmlns:a="http://schemas.openxmlformats.org/drawingml/2006/main"/>
        </p:blipFill>
        <p:spPr>
          <a:xfrm xmlns:a="http://schemas.openxmlformats.org/drawingml/2006/main">
            <a:off x="7124700" y="2065734"/>
            <a:ext cx="4000500" cy="22502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232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A1FEA-5B04-4AA1-8016-427896FE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BED83-C9BB-4A66-BBFD-AC915385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RMSProp keeps recent gradient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3112E-4921-4AE5-9780-E7E72D73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387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9A488-792A-4475-903A-517A787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632F3-6359-44DD-B4FF-6B66731A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20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A73B7-0E1A-4E3C-9581-55D1CF56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17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7554B-9A8B-4992-B634-26FEF96C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32CFA-A88C-4F97-A437-9FE60114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6000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13877F"/>
                </a:solidFill>
                <a:latin typeface="Arial"/>
                <a:ea typeface="Arial"/>
                <a:cs typeface="Arial"/>
              </a:rPr>
              <a:t>sₜ = ρsₜ₋₁ + (1−ρ)gₜ²</a:t>
            </a:r>
          </a:p>
          <a:p xmlns:a="http://schemas.openxmlformats.org/drawingml/2006/main">
            <a:pPr algn="l">
              <a:defRPr sz="25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13877F"/>
                </a:solidFill>
                <a:latin typeface="Arial"/>
                <a:ea typeface="Arial"/>
                <a:cs typeface="Arial"/>
              </a:rPr>
              <a:t>θₜ₊₁ = θₜ − η gₜ/(√sₜ + ε)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B0EB3-B838-4DCC-BC24-8A0F2830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32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An exponential moving average emphasizes recent gradient magnitudes.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40A23-D2B8-4BF1-9FBB-847BAD36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55A75-A6C3-4265-9443-D405E646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561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CONTRAST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A6CDF-72B4-4EDF-BA1C-9396099C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RMSProp replaces AdaGrad's cumulative sum with a moving average.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8f15c63bc4b61"/>
          <a:stretch xmlns:a="http://schemas.openxmlformats.org/drawingml/2006/main"/>
        </p:blipFill>
        <p:spPr>
          <a:xfrm xmlns:a="http://schemas.openxmlformats.org/drawingml/2006/main">
            <a:off x="7124700" y="2065734"/>
            <a:ext cx="4000500" cy="22502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151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58A94-E0BF-454D-91E8-943AFC38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48DE6-EB26-4FCF-B50A-E17F3912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Adam combines memory with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BEE7D-B01D-4A4A-BD43-7031AD77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387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A1EAF-188C-4B39-AEEE-84D7074C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C844C-06B8-4463-BB42-71EBAFA0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0539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69449-7385-4109-9A60-7BA5FA71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18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AAC9B-0C0E-4750-99F1-9E68161F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F0730-F187-44AE-AD34-5EE82C4B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24000"/>
            <a:ext cx="571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3158C9"/>
                </a:solidFill>
                <a:latin typeface="Arial"/>
                <a:ea typeface="Arial"/>
                <a:cs typeface="Arial"/>
              </a:rPr>
              <a:t>mₜ = β₁mₜ₋₁ + (1−β₁)gₜ</a:t>
            </a:r>
          </a:p>
          <a:p xmlns:a="http://schemas.openxmlformats.org/drawingml/2006/main">
            <a:pPr algn="l">
              <a:defRPr sz="22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3158C9"/>
                </a:solidFill>
                <a:latin typeface="Arial"/>
                <a:ea typeface="Arial"/>
                <a:cs typeface="Arial"/>
              </a:rPr>
              <a:t>vₜ = β₂vₜ₋₁ + (1−β₂)gₜ²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ACF43-C88B-43A5-A35B-08AD45D4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1E6CC-D67A-439D-BA2C-9676F48C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m̂ₜ = mₜ/(1−β₁ᵗ)</a:t>
            </a:r>
          </a:p>
          <a:p xmlns:a="http://schemas.openxmlformats.org/drawingml/2006/main">
            <a:pPr algn="l"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3877F"/>
                </a:solidFill>
                <a:latin typeface="Arial"/>
                <a:ea typeface="Arial"/>
                <a:cs typeface="Arial"/>
              </a:rPr>
              <a:t>v̂ₜ = vₜ/(1−β₂ᵗ)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43B1B-5091-4E63-9061-169C52BB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961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C443C-CBCA-4325-A514-B76ACA19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A9610B"/>
                </a:solidFill>
                <a:latin typeface="Arial"/>
                <a:ea typeface="Arial"/>
                <a:cs typeface="Arial"/>
              </a:rPr>
              <a:t>at t=1:  m₁=(1−β₁)g₁</a:t>
            </a:r>
          </a:p>
          <a:p xmlns:a="http://schemas.openxmlformats.org/drawingml/2006/main">
            <a:pPr algn="l">
              <a:defRPr sz="225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A9610B"/>
                </a:solidFill>
                <a:latin typeface="Arial"/>
                <a:ea typeface="Arial"/>
                <a:cs typeface="Arial"/>
              </a:rPr>
              <a:t>          m̂₁=g₁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b82262340495c"/>
          <a:stretch xmlns:a="http://schemas.openxmlformats.org/drawingml/2006/main"/>
        </p:blipFill>
        <p:spPr>
          <a:xfrm xmlns:a="http://schemas.openxmlformats.org/drawingml/2006/main">
            <a:off x="7124700" y="2122884"/>
            <a:ext cx="4000500" cy="22502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456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8D650-336A-4A1E-B9F7-50F1414F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6CC83-9645-476E-BAC4-5E8F6172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AdamW decouples weight decay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0DB6D-D5C8-47FA-AFB4-4792B82B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387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2D62D-C56A-49E9-A1DE-9ACEBF14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6381A-F66D-43D1-9C69-64383E32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4458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4968D-D7D0-4ABB-86F6-6A58080B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19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2F0D8-F2B2-4EE5-B0EA-F47297F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C2DB8-1741-4E0F-88B3-DE97D877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1450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3158C9"/>
                </a:solidFill>
                <a:latin typeface="Arial"/>
                <a:ea typeface="Arial"/>
                <a:cs typeface="Arial"/>
              </a:rPr>
              <a:t>uₜ = Adam update 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6D7BE-4F36-4539-9B5B-BC89D9BC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957D7-EA41-4D70-961F-B029B707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13877F"/>
                </a:solidFill>
                <a:latin typeface="Arial"/>
                <a:ea typeface="Arial"/>
                <a:cs typeface="Arial"/>
              </a:rPr>
              <a:t>θₜ₊₁ = (1−ηλ)θₜ − ηuₜ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AA10F-7FBC-45E3-B8DE-7748D2DB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000"/>
              </a:spcAft>
              <a:buNone/>
              <a:defRPr sz="20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decay term shrinks θₜ directly.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000"/>
              </a:spcAft>
              <a:buNone/>
              <a:defRPr sz="20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adaptive direction uₜ remains separate.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000"/>
              </a:spcAft>
              <a:buNone/>
              <a:defRPr sz="20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43A"/>
                </a:solidFill>
                <a:latin typeface="Arial"/>
                <a:ea typeface="Arial"/>
                <a:cs typeface="Arial"/>
              </a:rPr>
              <a:t>λ controls the strength of the shrinkage.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4fabbc9c24014"/>
          <a:stretch xmlns:a="http://schemas.openxmlformats.org/drawingml/2006/main"/>
        </p:blipFill>
        <p:spPr>
          <a:xfrm xmlns:a="http://schemas.openxmlformats.org/drawingml/2006/main">
            <a:off x="7239000" y="2176463"/>
            <a:ext cx="3810000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617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3DF4C-65F5-421A-9B85-7C67B847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D15C1-2455-45F1-B3B3-C97A90CD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8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Optimizer choices change different parts of the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A69F7-C215-486B-A328-5E115781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387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44056-A5C6-4015-B2FE-1C72B5CA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B4EB6-FDB4-42B8-990F-2539AB81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8377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7ED4E-EB61-43D2-9709-D55DB7C5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20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424A-3E75-4DB5-A77A-8164212E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24765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DF2FF"/>
          </a:solidFill>
          <a:ln xmlns:a="http://schemas.openxmlformats.org/drawingml/2006/main" w="14288">
            <a:solidFill>
              <a:srgbClr val="3158C9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000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GRADIENT SOURCE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full batch</a:t>
            </a:r>
          </a:p>
          <a:p xmlns:a="http://schemas.openxmlformats.org/drawingml/2006/main">
            <a:pPr algn="ctr">
              <a:defRPr sz="1875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mini-batch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1C0CE-3707-4C6C-9F36-965456A2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272415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9F6F3"/>
          </a:solidFill>
          <a:ln xmlns:a="http://schemas.openxmlformats.org/drawingml/2006/main" w="14288">
            <a:solidFill>
              <a:srgbClr val="13877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STATEFUL UPDATE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SGD</a:t>
            </a:r>
          </a:p>
          <a:p xmlns:a="http://schemas.openxmlformats.org/drawingml/2006/main">
            <a:pPr algn="ctr"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Momentum</a:t>
            </a:r>
          </a:p>
          <a:p xmlns:a="http://schemas.openxmlformats.org/drawingml/2006/main">
            <a:pPr algn="ctr"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Nesterov</a:t>
            </a:r>
          </a:p>
          <a:p xmlns:a="http://schemas.openxmlformats.org/drawingml/2006/main">
            <a:pPr algn="ctr"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AdaGrad / RMSProp</a:t>
            </a:r>
          </a:p>
          <a:p xmlns:a="http://schemas.openxmlformats.org/drawingml/2006/main">
            <a:pPr algn="ctr"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Adam / AdamW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8F2AC-5CC7-4093-A361-262E3463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28575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4E2"/>
          </a:solidFill>
          <a:ln xmlns:a="http://schemas.openxmlformats.org/drawingml/2006/main" w="14288">
            <a:solidFill>
              <a:srgbClr val="A9610B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331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REGULARIZATION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weight decay</a:t>
            </a:r>
          </a:p>
          <a:p xmlns:a="http://schemas.openxmlformats.org/drawingml/2006/main">
            <a:pPr algn="ctr">
              <a:defRPr sz="1875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(dropout is model-side)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DADA9-BD52-4729-8E37-5509C30A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27241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14288">
            <a:solidFill>
              <a:srgbClr val="B53D4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48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3D4A"/>
                </a:solidFill>
                <a:latin typeface="Arial"/>
                <a:ea typeface="Arial"/>
                <a:cs typeface="Arial"/>
              </a:rPr>
              <a:t>ALTERNATIVE METHODS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3D4A"/>
                </a:solidFill>
                <a:latin typeface="Arial"/>
                <a:ea typeface="Arial"/>
                <a:cs typeface="Arial"/>
              </a:rPr>
              <a:t>SAM · L-BFGS · Lion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9EC59-8722-403D-9AD4-62FC145E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24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0" i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B80"/>
                </a:solidFill>
                <a:latin typeface="Arial"/>
                <a:ea typeface="Arial"/>
                <a:cs typeface="Arial"/>
              </a:rPr>
              <a:t>These choices can be combined, but they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3412277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9A92B-89D8-4F65-AF94-2C27440E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D21BB-2B9D-4A74-A83C-01457AF5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8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Compare mechanisms before comparing every optimizer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3C1EE-D36F-45A5-BA44-F28172C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387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3C477-A44E-486D-BDE0-FA20D40C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D6BF9-E888-40AD-965C-22BC6C65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E13E4-5A92-4E06-8967-9E4BBAE7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21 / 28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c56006a8b4c3b">
            <a:extLst>
              <a:ext uri="{96DAC541-7B7A-43D3-8B79-37D633B846F1}">
                <asvg:svgBlip xmlns:asvg="http://schemas.microsoft.com/office/drawing/2016/SVG/main" r:embed="R87512476f77d43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390650"/>
            <a:ext cx="752475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E012B-985B-4939-9A33-D1495784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79910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100"/>
              </a:spcAft>
              <a:buNone/>
              <a:defRPr sz="17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43A"/>
                </a:solidFill>
                <a:latin typeface="Arial"/>
                <a:ea typeface="Arial"/>
                <a:cs typeface="Arial"/>
              </a:rPr>
              <a:t>Same objective and starting point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100"/>
              </a:spcAft>
              <a:buNone/>
              <a:defRPr sz="17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43A"/>
                </a:solidFill>
                <a:latin typeface="Arial"/>
                <a:ea typeface="Arial"/>
                <a:cs typeface="Arial"/>
              </a:rPr>
              <a:t>Method-specific learning rates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100"/>
              </a:spcAft>
              <a:buNone/>
              <a:defRPr sz="17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43A"/>
                </a:solidFill>
                <a:latin typeface="Arial"/>
                <a:ea typeface="Arial"/>
                <a:cs typeface="Arial"/>
              </a:rPr>
              <a:t>Fixed step budget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100"/>
              </a:spcAft>
              <a:buNone/>
              <a:defRPr sz="17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43A"/>
                </a:solidFill>
                <a:latin typeface="Arial"/>
                <a:ea typeface="Arial"/>
                <a:cs typeface="Arial"/>
              </a:rPr>
              <a:t>Mechanism evidence, not a universal ranking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BBBE4-B228-45BB-8F32-B59E8CC5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0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5143E-65B0-4D38-BC46-30775453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529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TEACHING SEQUENCE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7DA81-59EC-486D-9CB8-F3012E4E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006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Show one pair, pause, predict the next step, then reveal the trajectory.</a:t>
            </a:r>
          </a:p>
        </p:txBody>
      </p:sp>
    </p:spTree>
    <p:extLst>
      <p:ext uri="{BB962C8B-B14F-4D97-AF65-F5344CB8AC3E}">
        <p14:creationId xmlns:p14="http://schemas.microsoft.com/office/powerpoint/2010/main" val="15425686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D469A-5180-41ED-B0F1-8D0C4905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49067-4066-463B-B617-087B8D67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7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same update loop appears in a NumPy CNN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5E523-D5B4-4626-A79E-C9C4D071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52A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19A35-9492-4467-8C28-A04019D2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B1A06-F7FA-4024-AC58-F85DED26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6214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52A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46BD3-00AA-497A-BF68-E6D02C34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22 / 28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d46d0f75b4790">
            <a:extLst>
              <a:ext uri="{96DAC541-7B7A-43D3-8B79-37D633B846F1}">
                <asvg:svgBlip xmlns:asvg="http://schemas.microsoft.com/office/drawing/2016/SVG/main" r:embed="R65f9259d89b644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1371600"/>
            <a:ext cx="11125200" cy="461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8254D-8283-4669-B0A5-789FCA7A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 i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B80"/>
                </a:solidFill>
                <a:latin typeface="Arial"/>
                <a:ea typeface="Arial"/>
                <a:cs typeface="Arial"/>
              </a:rPr>
              <a:t>Input → feature learning →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543756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25279-E7B7-4A3D-A0C7-E43C33CA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B0928-6FCC-4603-98BF-5A262558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7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Forward pass, loss, backpropagation,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C46F7-B29E-4A6E-B075-B5C48116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52A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FDE0C-2C3D-4ED9-B93E-FA53B29A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C47E8-A85D-4AC2-8158-7241CE32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133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52A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5C269-DC99-4D93-81EC-EE0586CD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23 / 28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027238be9418a"/>
          <a:stretch xmlns:a="http://schemas.openxmlformats.org/drawingml/2006/main"/>
        </p:blipFill>
        <p:spPr>
          <a:xfrm xmlns:a="http://schemas.openxmlformats.org/drawingml/2006/main">
            <a:off x="1998133" y="1390650"/>
            <a:ext cx="8195733" cy="461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A1794-69A6-455C-AA59-BF49AD6C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 i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B80"/>
                </a:solidFill>
                <a:latin typeface="Arial"/>
                <a:ea typeface="Arial"/>
                <a:cs typeface="Arial"/>
              </a:rPr>
              <a:t>Backpropagation computes gradients. The optimizer transforms them into parameter updates.</a:t>
            </a:r>
          </a:p>
        </p:txBody>
      </p:sp>
    </p:spTree>
    <p:extLst>
      <p:ext uri="{BB962C8B-B14F-4D97-AF65-F5344CB8AC3E}">
        <p14:creationId xmlns:p14="http://schemas.microsoft.com/office/powerpoint/2010/main" val="7194492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BF7A1-225A-4F0F-809A-346442B0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030CF-FCB7-4CE1-941B-B370B7BE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7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fair comparison needs controlled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2FDA8-AFC9-4AA4-A99A-F4A61211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52A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C3D10-C323-413F-8E82-4E989410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63D82-D4C3-4247-8C75-7F187230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405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52A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FE3B1-F553-44F4-8F08-B6E1BEA9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24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482A0-9163-4539-B0C9-8F96464A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572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5943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Hold the architecture, data split, initialization, batch order, and step budget constant.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Use validation data during development and reserve the test set for final evaluation.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Compare multiple random seeds and report variability with the mean.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Report accuracy, loss, runtime, and the comparison conditions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A23A8-DCE7-4506-9200-6F6F07B0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0" cy="192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61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C8850-602B-40E5-AFB7-7C0244B6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7CE91-44CA-46EF-AC8E-4EC3892D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5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faster path on one two-dimensional surface is evidence about a mechanism, not a universal 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9442903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33465-9F4D-4588-AE84-8E284992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D33FC-1110-48A4-990F-DC883930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75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Softmax cross-entropy starts backpropagation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BE5BA-3276-4020-9A75-0FEC0E11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52A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2BD98-9015-4CC7-8293-2E57E580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F25C4-F2CE-412E-9D22-60C04082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971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52A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A1440-7E47-4E9E-A94E-EEEDE26B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25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F3A88-6175-428F-8E11-A870454B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1D320-0274-453C-90A9-B2651B2F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2400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3158C9"/>
                </a:solidFill>
                <a:latin typeface="Arial"/>
                <a:ea typeface="Arial"/>
                <a:cs typeface="Arial"/>
              </a:rPr>
              <a:t>p_k = e^{z_k}/Σⱼe^{zⱼ}</a:t>
            </a:r>
          </a:p>
          <a:p xmlns:a="http://schemas.openxmlformats.org/drawingml/2006/main">
            <a:pPr algn="l">
              <a:defRPr sz="2325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3158C9"/>
                </a:solidFill>
                <a:latin typeface="Arial"/>
                <a:ea typeface="Arial"/>
                <a:cs typeface="Arial"/>
              </a:rPr>
              <a:t>L = −log p_y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50F52-FA76-48E2-8927-4DDC20EB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387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0EFFD-B12D-4A4B-89FB-B673E740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13877F"/>
                </a:solidFill>
                <a:latin typeface="Arial"/>
                <a:ea typeface="Arial"/>
                <a:cs typeface="Arial"/>
              </a:rPr>
              <a:t>∂L/∂z_k = p_k − 1{k=y}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C9108-9425-4086-B804-0F5DDD76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961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7F006-9884-4CD0-8C32-F8122F3F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5619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76200" rIns="381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A9610B"/>
                </a:solidFill>
                <a:latin typeface="Arial"/>
                <a:ea typeface="Arial"/>
                <a:cs typeface="Arial"/>
              </a:rPr>
              <a:t>∂L/∂W = (∂L/∂z)hᵀ</a:t>
            </a:r>
          </a:p>
          <a:p xmlns:a="http://schemas.openxmlformats.org/drawingml/2006/main">
            <a:pPr algn="l">
              <a:defRPr sz="225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A9610B"/>
                </a:solidFill>
                <a:latin typeface="Arial"/>
                <a:ea typeface="Arial"/>
                <a:cs typeface="Arial"/>
              </a:rPr>
              <a:t>W ← W − η ∂L/∂W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C182D-307D-48E4-9480-0B08AAD9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0" cy="192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7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669A2-695F-4CC8-8DBF-8C8756B7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193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THE CONNECTION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013C0-9AC1-4732-A373-8FA456C3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670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loss creates a gradient at the logits. Backpropagation carries it into the weights. The optimizer changes those weights.</a:t>
            </a:r>
          </a:p>
        </p:txBody>
      </p:sp>
    </p:spTree>
    <p:extLst>
      <p:ext uri="{BB962C8B-B14F-4D97-AF65-F5344CB8AC3E}">
        <p14:creationId xmlns:p14="http://schemas.microsoft.com/office/powerpoint/2010/main" val="152384091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D8122-9CD8-4A4F-8BF3-BA0A7BF7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970E2-6E71-4837-B8C0-C82FE1BC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Training is a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ECB01-4C5A-420C-982A-635DA98E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52A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7FE88-86F8-4F0B-A22D-81C3DF5A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4D2A5-336E-4AF9-823D-A40BF04C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890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52A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6CC29-9D7C-4349-A6D4-6B6BF922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26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92F87-9CF5-4AE2-94F3-7E0CE4C6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4574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EDF2FF"/>
          </a:solidFill>
          <a:ln xmlns:a="http://schemas.openxmlformats.org/drawingml/2006/main" w="14288">
            <a:solidFill>
              <a:srgbClr val="3158C9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91499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FORWARD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predictions</a:t>
            </a:r>
          </a:p>
          <a:p xmlns:a="http://schemas.openxmlformats.org/drawingml/2006/main">
            <a:pPr algn="ctr">
              <a:defRPr sz="1875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from θₜ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0543C-7437-4BB4-B836-369BDFE3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4574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E9F6F3"/>
          </a:solidFill>
          <a:ln xmlns:a="http://schemas.openxmlformats.org/drawingml/2006/main" w="14288">
            <a:solidFill>
              <a:srgbClr val="13877F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91499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measure</a:t>
            </a:r>
          </a:p>
          <a:p xmlns:a="http://schemas.openxmlformats.org/drawingml/2006/main">
            <a:pPr algn="ctr">
              <a:defRPr sz="1875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E7F83-F161-429A-A807-700328E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8575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4E2"/>
          </a:solidFill>
          <a:ln xmlns:a="http://schemas.openxmlformats.org/drawingml/2006/main" w="14288">
            <a:solidFill>
              <a:srgbClr val="A9610B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91499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BACKPROPAGATION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compute</a:t>
            </a:r>
          </a:p>
          <a:p xmlns:a="http://schemas.openxmlformats.org/drawingml/2006/main">
            <a:pPr algn="ctr">
              <a:defRPr sz="1875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∇θL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3231E-2FB2-4522-B420-A1BFD170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28575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14288">
            <a:solidFill>
              <a:srgbClr val="B53D4A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7816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3D4A"/>
                </a:solidFill>
                <a:latin typeface="Arial"/>
                <a:ea typeface="Arial"/>
                <a:cs typeface="Arial"/>
              </a:rPr>
              <a:t>OPTIMIZER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3D4A"/>
                </a:solidFill>
                <a:latin typeface="Arial"/>
                <a:ea typeface="Arial"/>
                <a:cs typeface="Arial"/>
              </a:rPr>
              <a:t>use η and</a:t>
            </a:r>
          </a:p>
          <a:p xmlns:a="http://schemas.openxmlformats.org/drawingml/2006/main">
            <a:pPr algn="ctr">
              <a:defRPr sz="1875" b="1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3D4A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64F66-3035-4E26-9A10-E6CC05AA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24574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2FF"/>
          </a:solidFill>
          <a:ln xmlns:a="http://schemas.openxmlformats.org/drawingml/2006/main" w="14288">
            <a:solidFill>
              <a:srgbClr val="3158C9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7816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UPDATED PARAMETERS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θₜ₊₁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62761-2866-43DF-9914-A95C8302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6B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BEECA-7355-4448-8298-D43DA2DD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146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6B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3BA6C-AF8E-4D5A-871C-D14652BD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90900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6B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008A0-F9EA-4539-BB21-61538CCA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387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6B8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3285B-B4CE-4D3F-A26E-8E55DF44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387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6B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B8348-AEB8-423C-8495-3987C269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390900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108BD-1F21-4187-B1DA-0E1F1031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19701212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83B2F-6FF1-4E97-9046-A012A10F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93409-6D8A-4E18-9D7C-168530F0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TL;DR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644A8-52B6-43DC-9459-1C88D7C5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4F965-EB58-45BA-B730-84D1F42A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AF305-7B00-42C3-87CF-499FB03A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809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FE1CE-664D-4132-BB86-8E6A29C8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27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AA606-99AC-483B-A6D8-FF663D84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1000125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5508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A loss turns model behavior into a number we can minimize.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gradient combines coordinate-wise slopes and points toward local increase.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learning rate and curvature determine whether steps converge, oscillate, or diverge.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Momentum remembers direction. Adaptive methods rescale coordinates. Adam combines both ideas.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Backpropagation computes gradients. The optimizer updates parameters.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43A"/>
                </a:solidFill>
                <a:latin typeface="Arial"/>
                <a:ea typeface="Arial"/>
                <a:cs typeface="Arial"/>
              </a:rPr>
              <a:t>A fair CNN comparison needs controlled conditions and validated measurements.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E6A01-96F9-4278-8914-E59D0A5F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755AB-4710-4C9F-85C3-BED2E0A9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054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CORE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FABB9-6176-4BF8-AF1A-27E8AFF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531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θₜ₊₁ = θₜ − η∇f(θₜ)</a:t>
            </a:r>
          </a:p>
        </p:txBody>
      </p:sp>
    </p:spTree>
    <p:extLst>
      <p:ext uri="{BB962C8B-B14F-4D97-AF65-F5344CB8AC3E}">
        <p14:creationId xmlns:p14="http://schemas.microsoft.com/office/powerpoint/2010/main" val="18122502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18FFF-F58E-4C87-8FA3-72D7E7A9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75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BA619-BDC5-4877-92CF-18D84FFE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57F56-F564-48CC-8EEE-B01E063B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5F416-C658-4873-9DBB-C298E5C2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3D729-59FF-45AB-A09D-32291811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8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1AD73-9FB3-4213-B229-FC3CD422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28 /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8FB90-E204-4EA5-93E3-12DF2224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7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Primary 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CFC41-E733-4EA4-8EFF-934533D1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A"/>
                </a:solidFill>
                <a:latin typeface="Arial"/>
                <a:ea typeface="Arial"/>
                <a:cs typeface="Arial"/>
              </a:rPr>
              <a:t>Kingma and Ba, “Adam: A Method for Stochastic Optimization” — arXiv:1412.6980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A"/>
                </a:solidFill>
                <a:latin typeface="Arial"/>
                <a:ea typeface="Arial"/>
                <a:cs typeface="Arial"/>
              </a:rPr>
              <a:t>Duchi et al., “Adaptive Subgradient Methods for Online Learning and Stochastic Optimization” — JMLR 2011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A"/>
                </a:solidFill>
                <a:latin typeface="Arial"/>
                <a:ea typeface="Arial"/>
                <a:cs typeface="Arial"/>
              </a:rPr>
              <a:t>Tieleman and Hinton, “RMSProp” — lecture notes, 2012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A"/>
                </a:solidFill>
                <a:latin typeface="Arial"/>
                <a:ea typeface="Arial"/>
                <a:cs typeface="Arial"/>
              </a:rPr>
              <a:t>Loshchilov and Hutter, “Decoupled Weight Decay Regularization” — arXiv:1711.05101</a:t>
            </a:r>
          </a:p>
          <a:p xmlns:a="http://schemas.openxmlformats.org/drawingml/2006/main">
            <a:pPr marL="279400" indent="-1397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A"/>
                </a:solidFill>
                <a:latin typeface="Arial"/>
                <a:ea typeface="Arial"/>
                <a:cs typeface="Arial"/>
              </a:rPr>
              <a:t>Chen et al., “Symbolic Discovery of Optimization Algorithms” — arXiv:2302.06675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79B5B-E010-4E0F-BDEB-364C4D6C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7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Additional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4D88B-760C-4BCC-A6B7-2969ACA9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Foret et al., “Sharpness-Aware Minimization” — arXiv:2010.01412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PyTorch optimizer documentation — docs.pytorch.org/docs/stable/optim.html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MNIST archive — storage.googleapis.com/tensorflow/tf-keras-datasets/mnist.npz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Source code — github.com/1zuki/numpy-cnn</a:t>
            </a:r>
          </a:p>
        </p:txBody>
      </p:sp>
    </p:spTree>
    <p:extLst>
      <p:ext uri="{BB962C8B-B14F-4D97-AF65-F5344CB8AC3E}">
        <p14:creationId xmlns:p14="http://schemas.microsoft.com/office/powerpoint/2010/main" val="412052483"/>
      </p:ext>
    </p:extLst>
  </p:cSld>
</p:sld>
</file>

<file path=ppt/theme/theme1.xml><?xml version="1.0" encoding="utf-8"?>
<a:theme xmlns:a="http://schemas.openxmlformats.org/drawingml/2006/main" name="ChatGPT">
  <a:themeElements>
    <a:clrScheme name="Reader Facing Seminar">
      <a:dk1>
        <a:srgbClr val="000000"/>
      </a:dk1>
      <a:lt1>
        <a:srgbClr val="FFFFFF"/>
      </a:lt1>
      <a:dk2>
        <a:srgbClr val="17243A"/>
      </a:dk2>
      <a:lt2>
        <a:srgbClr val="DCE3ED"/>
      </a:lt2>
      <a:accent1>
        <a:srgbClr val="3158C9"/>
      </a:accent1>
      <a:accent2>
        <a:srgbClr val="13877F"/>
      </a:accent2>
      <a:accent3>
        <a:srgbClr val="A9610B"/>
      </a:accent3>
      <a:accent4>
        <a:srgbClr val="B53D4A"/>
      </a:accent4>
      <a:accent5>
        <a:srgbClr val="6652A3"/>
      </a:accent5>
      <a:accent6>
        <a:srgbClr val="4C7A34"/>
      </a:accent6>
      <a:hlink>
        <a:srgbClr val="3158C9"/>
      </a:hlink>
      <a:folHlink>
        <a:srgbClr val="6652A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Reader Facing Semina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2026-09-27T09:55:43.4160000Z</dcterms:created>
  <dcterms:modified xsi:type="dcterms:W3CDTF">2026-09-27T09:55:43.4160000Z</dcterms:modified>
</coreProperties>
</file>